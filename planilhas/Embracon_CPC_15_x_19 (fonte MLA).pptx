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985" r:id="rId5"/>
    <p:sldMasterId id="2147483991" r:id="rId6"/>
  </p:sldMasterIdLst>
  <p:notesMasterIdLst>
    <p:notesMasterId r:id="rId12"/>
  </p:notesMasterIdLst>
  <p:handoutMasterIdLst>
    <p:handoutMasterId r:id="rId13"/>
  </p:handoutMasterIdLst>
  <p:sldIdLst>
    <p:sldId id="335" r:id="rId7"/>
    <p:sldId id="6851" r:id="rId8"/>
    <p:sldId id="6858" r:id="rId9"/>
    <p:sldId id="6857" r:id="rId10"/>
    <p:sldId id="268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659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8A46D81-2F69-433E-3A1D-378E58BB326C}" name="Hayanne Fernandes Rosado | Tax Bi" initials="HF" userId="S::hrosado@tax-bi.com::20a17bea-f5f5-436e-b08f-c23279f00250" providerId="AD"/>
  <p188:author id="{B0BBBDA1-F5A7-B274-31B9-00116FB908DE}" name="Paloma Campagnoli Matos | Stocche Forbes Advogados" initials="PCM|SFA" userId="S::pmatos@stoccheforbes.com.br::583c284d-2a43-4781-afa3-6a12f58a0f0a" providerId="AD"/>
  <p188:author id="{486E77AE-D3D3-6135-511F-42B05431469F}" name="Pedro Antonio Garcia Marques Buzas | Stocche Forbes Advogados" initials="PG" userId="S::pbuzas@stoccheforbes.com.br::ed450430-98d5-48c8-b235-83dfcd24a74e" providerId="AD"/>
  <p188:author id="{9CB304E2-3DCA-66BA-DEA8-677F8CA1AFD8}" name="Ana Luisa Vasconcelos Chiminazzo | Stocche Forbes Advogados" initials="AV" userId="S::achiminazzo@stoccheforbes.com.br::9f7e27a4-86ec-4153-a06a-6e857bdf354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3F3"/>
    <a:srgbClr val="595959"/>
    <a:srgbClr val="EC0000"/>
    <a:srgbClr val="E5EEFF"/>
    <a:srgbClr val="002F8E"/>
    <a:srgbClr val="8C0000"/>
    <a:srgbClr val="F9F9F9"/>
    <a:srgbClr val="DAE7F6"/>
    <a:srgbClr val="DDD9C3"/>
    <a:srgbClr val="F8F7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2A1C37-7778-458D-87DD-8CACA56A16E2}" v="2" dt="2026-08-31T22:14:05.3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238" autoAdjust="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>
        <p:guide pos="3659"/>
        <p:guide orient="horz" pos="216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handoutMaster" Target="handoutMasters/handout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0B953871-AE4A-4E57-7A01-097F66A3D17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4A5D9A0-CD62-74FE-2F71-3F28F2D7CF3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BE5181-5DDE-4467-9665-E9961D17CA5A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033E9D0-B3FB-7337-54A8-BC69457DC08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4B59C15-DE16-EBC1-762D-F439AD4E650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44BEEA-A6C2-40BA-933D-1C421A25786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073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2EDEA5-15A1-44C6-8555-33648E07E80F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307EDC-03E0-4048-9E10-CC2E47DD7A5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8840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901C2-8848-C9D1-BFFC-A6F8051E8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C69DB0A-AD3C-52B1-B9CC-0507FEB229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39E02DC-F0C0-1543-5B92-B1BED8D93F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D20DB16-B0CD-AC07-4F16-ABD12CB4C7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307EDC-03E0-4048-9E10-CC2E47DD7A50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88327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80E96-7628-877E-D631-018D36A14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E991C6E-5CE7-27D7-E61E-552A642FF3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F8AF875-E5CF-20E7-74FF-8C2F76578E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45CB964-93A0-836F-D051-B2E4A6BE29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307EDC-03E0-4048-9E10-CC2E47DD7A50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80866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07109-85AA-AD13-CA0B-459A1557F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A270458-41A9-BC8E-E67D-E88689ACE4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C6918A0-DD6A-80B8-5923-203220A09F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BF92940-BF05-8E81-A6DD-987C3FAF50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307EDC-03E0-4048-9E10-CC2E47DD7A50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8587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C42F03BC-0BD2-7E49-A53D-49453D2E7952}"/>
              </a:ext>
            </a:extLst>
          </p:cNvPr>
          <p:cNvSpPr txBox="1"/>
          <p:nvPr userDrawn="1"/>
        </p:nvSpPr>
        <p:spPr>
          <a:xfrm>
            <a:off x="8171579" y="6390720"/>
            <a:ext cx="3766421" cy="235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933" dirty="0">
                <a:solidFill>
                  <a:schemeClr val="bg1">
                    <a:lumMod val="65000"/>
                  </a:schemeClr>
                </a:solidFill>
                <a:cs typeface="Times New Roman" panose="02020603050405020304" pitchFamily="18" charset="0"/>
              </a:rPr>
              <a:t>São Paulo | Rio de Janeiro | Belo Horizonte | Brasília | Ribeirão Preto </a:t>
            </a:r>
            <a:endParaRPr lang="pt-BR" sz="933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28F8B94F-F04E-03BB-6637-9E39102EC8FA}"/>
              </a:ext>
            </a:extLst>
          </p:cNvPr>
          <p:cNvCxnSpPr>
            <a:cxnSpLocks/>
          </p:cNvCxnSpPr>
          <p:nvPr userDrawn="1"/>
        </p:nvCxnSpPr>
        <p:spPr>
          <a:xfrm>
            <a:off x="209943" y="6347561"/>
            <a:ext cx="11728057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agem 10">
            <a:extLst>
              <a:ext uri="{FF2B5EF4-FFF2-40B4-BE49-F238E27FC236}">
                <a16:creationId xmlns:a16="http://schemas.microsoft.com/office/drawing/2014/main" id="{B5BFBAE4-AC7A-B338-A617-8EFC7F9DC0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212" y="6445479"/>
            <a:ext cx="1492896" cy="178038"/>
          </a:xfrm>
          <a:prstGeom prst="rect">
            <a:avLst/>
          </a:prstGeom>
        </p:spPr>
      </p:pic>
      <p:sp>
        <p:nvSpPr>
          <p:cNvPr id="14" name="object 4">
            <a:extLst>
              <a:ext uri="{FF2B5EF4-FFF2-40B4-BE49-F238E27FC236}">
                <a16:creationId xmlns:a16="http://schemas.microsoft.com/office/drawing/2014/main" id="{5CF6CF74-FDAD-2B5C-9E81-A97AFF25392B}"/>
              </a:ext>
            </a:extLst>
          </p:cNvPr>
          <p:cNvSpPr/>
          <p:nvPr userDrawn="1"/>
        </p:nvSpPr>
        <p:spPr>
          <a:xfrm>
            <a:off x="514660" y="249990"/>
            <a:ext cx="508000" cy="621873"/>
          </a:xfrm>
          <a:custGeom>
            <a:avLst/>
            <a:gdLst/>
            <a:ahLst/>
            <a:cxnLst/>
            <a:rect l="l" t="t" r="r" b="b"/>
            <a:pathLst>
              <a:path h="1630680">
                <a:moveTo>
                  <a:pt x="0" y="1630255"/>
                </a:moveTo>
                <a:lnTo>
                  <a:pt x="0" y="0"/>
                </a:lnTo>
              </a:path>
            </a:pathLst>
          </a:custGeom>
          <a:ln w="47624">
            <a:solidFill>
              <a:srgbClr val="E50600"/>
            </a:solidFill>
          </a:ln>
        </p:spPr>
        <p:txBody>
          <a:bodyPr wrap="square" lIns="0" tIns="0" rIns="0" bIns="0" rtlCol="0"/>
          <a:lstStyle/>
          <a:p>
            <a:endParaRPr sz="1200" dirty="0"/>
          </a:p>
        </p:txBody>
      </p:sp>
    </p:spTree>
    <p:extLst>
      <p:ext uri="{BB962C8B-B14F-4D97-AF65-F5344CB8AC3E}">
        <p14:creationId xmlns:p14="http://schemas.microsoft.com/office/powerpoint/2010/main" val="10697527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C42F03BC-0BD2-7E49-A53D-49453D2E7952}"/>
              </a:ext>
            </a:extLst>
          </p:cNvPr>
          <p:cNvSpPr txBox="1"/>
          <p:nvPr userDrawn="1"/>
        </p:nvSpPr>
        <p:spPr>
          <a:xfrm>
            <a:off x="8171579" y="6390720"/>
            <a:ext cx="3766421" cy="235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933" dirty="0">
                <a:solidFill>
                  <a:schemeClr val="bg1">
                    <a:lumMod val="65000"/>
                  </a:schemeClr>
                </a:solidFill>
                <a:cs typeface="Times New Roman" panose="02020603050405020304" pitchFamily="18" charset="0"/>
              </a:rPr>
              <a:t>São Paulo | Rio de Janeiro | Belo Horizonte | Brasília | Ribeirão Preto </a:t>
            </a:r>
            <a:endParaRPr lang="pt-BR" sz="933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28F8B94F-F04E-03BB-6637-9E39102EC8FA}"/>
              </a:ext>
            </a:extLst>
          </p:cNvPr>
          <p:cNvCxnSpPr>
            <a:cxnSpLocks/>
          </p:cNvCxnSpPr>
          <p:nvPr userDrawn="1"/>
        </p:nvCxnSpPr>
        <p:spPr>
          <a:xfrm>
            <a:off x="209943" y="6347561"/>
            <a:ext cx="11728057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agem 10">
            <a:extLst>
              <a:ext uri="{FF2B5EF4-FFF2-40B4-BE49-F238E27FC236}">
                <a16:creationId xmlns:a16="http://schemas.microsoft.com/office/drawing/2014/main" id="{B5BFBAE4-AC7A-B338-A617-8EFC7F9DC0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212" y="6445479"/>
            <a:ext cx="1492896" cy="178038"/>
          </a:xfrm>
          <a:prstGeom prst="rect">
            <a:avLst/>
          </a:prstGeom>
        </p:spPr>
      </p:pic>
      <p:sp>
        <p:nvSpPr>
          <p:cNvPr id="14" name="object 4">
            <a:extLst>
              <a:ext uri="{FF2B5EF4-FFF2-40B4-BE49-F238E27FC236}">
                <a16:creationId xmlns:a16="http://schemas.microsoft.com/office/drawing/2014/main" id="{5CF6CF74-FDAD-2B5C-9E81-A97AFF25392B}"/>
              </a:ext>
            </a:extLst>
          </p:cNvPr>
          <p:cNvSpPr/>
          <p:nvPr userDrawn="1"/>
        </p:nvSpPr>
        <p:spPr>
          <a:xfrm>
            <a:off x="514660" y="249990"/>
            <a:ext cx="508000" cy="621873"/>
          </a:xfrm>
          <a:custGeom>
            <a:avLst/>
            <a:gdLst/>
            <a:ahLst/>
            <a:cxnLst/>
            <a:rect l="l" t="t" r="r" b="b"/>
            <a:pathLst>
              <a:path h="1630680">
                <a:moveTo>
                  <a:pt x="0" y="1630255"/>
                </a:moveTo>
                <a:lnTo>
                  <a:pt x="0" y="0"/>
                </a:lnTo>
              </a:path>
            </a:pathLst>
          </a:custGeom>
          <a:ln w="47624">
            <a:solidFill>
              <a:srgbClr val="E50600"/>
            </a:solidFill>
          </a:ln>
        </p:spPr>
        <p:txBody>
          <a:bodyPr wrap="square" lIns="0" tIns="0" rIns="0" bIns="0" rtlCol="0"/>
          <a:lstStyle/>
          <a:p>
            <a:endParaRPr sz="1200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5D6A6F7-89A5-F9DD-DC55-0CC86BBA56B4}"/>
              </a:ext>
            </a:extLst>
          </p:cNvPr>
          <p:cNvSpPr/>
          <p:nvPr userDrawn="1"/>
        </p:nvSpPr>
        <p:spPr>
          <a:xfrm>
            <a:off x="518001" y="911357"/>
            <a:ext cx="5109533" cy="268349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5AA9126-6A86-2FD1-61EA-1A86A2AB5C8D}"/>
              </a:ext>
            </a:extLst>
          </p:cNvPr>
          <p:cNvSpPr/>
          <p:nvPr userDrawn="1"/>
        </p:nvSpPr>
        <p:spPr>
          <a:xfrm>
            <a:off x="518000" y="3643621"/>
            <a:ext cx="5109533" cy="268349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29237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 sz="2160"/>
          </a:p>
        </p:txBody>
      </p:sp>
      <p:pic>
        <p:nvPicPr>
          <p:cNvPr id="21" name="bg 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90631" y="493653"/>
            <a:ext cx="2089149" cy="387349"/>
          </a:xfrm>
          <a:prstGeom prst="rect">
            <a:avLst/>
          </a:prstGeom>
        </p:spPr>
      </p:pic>
      <p:sp>
        <p:nvSpPr>
          <p:cNvPr id="22" name="bg object 22"/>
          <p:cNvSpPr/>
          <p:nvPr/>
        </p:nvSpPr>
        <p:spPr>
          <a:xfrm>
            <a:off x="1205869" y="4813855"/>
            <a:ext cx="1529080" cy="0"/>
          </a:xfrm>
          <a:custGeom>
            <a:avLst/>
            <a:gdLst/>
            <a:ahLst/>
            <a:cxnLst/>
            <a:rect l="l" t="t" r="r" b="b"/>
            <a:pathLst>
              <a:path w="2293620">
                <a:moveTo>
                  <a:pt x="0" y="0"/>
                </a:moveTo>
                <a:lnTo>
                  <a:pt x="2293201" y="0"/>
                </a:lnTo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2160"/>
          </a:p>
        </p:txBody>
      </p:sp>
      <p:sp>
        <p:nvSpPr>
          <p:cNvPr id="23" name="bg object 23"/>
          <p:cNvSpPr/>
          <p:nvPr/>
        </p:nvSpPr>
        <p:spPr>
          <a:xfrm>
            <a:off x="685792" y="1791275"/>
            <a:ext cx="1347893" cy="4105063"/>
          </a:xfrm>
          <a:custGeom>
            <a:avLst/>
            <a:gdLst/>
            <a:ahLst/>
            <a:cxnLst/>
            <a:rect l="l" t="t" r="r" b="b"/>
            <a:pathLst>
              <a:path w="2021839" h="6157595">
                <a:moveTo>
                  <a:pt x="2021547" y="6705"/>
                </a:moveTo>
                <a:lnTo>
                  <a:pt x="1954911" y="6705"/>
                </a:lnTo>
                <a:lnTo>
                  <a:pt x="1954911" y="0"/>
                </a:lnTo>
                <a:lnTo>
                  <a:pt x="6743" y="0"/>
                </a:lnTo>
                <a:lnTo>
                  <a:pt x="6743" y="6731"/>
                </a:lnTo>
                <a:lnTo>
                  <a:pt x="0" y="6731"/>
                </a:lnTo>
                <a:lnTo>
                  <a:pt x="0" y="6150826"/>
                </a:lnTo>
                <a:lnTo>
                  <a:pt x="6743" y="6150826"/>
                </a:lnTo>
                <a:lnTo>
                  <a:pt x="6743" y="6157569"/>
                </a:lnTo>
                <a:lnTo>
                  <a:pt x="1954911" y="6157569"/>
                </a:lnTo>
                <a:lnTo>
                  <a:pt x="1954911" y="6024219"/>
                </a:lnTo>
                <a:lnTo>
                  <a:pt x="133350" y="6024219"/>
                </a:lnTo>
                <a:lnTo>
                  <a:pt x="133350" y="133350"/>
                </a:lnTo>
                <a:lnTo>
                  <a:pt x="1888197" y="133350"/>
                </a:lnTo>
                <a:lnTo>
                  <a:pt x="1888197" y="1373314"/>
                </a:lnTo>
                <a:lnTo>
                  <a:pt x="2021547" y="1373314"/>
                </a:lnTo>
                <a:lnTo>
                  <a:pt x="2021547" y="6705"/>
                </a:lnTo>
                <a:close/>
              </a:path>
            </a:pathLst>
          </a:custGeom>
          <a:solidFill>
            <a:srgbClr val="E10912"/>
          </a:solidFill>
        </p:spPr>
        <p:txBody>
          <a:bodyPr wrap="square" lIns="0" tIns="0" rIns="0" bIns="0" rtlCol="0"/>
          <a:lstStyle/>
          <a:p>
            <a:endParaRPr sz="2160"/>
          </a:p>
        </p:txBody>
      </p:sp>
      <p:sp>
        <p:nvSpPr>
          <p:cNvPr id="24" name="bg object 24"/>
          <p:cNvSpPr/>
          <p:nvPr/>
        </p:nvSpPr>
        <p:spPr>
          <a:xfrm>
            <a:off x="1949073" y="5028172"/>
            <a:ext cx="10160" cy="864023"/>
          </a:xfrm>
          <a:custGeom>
            <a:avLst/>
            <a:gdLst/>
            <a:ahLst/>
            <a:cxnLst/>
            <a:rect l="l" t="t" r="r" b="b"/>
            <a:pathLst>
              <a:path w="15239" h="1296034">
                <a:moveTo>
                  <a:pt x="0" y="1295427"/>
                </a:moveTo>
                <a:lnTo>
                  <a:pt x="14633" y="0"/>
                </a:lnTo>
              </a:path>
            </a:pathLst>
          </a:custGeom>
          <a:ln w="133349">
            <a:solidFill>
              <a:srgbClr val="E10912"/>
            </a:solidFill>
          </a:ln>
        </p:spPr>
        <p:txBody>
          <a:bodyPr wrap="square" lIns="0" tIns="0" rIns="0" bIns="0" rtlCol="0"/>
          <a:lstStyle/>
          <a:p>
            <a:endParaRPr sz="2160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31214" y="2973526"/>
            <a:ext cx="3729567" cy="5632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60" b="0" i="0">
                <a:solidFill>
                  <a:schemeClr val="bg1"/>
                </a:solidFill>
                <a:latin typeface="Gotham"/>
                <a:cs typeface="Gotha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1"/>
            <a:ext cx="85344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9949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 sz="2160"/>
          </a:p>
        </p:txBody>
      </p:sp>
      <p:sp>
        <p:nvSpPr>
          <p:cNvPr id="21" name="bg object 21"/>
          <p:cNvSpPr/>
          <p:nvPr/>
        </p:nvSpPr>
        <p:spPr>
          <a:xfrm>
            <a:off x="2908205" y="6465453"/>
            <a:ext cx="9284124" cy="12700"/>
          </a:xfrm>
          <a:custGeom>
            <a:avLst/>
            <a:gdLst/>
            <a:ahLst/>
            <a:cxnLst/>
            <a:rect l="l" t="t" r="r" b="b"/>
            <a:pathLst>
              <a:path w="13926185" h="19050">
                <a:moveTo>
                  <a:pt x="0" y="19049"/>
                </a:moveTo>
                <a:lnTo>
                  <a:pt x="13925694" y="0"/>
                </a:lnTo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216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77234" y="729307"/>
            <a:ext cx="2007869" cy="563231"/>
          </a:xfrm>
        </p:spPr>
        <p:txBody>
          <a:bodyPr lIns="0" tIns="0" rIns="0" bIns="0"/>
          <a:lstStyle>
            <a:lvl1pPr>
              <a:defRPr sz="3660" b="0" i="0">
                <a:solidFill>
                  <a:schemeClr val="bg1"/>
                </a:solidFill>
                <a:latin typeface="Gotham"/>
                <a:cs typeface="Gotha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30088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77234" y="729307"/>
            <a:ext cx="2007869" cy="563231"/>
          </a:xfrm>
        </p:spPr>
        <p:txBody>
          <a:bodyPr lIns="0" tIns="0" rIns="0" bIns="0"/>
          <a:lstStyle>
            <a:lvl1pPr>
              <a:defRPr sz="3660" b="0" i="0">
                <a:solidFill>
                  <a:schemeClr val="bg1"/>
                </a:solidFill>
                <a:latin typeface="Gotham"/>
                <a:cs typeface="Gotha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1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1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41062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77234" y="729307"/>
            <a:ext cx="2007869" cy="563231"/>
          </a:xfrm>
        </p:spPr>
        <p:txBody>
          <a:bodyPr lIns="0" tIns="0" rIns="0" bIns="0"/>
          <a:lstStyle>
            <a:lvl1pPr>
              <a:defRPr sz="3660" b="0" i="0">
                <a:solidFill>
                  <a:schemeClr val="bg1"/>
                </a:solidFill>
                <a:latin typeface="Gotham"/>
                <a:cs typeface="Gotha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3408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149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1"/>
            <a:ext cx="10363200" cy="5632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60" b="0" i="0">
                <a:solidFill>
                  <a:schemeClr val="bg1"/>
                </a:solidFill>
                <a:latin typeface="Gotham"/>
                <a:cs typeface="Gotha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1"/>
            <a:ext cx="85344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74185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77234" y="729307"/>
            <a:ext cx="2007869" cy="563231"/>
          </a:xfrm>
        </p:spPr>
        <p:txBody>
          <a:bodyPr lIns="0" tIns="0" rIns="0" bIns="0"/>
          <a:lstStyle>
            <a:lvl1pPr>
              <a:defRPr sz="3660" b="0" i="0">
                <a:solidFill>
                  <a:schemeClr val="bg1"/>
                </a:solidFill>
                <a:latin typeface="Gotham"/>
                <a:cs typeface="Gotha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51609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77234" y="729307"/>
            <a:ext cx="2007869" cy="563231"/>
          </a:xfrm>
        </p:spPr>
        <p:txBody>
          <a:bodyPr lIns="0" tIns="0" rIns="0" bIns="0"/>
          <a:lstStyle>
            <a:lvl1pPr>
              <a:defRPr sz="3660" b="0" i="0">
                <a:solidFill>
                  <a:schemeClr val="bg1"/>
                </a:solidFill>
                <a:latin typeface="Gotham"/>
                <a:cs typeface="Gotha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1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1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43975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60"/>
          </a:p>
        </p:txBody>
      </p:sp>
      <p:sp>
        <p:nvSpPr>
          <p:cNvPr id="17" name="bg object 17"/>
          <p:cNvSpPr/>
          <p:nvPr/>
        </p:nvSpPr>
        <p:spPr>
          <a:xfrm>
            <a:off x="11229284" y="1"/>
            <a:ext cx="76200" cy="2336377"/>
          </a:xfrm>
          <a:custGeom>
            <a:avLst/>
            <a:gdLst/>
            <a:ahLst/>
            <a:cxnLst/>
            <a:rect l="l" t="t" r="r" b="b"/>
            <a:pathLst>
              <a:path w="114300" h="3504565">
                <a:moveTo>
                  <a:pt x="0" y="3504086"/>
                </a:moveTo>
                <a:lnTo>
                  <a:pt x="0" y="0"/>
                </a:lnTo>
                <a:lnTo>
                  <a:pt x="114299" y="0"/>
                </a:lnTo>
                <a:lnTo>
                  <a:pt x="114299" y="3504086"/>
                </a:lnTo>
                <a:lnTo>
                  <a:pt x="0" y="350408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160"/>
          </a:p>
        </p:txBody>
      </p:sp>
      <p:sp>
        <p:nvSpPr>
          <p:cNvPr id="18" name="bg object 18"/>
          <p:cNvSpPr/>
          <p:nvPr/>
        </p:nvSpPr>
        <p:spPr>
          <a:xfrm>
            <a:off x="11267367" y="2863227"/>
            <a:ext cx="0" cy="1141730"/>
          </a:xfrm>
          <a:custGeom>
            <a:avLst/>
            <a:gdLst/>
            <a:ahLst/>
            <a:cxnLst/>
            <a:rect l="l" t="t" r="r" b="b"/>
            <a:pathLst>
              <a:path h="1712595">
                <a:moveTo>
                  <a:pt x="0" y="1712182"/>
                </a:moveTo>
                <a:lnTo>
                  <a:pt x="0" y="0"/>
                </a:lnTo>
              </a:path>
            </a:pathLst>
          </a:custGeom>
          <a:ln w="1142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2160"/>
          </a:p>
        </p:txBody>
      </p:sp>
      <p:sp>
        <p:nvSpPr>
          <p:cNvPr id="19" name="bg object 19"/>
          <p:cNvSpPr/>
          <p:nvPr/>
        </p:nvSpPr>
        <p:spPr>
          <a:xfrm>
            <a:off x="11614552" y="6172200"/>
            <a:ext cx="577851" cy="685800"/>
          </a:xfrm>
          <a:custGeom>
            <a:avLst/>
            <a:gdLst/>
            <a:ahLst/>
            <a:cxnLst/>
            <a:rect l="l" t="t" r="r" b="b"/>
            <a:pathLst>
              <a:path w="866775" h="1028700">
                <a:moveTo>
                  <a:pt x="866172" y="1028700"/>
                </a:moveTo>
                <a:lnTo>
                  <a:pt x="0" y="1028700"/>
                </a:lnTo>
                <a:lnTo>
                  <a:pt x="0" y="0"/>
                </a:lnTo>
                <a:lnTo>
                  <a:pt x="866172" y="0"/>
                </a:lnTo>
                <a:lnTo>
                  <a:pt x="866172" y="1028700"/>
                </a:lnTo>
                <a:close/>
              </a:path>
            </a:pathLst>
          </a:custGeom>
          <a:solidFill>
            <a:srgbClr val="FFFFFF">
              <a:alpha val="13999"/>
            </a:srgbClr>
          </a:solidFill>
        </p:spPr>
        <p:txBody>
          <a:bodyPr wrap="square" lIns="0" tIns="0" rIns="0" bIns="0" rtlCol="0"/>
          <a:lstStyle/>
          <a:p>
            <a:endParaRPr sz="2160"/>
          </a:p>
        </p:txBody>
      </p:sp>
      <p:sp>
        <p:nvSpPr>
          <p:cNvPr id="20" name="bg object 20"/>
          <p:cNvSpPr/>
          <p:nvPr/>
        </p:nvSpPr>
        <p:spPr>
          <a:xfrm>
            <a:off x="685801" y="685801"/>
            <a:ext cx="2851151" cy="1066376"/>
          </a:xfrm>
          <a:custGeom>
            <a:avLst/>
            <a:gdLst/>
            <a:ahLst/>
            <a:cxnLst/>
            <a:rect l="l" t="t" r="r" b="b"/>
            <a:pathLst>
              <a:path w="4276725" h="1599564">
                <a:moveTo>
                  <a:pt x="4276453" y="1599033"/>
                </a:moveTo>
                <a:lnTo>
                  <a:pt x="0" y="1599033"/>
                </a:lnTo>
                <a:lnTo>
                  <a:pt x="0" y="0"/>
                </a:lnTo>
                <a:lnTo>
                  <a:pt x="4276453" y="0"/>
                </a:lnTo>
                <a:lnTo>
                  <a:pt x="4276453" y="1599033"/>
                </a:lnTo>
                <a:close/>
              </a:path>
            </a:pathLst>
          </a:custGeom>
          <a:solidFill>
            <a:srgbClr val="FFFFFF">
              <a:alpha val="13999"/>
            </a:srgbClr>
          </a:solidFill>
        </p:spPr>
        <p:txBody>
          <a:bodyPr wrap="square" lIns="0" tIns="0" rIns="0" bIns="0" rtlCol="0"/>
          <a:lstStyle/>
          <a:p>
            <a:endParaRPr sz="2160"/>
          </a:p>
        </p:txBody>
      </p:sp>
      <p:pic>
        <p:nvPicPr>
          <p:cNvPr id="21" name="bg 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1459" y="984017"/>
            <a:ext cx="2622549" cy="4699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77234" y="729307"/>
            <a:ext cx="2007869" cy="563231"/>
          </a:xfrm>
        </p:spPr>
        <p:txBody>
          <a:bodyPr lIns="0" tIns="0" rIns="0" bIns="0"/>
          <a:lstStyle>
            <a:lvl1pPr>
              <a:defRPr sz="3660" b="0" i="0">
                <a:solidFill>
                  <a:schemeClr val="bg1"/>
                </a:solidFill>
                <a:latin typeface="Gotham"/>
                <a:cs typeface="Gotha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788893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12089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2692" y="25390"/>
            <a:ext cx="5073227" cy="3977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6079" y="2504294"/>
            <a:ext cx="7257627" cy="21694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36BA47-CBC8-4C00-9ED1-12E02FC3942B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283667" y="6604284"/>
            <a:ext cx="309033" cy="3853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40" b="0" i="0">
                <a:solidFill>
                  <a:srgbClr val="7E7E7E"/>
                </a:solidFill>
                <a:latin typeface="Calibri"/>
                <a:cs typeface="Calibri"/>
              </a:defRPr>
            </a:lvl1pPr>
          </a:lstStyle>
          <a:p>
            <a:pPr marL="45720">
              <a:lnSpc>
                <a:spcPts val="1488"/>
              </a:lnSpc>
            </a:pPr>
            <a:fld id="{81D60167-4931-47E6-BA6A-407CBD079E47}" type="slidenum">
              <a:rPr dirty="0"/>
              <a:pPr marL="45720">
                <a:lnSpc>
                  <a:spcPts val="1488"/>
                </a:lnSpc>
              </a:pPr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66" r:id="rId1"/>
    <p:sldLayoutId id="2147484173" r:id="rId2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 sz="216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77234" y="729307"/>
            <a:ext cx="2007869" cy="9387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00" b="0" i="0">
                <a:solidFill>
                  <a:schemeClr val="bg1"/>
                </a:solidFill>
                <a:latin typeface="Gotham"/>
                <a:cs typeface="Gotha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1"/>
            <a:ext cx="109728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1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6818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6" r:id="rId1"/>
    <p:sldLayoutId id="2147483987" r:id="rId2"/>
    <p:sldLayoutId id="2147483988" r:id="rId3"/>
    <p:sldLayoutId id="2147483989" r:id="rId4"/>
    <p:sldLayoutId id="2147483990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274320">
        <a:defRPr>
          <a:latin typeface="+mn-lt"/>
          <a:ea typeface="+mn-ea"/>
          <a:cs typeface="+mn-cs"/>
        </a:defRPr>
      </a:lvl2pPr>
      <a:lvl3pPr marL="548640">
        <a:defRPr>
          <a:latin typeface="+mn-lt"/>
          <a:ea typeface="+mn-ea"/>
          <a:cs typeface="+mn-cs"/>
        </a:defRPr>
      </a:lvl3pPr>
      <a:lvl4pPr marL="822960">
        <a:defRPr>
          <a:latin typeface="+mn-lt"/>
          <a:ea typeface="+mn-ea"/>
          <a:cs typeface="+mn-cs"/>
        </a:defRPr>
      </a:lvl4pPr>
      <a:lvl5pPr marL="1097280">
        <a:defRPr>
          <a:latin typeface="+mn-lt"/>
          <a:ea typeface="+mn-ea"/>
          <a:cs typeface="+mn-cs"/>
        </a:defRPr>
      </a:lvl5pPr>
      <a:lvl6pPr marL="1371600">
        <a:defRPr>
          <a:latin typeface="+mn-lt"/>
          <a:ea typeface="+mn-ea"/>
          <a:cs typeface="+mn-cs"/>
        </a:defRPr>
      </a:lvl6pPr>
      <a:lvl7pPr marL="1645920">
        <a:defRPr>
          <a:latin typeface="+mn-lt"/>
          <a:ea typeface="+mn-ea"/>
          <a:cs typeface="+mn-cs"/>
        </a:defRPr>
      </a:lvl7pPr>
      <a:lvl8pPr marL="1920240">
        <a:defRPr>
          <a:latin typeface="+mn-lt"/>
          <a:ea typeface="+mn-ea"/>
          <a:cs typeface="+mn-cs"/>
        </a:defRPr>
      </a:lvl8pPr>
      <a:lvl9pPr marL="219456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274320">
        <a:defRPr>
          <a:latin typeface="+mn-lt"/>
          <a:ea typeface="+mn-ea"/>
          <a:cs typeface="+mn-cs"/>
        </a:defRPr>
      </a:lvl2pPr>
      <a:lvl3pPr marL="548640">
        <a:defRPr>
          <a:latin typeface="+mn-lt"/>
          <a:ea typeface="+mn-ea"/>
          <a:cs typeface="+mn-cs"/>
        </a:defRPr>
      </a:lvl3pPr>
      <a:lvl4pPr marL="822960">
        <a:defRPr>
          <a:latin typeface="+mn-lt"/>
          <a:ea typeface="+mn-ea"/>
          <a:cs typeface="+mn-cs"/>
        </a:defRPr>
      </a:lvl4pPr>
      <a:lvl5pPr marL="1097280">
        <a:defRPr>
          <a:latin typeface="+mn-lt"/>
          <a:ea typeface="+mn-ea"/>
          <a:cs typeface="+mn-cs"/>
        </a:defRPr>
      </a:lvl5pPr>
      <a:lvl6pPr marL="1371600">
        <a:defRPr>
          <a:latin typeface="+mn-lt"/>
          <a:ea typeface="+mn-ea"/>
          <a:cs typeface="+mn-cs"/>
        </a:defRPr>
      </a:lvl6pPr>
      <a:lvl7pPr marL="1645920">
        <a:defRPr>
          <a:latin typeface="+mn-lt"/>
          <a:ea typeface="+mn-ea"/>
          <a:cs typeface="+mn-cs"/>
        </a:defRPr>
      </a:lvl7pPr>
      <a:lvl8pPr marL="1920240">
        <a:defRPr>
          <a:latin typeface="+mn-lt"/>
          <a:ea typeface="+mn-ea"/>
          <a:cs typeface="+mn-cs"/>
        </a:defRPr>
      </a:lvl8pPr>
      <a:lvl9pPr marL="2194560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6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77234" y="729307"/>
            <a:ext cx="2007869" cy="9387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00" b="0" i="0">
                <a:solidFill>
                  <a:schemeClr val="bg1"/>
                </a:solidFill>
                <a:latin typeface="Gotham"/>
                <a:cs typeface="Gotha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1"/>
            <a:ext cx="109728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1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1257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2" r:id="rId1"/>
    <p:sldLayoutId id="2147483993" r:id="rId2"/>
    <p:sldLayoutId id="2147483994" r:id="rId3"/>
    <p:sldLayoutId id="2147483995" r:id="rId4"/>
    <p:sldLayoutId id="2147483996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274320">
        <a:defRPr>
          <a:latin typeface="+mn-lt"/>
          <a:ea typeface="+mn-ea"/>
          <a:cs typeface="+mn-cs"/>
        </a:defRPr>
      </a:lvl2pPr>
      <a:lvl3pPr marL="548640">
        <a:defRPr>
          <a:latin typeface="+mn-lt"/>
          <a:ea typeface="+mn-ea"/>
          <a:cs typeface="+mn-cs"/>
        </a:defRPr>
      </a:lvl3pPr>
      <a:lvl4pPr marL="822960">
        <a:defRPr>
          <a:latin typeface="+mn-lt"/>
          <a:ea typeface="+mn-ea"/>
          <a:cs typeface="+mn-cs"/>
        </a:defRPr>
      </a:lvl4pPr>
      <a:lvl5pPr marL="1097280">
        <a:defRPr>
          <a:latin typeface="+mn-lt"/>
          <a:ea typeface="+mn-ea"/>
          <a:cs typeface="+mn-cs"/>
        </a:defRPr>
      </a:lvl5pPr>
      <a:lvl6pPr marL="1371600">
        <a:defRPr>
          <a:latin typeface="+mn-lt"/>
          <a:ea typeface="+mn-ea"/>
          <a:cs typeface="+mn-cs"/>
        </a:defRPr>
      </a:lvl6pPr>
      <a:lvl7pPr marL="1645920">
        <a:defRPr>
          <a:latin typeface="+mn-lt"/>
          <a:ea typeface="+mn-ea"/>
          <a:cs typeface="+mn-cs"/>
        </a:defRPr>
      </a:lvl7pPr>
      <a:lvl8pPr marL="1920240">
        <a:defRPr>
          <a:latin typeface="+mn-lt"/>
          <a:ea typeface="+mn-ea"/>
          <a:cs typeface="+mn-cs"/>
        </a:defRPr>
      </a:lvl8pPr>
      <a:lvl9pPr marL="219456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274320">
        <a:defRPr>
          <a:latin typeface="+mn-lt"/>
          <a:ea typeface="+mn-ea"/>
          <a:cs typeface="+mn-cs"/>
        </a:defRPr>
      </a:lvl2pPr>
      <a:lvl3pPr marL="548640">
        <a:defRPr>
          <a:latin typeface="+mn-lt"/>
          <a:ea typeface="+mn-ea"/>
          <a:cs typeface="+mn-cs"/>
        </a:defRPr>
      </a:lvl3pPr>
      <a:lvl4pPr marL="822960">
        <a:defRPr>
          <a:latin typeface="+mn-lt"/>
          <a:ea typeface="+mn-ea"/>
          <a:cs typeface="+mn-cs"/>
        </a:defRPr>
      </a:lvl4pPr>
      <a:lvl5pPr marL="1097280">
        <a:defRPr>
          <a:latin typeface="+mn-lt"/>
          <a:ea typeface="+mn-ea"/>
          <a:cs typeface="+mn-cs"/>
        </a:defRPr>
      </a:lvl5pPr>
      <a:lvl6pPr marL="1371600">
        <a:defRPr>
          <a:latin typeface="+mn-lt"/>
          <a:ea typeface="+mn-ea"/>
          <a:cs typeface="+mn-cs"/>
        </a:defRPr>
      </a:lvl6pPr>
      <a:lvl7pPr marL="1645920">
        <a:defRPr>
          <a:latin typeface="+mn-lt"/>
          <a:ea typeface="+mn-ea"/>
          <a:cs typeface="+mn-cs"/>
        </a:defRPr>
      </a:lvl7pPr>
      <a:lvl8pPr marL="1920240">
        <a:defRPr>
          <a:latin typeface="+mn-lt"/>
          <a:ea typeface="+mn-ea"/>
          <a:cs typeface="+mn-cs"/>
        </a:defRPr>
      </a:lvl8pPr>
      <a:lvl9pPr marL="219456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m 22" descr="Fundo preto com letras vermelhas&#10;&#10;Descrição gerada automaticamente com confiança média">
            <a:extLst>
              <a:ext uri="{FF2B5EF4-FFF2-40B4-BE49-F238E27FC236}">
                <a16:creationId xmlns:a16="http://schemas.microsoft.com/office/drawing/2014/main" id="{CEAFDA24-FE9E-FAC7-E189-6E54979A897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9"/>
            <a:ext cx="12190476" cy="6857143"/>
          </a:xfrm>
          <a:prstGeom prst="rect">
            <a:avLst/>
          </a:prstGeom>
        </p:spPr>
      </p:pic>
      <p:sp>
        <p:nvSpPr>
          <p:cNvPr id="19" name="Freeform 19"/>
          <p:cNvSpPr/>
          <p:nvPr/>
        </p:nvSpPr>
        <p:spPr>
          <a:xfrm>
            <a:off x="685800" y="6261562"/>
            <a:ext cx="2191993" cy="243432"/>
          </a:xfrm>
          <a:custGeom>
            <a:avLst/>
            <a:gdLst/>
            <a:ahLst/>
            <a:cxnLst/>
            <a:rect l="l" t="t" r="r" b="b"/>
            <a:pathLst>
              <a:path w="4366290" h="516110">
                <a:moveTo>
                  <a:pt x="0" y="0"/>
                </a:moveTo>
                <a:lnTo>
                  <a:pt x="4366290" y="0"/>
                </a:lnTo>
                <a:lnTo>
                  <a:pt x="4366290" y="516109"/>
                </a:lnTo>
                <a:lnTo>
                  <a:pt x="0" y="5161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</a:lstStyle>
          <a:p>
            <a:endParaRPr lang="pt-BR" sz="1200"/>
          </a:p>
        </p:txBody>
      </p:sp>
      <p:sp>
        <p:nvSpPr>
          <p:cNvPr id="20" name="TextBox 20"/>
          <p:cNvSpPr txBox="1"/>
          <p:nvPr/>
        </p:nvSpPr>
        <p:spPr>
          <a:xfrm>
            <a:off x="685800" y="4208542"/>
            <a:ext cx="5140250" cy="287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</a:lstStyle>
          <a:p>
            <a:pPr algn="l"/>
            <a:r>
              <a:rPr lang="pt-BR" sz="1867" dirty="0">
                <a:solidFill>
                  <a:prstClr val="black"/>
                </a:solidFill>
                <a:latin typeface="Calibri"/>
                <a:cs typeface="Arial"/>
              </a:rPr>
              <a:t>Implicações Fiscais da Contabilização da Transação </a:t>
            </a:r>
            <a:endParaRPr lang="en-US" sz="6400" b="1" dirty="0">
              <a:solidFill>
                <a:srgbClr val="303030"/>
              </a:solidFill>
              <a:ea typeface="Gotham"/>
              <a:cs typeface="Gotham"/>
              <a:sym typeface="Gotham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685800" y="4307442"/>
            <a:ext cx="10541000" cy="7046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</a:lstStyle>
          <a:p>
            <a:pPr>
              <a:lnSpc>
                <a:spcPts val="6160"/>
              </a:lnSpc>
            </a:pPr>
            <a:r>
              <a:rPr lang="en-US" sz="3200" b="1" dirty="0" err="1">
                <a:solidFill>
                  <a:srgbClr val="303030"/>
                </a:solidFill>
                <a:ea typeface="Gotham Bold"/>
                <a:cs typeface="Gotham Bold"/>
                <a:sym typeface="Gotham Bold"/>
              </a:rPr>
              <a:t>Embracon</a:t>
            </a:r>
            <a:endParaRPr lang="en-US" sz="3200" b="1" dirty="0">
              <a:solidFill>
                <a:srgbClr val="303030"/>
              </a:solidFill>
              <a:ea typeface="Gotham Bold"/>
              <a:cs typeface="Gotham Bold"/>
              <a:sym typeface="Gotham Bold"/>
            </a:endParaRP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172DE216-0198-49C7-ADD3-44D356C8F8DF}"/>
              </a:ext>
            </a:extLst>
          </p:cNvPr>
          <p:cNvSpPr txBox="1"/>
          <p:nvPr/>
        </p:nvSpPr>
        <p:spPr>
          <a:xfrm>
            <a:off x="5826050" y="6261562"/>
            <a:ext cx="4332899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067" dirty="0">
                <a:cs typeface="Times New Roman" panose="02020603050405020304" pitchFamily="18" charset="0"/>
              </a:rPr>
              <a:t>São Paulo | Rio de Janeiro | Belo Horizonte | Brasília | Ribeirão Preto </a:t>
            </a:r>
            <a:endParaRPr lang="pt-BR" sz="1067" dirty="0"/>
          </a:p>
        </p:txBody>
      </p:sp>
      <p:sp>
        <p:nvSpPr>
          <p:cNvPr id="3" name="TextBox 20">
            <a:extLst>
              <a:ext uri="{FF2B5EF4-FFF2-40B4-BE49-F238E27FC236}">
                <a16:creationId xmlns:a16="http://schemas.microsoft.com/office/drawing/2014/main" id="{A60DA774-E338-057C-A55E-355B5422549B}"/>
              </a:ext>
            </a:extLst>
          </p:cNvPr>
          <p:cNvSpPr txBox="1"/>
          <p:nvPr/>
        </p:nvSpPr>
        <p:spPr>
          <a:xfrm>
            <a:off x="685800" y="5118745"/>
            <a:ext cx="5140250" cy="64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</a:lstStyle>
          <a:p>
            <a:pPr>
              <a:lnSpc>
                <a:spcPts val="6160"/>
              </a:lnSpc>
            </a:pPr>
            <a:r>
              <a:rPr lang="en-US" sz="1333" dirty="0">
                <a:solidFill>
                  <a:srgbClr val="303030"/>
                </a:solidFill>
                <a:ea typeface="Gotham"/>
                <a:cs typeface="Gotham"/>
                <a:sym typeface="Gotham"/>
              </a:rPr>
              <a:t>Minuta para discussão – 31.08.2026</a:t>
            </a:r>
          </a:p>
        </p:txBody>
      </p:sp>
    </p:spTree>
    <p:extLst>
      <p:ext uri="{BB962C8B-B14F-4D97-AF65-F5344CB8AC3E}">
        <p14:creationId xmlns:p14="http://schemas.microsoft.com/office/powerpoint/2010/main" val="845599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6BF75-9A07-888D-6406-081DC5417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object 3">
            <a:extLst>
              <a:ext uri="{FF2B5EF4-FFF2-40B4-BE49-F238E27FC236}">
                <a16:creationId xmlns:a16="http://schemas.microsoft.com/office/drawing/2014/main" id="{D0D71981-EC7F-CAC4-3830-58DB5E377073}"/>
              </a:ext>
            </a:extLst>
          </p:cNvPr>
          <p:cNvSpPr txBox="1">
            <a:spLocks/>
          </p:cNvSpPr>
          <p:nvPr/>
        </p:nvSpPr>
        <p:spPr>
          <a:xfrm>
            <a:off x="736237" y="176424"/>
            <a:ext cx="9906000" cy="421909"/>
          </a:xfrm>
          <a:prstGeom prst="rect">
            <a:avLst/>
          </a:prstGeom>
        </p:spPr>
        <p:txBody>
          <a:bodyPr vert="horz" wrap="square" lIns="0" tIns="36829" rIns="0" bIns="0" rtlCol="0">
            <a:spAutoFit/>
          </a:bodyPr>
          <a:lstStyle>
            <a:lvl1pPr>
              <a:defRPr sz="6100" b="0" i="0">
                <a:solidFill>
                  <a:schemeClr val="bg1"/>
                </a:solidFill>
                <a:latin typeface="Gotham"/>
                <a:ea typeface="+mj-ea"/>
                <a:cs typeface="Gotham"/>
              </a:defRPr>
            </a:lvl1pPr>
          </a:lstStyle>
          <a:p>
            <a:pPr marL="8467" marR="3387" indent="-8467"/>
            <a:r>
              <a:rPr lang="pt-BR" sz="2400" b="1" cap="small" dirty="0">
                <a:solidFill>
                  <a:srgbClr val="EA06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Premissas do material.</a:t>
            </a:r>
            <a:r>
              <a:rPr lang="pt-BR" sz="2400" b="1" cap="small" dirty="0">
                <a:solidFill>
                  <a:srgbClr val="EA06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pt-BR" sz="2400" b="1" cap="small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object 3">
            <a:extLst>
              <a:ext uri="{FF2B5EF4-FFF2-40B4-BE49-F238E27FC236}">
                <a16:creationId xmlns:a16="http://schemas.microsoft.com/office/drawing/2014/main" id="{9DCBA52C-CA13-9EFD-30D3-36EA74C665BE}"/>
              </a:ext>
            </a:extLst>
          </p:cNvPr>
          <p:cNvSpPr txBox="1">
            <a:spLocks/>
          </p:cNvSpPr>
          <p:nvPr/>
        </p:nvSpPr>
        <p:spPr>
          <a:xfrm>
            <a:off x="736237" y="566392"/>
            <a:ext cx="9906000" cy="314188"/>
          </a:xfrm>
          <a:prstGeom prst="rect">
            <a:avLst/>
          </a:prstGeom>
        </p:spPr>
        <p:txBody>
          <a:bodyPr vert="horz" wrap="square" lIns="0" tIns="36829" rIns="0" bIns="0" rtlCol="0">
            <a:spAutoFit/>
          </a:bodyPr>
          <a:lstStyle>
            <a:lvl1pPr>
              <a:defRPr sz="6100" b="0" i="0">
                <a:solidFill>
                  <a:schemeClr val="bg1"/>
                </a:solidFill>
                <a:latin typeface="Gotham"/>
                <a:ea typeface="+mj-ea"/>
                <a:cs typeface="Gotham"/>
              </a:defRPr>
            </a:lvl1pPr>
          </a:lstStyle>
          <a:p>
            <a:pPr marL="8467" marR="3387" indent="-8467"/>
            <a:r>
              <a:rPr lang="pt-BR" sz="18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SSDSWF</a:t>
            </a:r>
          </a:p>
        </p:txBody>
      </p:sp>
    </p:spTree>
    <p:extLst>
      <p:ext uri="{BB962C8B-B14F-4D97-AF65-F5344CB8AC3E}">
        <p14:creationId xmlns:p14="http://schemas.microsoft.com/office/powerpoint/2010/main" val="1971007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64359-3DEB-D033-F61D-0A404A1D6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object 3">
            <a:extLst>
              <a:ext uri="{FF2B5EF4-FFF2-40B4-BE49-F238E27FC236}">
                <a16:creationId xmlns:a16="http://schemas.microsoft.com/office/drawing/2014/main" id="{D8F3A81C-0D64-5D11-8676-3A82CEF0F71C}"/>
              </a:ext>
            </a:extLst>
          </p:cNvPr>
          <p:cNvSpPr txBox="1">
            <a:spLocks/>
          </p:cNvSpPr>
          <p:nvPr/>
        </p:nvSpPr>
        <p:spPr>
          <a:xfrm>
            <a:off x="736237" y="176424"/>
            <a:ext cx="9906000" cy="421909"/>
          </a:xfrm>
          <a:prstGeom prst="rect">
            <a:avLst/>
          </a:prstGeom>
        </p:spPr>
        <p:txBody>
          <a:bodyPr vert="horz" wrap="square" lIns="0" tIns="36829" rIns="0" bIns="0" rtlCol="0">
            <a:spAutoFit/>
          </a:bodyPr>
          <a:lstStyle>
            <a:lvl1pPr>
              <a:defRPr sz="6100" b="0" i="0">
                <a:solidFill>
                  <a:schemeClr val="bg1"/>
                </a:solidFill>
                <a:latin typeface="Gotham"/>
                <a:ea typeface="+mj-ea"/>
                <a:cs typeface="Gotham"/>
              </a:defRPr>
            </a:lvl1pPr>
          </a:lstStyle>
          <a:p>
            <a:pPr marL="8467" marR="3387" indent="-8467"/>
            <a:r>
              <a:rPr lang="pt-BR" sz="2400" b="1" cap="small" dirty="0">
                <a:solidFill>
                  <a:srgbClr val="EA06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Qualificação contábil da transação.</a:t>
            </a:r>
            <a:r>
              <a:rPr lang="pt-BR" sz="2400" b="1" cap="small" dirty="0">
                <a:solidFill>
                  <a:srgbClr val="EA06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400" b="1" cap="small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Implicações fiscais para </a:t>
            </a:r>
            <a:r>
              <a:rPr lang="pt-BR" sz="2400" b="1" cap="small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Savian</a:t>
            </a:r>
            <a:r>
              <a:rPr lang="pt-BR" sz="2400" b="1" cap="small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 JVFJ</a:t>
            </a:r>
          </a:p>
        </p:txBody>
      </p:sp>
      <p:sp>
        <p:nvSpPr>
          <p:cNvPr id="26" name="object 3">
            <a:extLst>
              <a:ext uri="{FF2B5EF4-FFF2-40B4-BE49-F238E27FC236}">
                <a16:creationId xmlns:a16="http://schemas.microsoft.com/office/drawing/2014/main" id="{DB7A3265-0D34-49A1-7D05-274313552F8B}"/>
              </a:ext>
            </a:extLst>
          </p:cNvPr>
          <p:cNvSpPr txBox="1">
            <a:spLocks/>
          </p:cNvSpPr>
          <p:nvPr/>
        </p:nvSpPr>
        <p:spPr>
          <a:xfrm>
            <a:off x="736237" y="566392"/>
            <a:ext cx="9906000" cy="314188"/>
          </a:xfrm>
          <a:prstGeom prst="rect">
            <a:avLst/>
          </a:prstGeom>
        </p:spPr>
        <p:txBody>
          <a:bodyPr vert="horz" wrap="square" lIns="0" tIns="36829" rIns="0" bIns="0" rtlCol="0">
            <a:spAutoFit/>
          </a:bodyPr>
          <a:lstStyle>
            <a:lvl1pPr>
              <a:defRPr sz="6100" b="0" i="0">
                <a:solidFill>
                  <a:schemeClr val="bg1"/>
                </a:solidFill>
                <a:latin typeface="Gotham"/>
                <a:ea typeface="+mj-ea"/>
                <a:cs typeface="Gotham"/>
              </a:defRPr>
            </a:lvl1pPr>
          </a:lstStyle>
          <a:p>
            <a:pPr marL="8467" marR="3387" indent="-8467"/>
            <a:r>
              <a:rPr lang="pt-BR" sz="18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Resumo conceitual</a:t>
            </a:r>
          </a:p>
        </p:txBody>
      </p:sp>
      <p:graphicFrame>
        <p:nvGraphicFramePr>
          <p:cNvPr id="12" name="Tabela 11">
            <a:extLst>
              <a:ext uri="{FF2B5EF4-FFF2-40B4-BE49-F238E27FC236}">
                <a16:creationId xmlns:a16="http://schemas.microsoft.com/office/drawing/2014/main" id="{44685B1E-9DE4-7673-062B-3F4BAC7A81E9}"/>
              </a:ext>
            </a:extLst>
          </p:cNvPr>
          <p:cNvGraphicFramePr>
            <a:graphicFrameLocks noGrp="1"/>
          </p:cNvGraphicFramePr>
          <p:nvPr/>
        </p:nvGraphicFramePr>
        <p:xfrm>
          <a:off x="699247" y="1011087"/>
          <a:ext cx="10712823" cy="5189339"/>
        </p:xfrm>
        <a:graphic>
          <a:graphicData uri="http://schemas.openxmlformats.org/drawingml/2006/table">
            <a:tbl>
              <a:tblPr firstRow="1" firstCol="1" bandRow="1"/>
              <a:tblGrid>
                <a:gridCol w="745614">
                  <a:extLst>
                    <a:ext uri="{9D8B030D-6E8A-4147-A177-3AD203B41FA5}">
                      <a16:colId xmlns:a16="http://schemas.microsoft.com/office/drawing/2014/main" val="2053391186"/>
                    </a:ext>
                  </a:extLst>
                </a:gridCol>
                <a:gridCol w="745614">
                  <a:extLst>
                    <a:ext uri="{9D8B030D-6E8A-4147-A177-3AD203B41FA5}">
                      <a16:colId xmlns:a16="http://schemas.microsoft.com/office/drawing/2014/main" val="817033441"/>
                    </a:ext>
                  </a:extLst>
                </a:gridCol>
                <a:gridCol w="4524090">
                  <a:extLst>
                    <a:ext uri="{9D8B030D-6E8A-4147-A177-3AD203B41FA5}">
                      <a16:colId xmlns:a16="http://schemas.microsoft.com/office/drawing/2014/main" val="16534124"/>
                    </a:ext>
                  </a:extLst>
                </a:gridCol>
                <a:gridCol w="4697505">
                  <a:extLst>
                    <a:ext uri="{9D8B030D-6E8A-4147-A177-3AD203B41FA5}">
                      <a16:colId xmlns:a16="http://schemas.microsoft.com/office/drawing/2014/main" val="681134225"/>
                    </a:ext>
                  </a:extLst>
                </a:gridCol>
              </a:tblGrid>
              <a:tr h="18305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pt-BR" sz="1100" kern="100" dirty="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</a:endParaRPr>
                    </a:p>
                  </a:txBody>
                  <a:tcPr marL="10119" marR="1011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pt-BR" sz="1100" kern="100" dirty="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</a:endParaRPr>
                    </a:p>
                  </a:txBody>
                  <a:tcPr marL="10119" marR="1011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 kern="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CPC 15 — Combinação de Negócios</a:t>
                      </a:r>
                      <a:endParaRPr lang="pt-BR" sz="1100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</a:endParaRPr>
                    </a:p>
                  </a:txBody>
                  <a:tcPr marL="10119" marR="1011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 kern="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CPC 19 — Operação em Conjunto (“JO”)</a:t>
                      </a:r>
                      <a:endParaRPr lang="pt-BR" sz="1100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</a:endParaRPr>
                    </a:p>
                  </a:txBody>
                  <a:tcPr marL="10119" marR="1011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595580"/>
                  </a:ext>
                </a:extLst>
              </a:tr>
              <a:tr h="63090">
                <a:tc gridSpan="4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pt-BR" sz="500" b="1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</a:endParaRPr>
                    </a:p>
                  </a:txBody>
                  <a:tcPr marL="10119" marR="10119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pt-BR" sz="1100" b="1" kern="100" dirty="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</a:endParaRPr>
                    </a:p>
                  </a:txBody>
                  <a:tcPr marL="10119" marR="10119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lnSpc>
                          <a:spcPct val="115000"/>
                        </a:lnSpc>
                        <a:spcAft>
                          <a:spcPts val="600"/>
                        </a:spcAft>
                        <a:buClr>
                          <a:schemeClr val="tx1"/>
                        </a:buClr>
                        <a:buSzPct val="100000"/>
                        <a:buFont typeface="Wingdings" panose="05000000000000000000" pitchFamily="2" charset="2"/>
                        <a:buChar char="§"/>
                      </a:pPr>
                      <a:endParaRPr lang="pt-BR" sz="11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119" marR="10119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pt-BR" sz="500" b="1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</a:endParaRPr>
                    </a:p>
                  </a:txBody>
                  <a:tcPr marL="10119" marR="10119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4541377"/>
                  </a:ext>
                </a:extLst>
              </a:tr>
              <a:tr h="580117">
                <a:tc row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 kern="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ASPECTOS CONTÁBEIS</a:t>
                      </a:r>
                    </a:p>
                  </a:txBody>
                  <a:tcPr marL="10119" marR="10119" marT="0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 i="1" kern="100" dirty="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GERAL</a:t>
                      </a:r>
                    </a:p>
                  </a:txBody>
                  <a:tcPr marL="10119" marR="10119" marT="0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lnSpc>
                          <a:spcPct val="115000"/>
                        </a:lnSpc>
                        <a:spcAft>
                          <a:spcPts val="600"/>
                        </a:spcAft>
                        <a:buClr>
                          <a:schemeClr val="tx1"/>
                        </a:buClr>
                        <a:buSzPct val="100000"/>
                        <a:buFont typeface="Wingdings" panose="05000000000000000000" pitchFamily="2" charset="2"/>
                        <a:buChar char="§"/>
                      </a:pPr>
                      <a:r>
                        <a:rPr lang="pt-BR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Aquisição de controle do negócio da CNP pela </a:t>
                      </a:r>
                      <a:r>
                        <a:rPr lang="pt-BR" sz="11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Embracon</a:t>
                      </a:r>
                      <a:r>
                        <a:rPr lang="pt-BR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179388" indent="-179388" algn="l" defTabSz="914400" rtl="0" eaLnBrk="1" latinLnBrk="0" hangingPunct="1">
                        <a:lnSpc>
                          <a:spcPct val="115000"/>
                        </a:lnSpc>
                        <a:spcAft>
                          <a:spcPts val="600"/>
                        </a:spcAft>
                        <a:buClr>
                          <a:schemeClr val="tx1"/>
                        </a:buClr>
                        <a:buSzPct val="100000"/>
                        <a:buFont typeface="Wingdings" panose="05000000000000000000" pitchFamily="2" charset="2"/>
                        <a:buChar char="§"/>
                      </a:pP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Necessidade de laudo PPA com avaliação do patrimônio líquido (“</a:t>
                      </a:r>
                      <a:r>
                        <a:rPr kumimoji="0" lang="pt-B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PL</a:t>
                      </a: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”) da CNP a valor justo (“</a:t>
                      </a:r>
                      <a:r>
                        <a:rPr kumimoji="0" lang="pt-B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VJ</a:t>
                      </a: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”). PL da </a:t>
                      </a:r>
                      <a:r>
                        <a:rPr kumimoji="0" lang="pt-BR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Embracon</a:t>
                      </a: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não é objeto de reavaliação.</a:t>
                      </a:r>
                      <a:endParaRPr lang="pt-BR" sz="11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119" marR="10119" marT="0" marB="0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15000"/>
                        </a:lnSpc>
                        <a:spcAft>
                          <a:spcPts val="6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Comparável, contabilmente, à participação em um consórcio. O Grupo CNP e o Grupo </a:t>
                      </a:r>
                      <a:r>
                        <a:rPr kumimoji="0" lang="pt-BR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Embracon</a:t>
                      </a: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se juntam para o desenvolvimento de um empreendimento conjunto (correspondente à junção de </a:t>
                      </a:r>
                      <a:r>
                        <a:rPr kumimoji="0" lang="pt-BR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Embracon</a:t>
                      </a: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e CNP), no qual ambos têm controle. </a:t>
                      </a:r>
                    </a:p>
                    <a:p>
                      <a:pPr marL="171450" indent="-171450">
                        <a:lnSpc>
                          <a:spcPct val="115000"/>
                        </a:lnSpc>
                        <a:spcAft>
                          <a:spcPts val="6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Necessidade de laudo para reavaliação do VJ dos ativos e passivos da CNP e da </a:t>
                      </a:r>
                      <a:r>
                        <a:rPr kumimoji="0" lang="pt-BR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Embracon</a:t>
                      </a: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pt-BR" sz="1100" kern="100" dirty="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</a:endParaRPr>
                    </a:p>
                  </a:txBody>
                  <a:tcPr marL="10119" marR="10119" marT="0" marB="0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1767023"/>
                  </a:ext>
                </a:extLst>
              </a:tr>
              <a:tr h="431233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pt-BR" sz="1100" kern="100" dirty="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</a:endParaRPr>
                    </a:p>
                  </a:txBody>
                  <a:tcPr marL="10119" marR="10119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EMBRACON</a:t>
                      </a:r>
                      <a:endParaRPr lang="pt-BR" sz="1100" kern="100" dirty="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</a:endParaRPr>
                    </a:p>
                  </a:txBody>
                  <a:tcPr marL="10119" marR="10119" marT="0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lnSpc>
                          <a:spcPct val="115000"/>
                        </a:lnSpc>
                        <a:spcAft>
                          <a:spcPts val="600"/>
                        </a:spcAft>
                        <a:buClr>
                          <a:schemeClr val="tx1">
                            <a:lumMod val="50000"/>
                            <a:lumOff val="50000"/>
                          </a:schemeClr>
                        </a:buClr>
                        <a:buSzPct val="150000"/>
                        <a:buFont typeface="Calibri" panose="020F0502020204030204" pitchFamily="34" charset="0"/>
                        <a:buChar char="●"/>
                        <a:tabLst>
                          <a:tab pos="179388" algn="l"/>
                        </a:tabLst>
                      </a:pPr>
                      <a:r>
                        <a:rPr lang="pt-BR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Reconhece 100% dos ativos identificáveis e passivos assumidos da CNP a VJ, conforme o método de aquisição. </a:t>
                      </a:r>
                    </a:p>
                  </a:txBody>
                  <a:tcPr marL="10119" marR="10119" marT="0" marB="0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chemeClr val="tx1">
                            <a:lumMod val="50000"/>
                            <a:lumOff val="50000"/>
                          </a:schemeClr>
                        </a:buClr>
                        <a:buSzPct val="150000"/>
                        <a:buFont typeface="Calibri" panose="020F0502020204030204" pitchFamily="34" charset="0"/>
                        <a:buNone/>
                        <a:tabLst>
                          <a:tab pos="179388" algn="l"/>
                        </a:tabLst>
                        <a:defRPr/>
                      </a:pP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10119" marR="10119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182718"/>
                  </a:ext>
                </a:extLst>
              </a:tr>
              <a:tr h="578114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pt-BR" sz="1100" kern="100" dirty="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</a:endParaRPr>
                    </a:p>
                  </a:txBody>
                  <a:tcPr marL="10119" marR="10119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 kern="100" dirty="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SAVIAN / JVFJ</a:t>
                      </a:r>
                      <a:endParaRPr lang="pt-BR" sz="1100" kern="100" dirty="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</a:endParaRPr>
                    </a:p>
                  </a:txBody>
                  <a:tcPr marL="10119" marR="10119" marT="0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9388" marR="0" lvl="0" indent="-179388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prstClr val="black">
                            <a:lumMod val="50000"/>
                            <a:lumOff val="50000"/>
                          </a:prstClr>
                        </a:buClr>
                        <a:buSzPct val="150000"/>
                        <a:buFont typeface="Calibri" panose="020F0502020204030204" pitchFamily="34" charset="0"/>
                        <a:buChar char="●"/>
                        <a:tabLst>
                          <a:tab pos="179388" algn="l"/>
                        </a:tabLst>
                        <a:defRPr/>
                      </a:pP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Reflexo de 60% do PL da </a:t>
                      </a:r>
                      <a:r>
                        <a:rPr kumimoji="0" lang="pt-BR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Embracon</a:t>
                      </a: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após a incorporação reconhecido como aumento do valor do investimento em </a:t>
                      </a:r>
                      <a:r>
                        <a:rPr kumimoji="0" lang="pt-BR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Embracon</a:t>
                      </a: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por equivalência patrimonial (“</a:t>
                      </a:r>
                      <a:r>
                        <a:rPr kumimoji="0" lang="pt-B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MEP</a:t>
                      </a: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”).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prstClr val="black">
                            <a:lumMod val="50000"/>
                            <a:lumOff val="50000"/>
                          </a:prstClr>
                        </a:buClr>
                        <a:buSzPct val="150000"/>
                        <a:buFont typeface="Calibri" panose="020F0502020204030204" pitchFamily="34" charset="0"/>
                        <a:buNone/>
                        <a:tabLst>
                          <a:tab pos="179388" algn="l"/>
                        </a:tabLst>
                        <a:defRPr/>
                      </a:pP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Reflexo Holdings = 60%*(PL </a:t>
                      </a:r>
                      <a:r>
                        <a:rPr kumimoji="0" lang="pt-BR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Embracon</a:t>
                      </a: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 </a:t>
                      </a:r>
                      <a:r>
                        <a:rPr kumimoji="0" lang="pt-B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valor contábil</a:t>
                      </a: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PL CNP a </a:t>
                      </a:r>
                      <a:r>
                        <a:rPr kumimoji="0" lang="pt-B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C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VJ</a:t>
                      </a: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9388" marR="0" lvl="0" indent="-179388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00B050"/>
                        </a:buClr>
                        <a:buSzPct val="150000"/>
                        <a:buFont typeface="Calibri" panose="020F0502020204030204" pitchFamily="34" charset="0"/>
                        <a:buChar char="●"/>
                        <a:tabLst>
                          <a:tab pos="179388" algn="l"/>
                        </a:tabLst>
                        <a:defRPr/>
                      </a:pP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Possível </a:t>
                      </a:r>
                      <a:r>
                        <a:rPr kumimoji="0" lang="pt-B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não registrar passivo fiscal diferido</a:t>
                      </a: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10119" marR="10119" marT="0" marB="0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9388" marR="0" lvl="0" indent="-179388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prstClr val="black">
                            <a:lumMod val="50000"/>
                            <a:lumOff val="50000"/>
                          </a:prstClr>
                        </a:buClr>
                        <a:buSzPct val="150000"/>
                        <a:buFont typeface="Calibri" panose="020F0502020204030204" pitchFamily="34" charset="0"/>
                        <a:buChar char="●"/>
                        <a:tabLst>
                          <a:tab pos="179388" algn="l"/>
                        </a:tabLst>
                        <a:defRPr/>
                      </a:pPr>
                      <a:r>
                        <a:rPr kumimoji="0" lang="pt-B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Reconhecimento direto </a:t>
                      </a: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de 60% do VJ dos ativos e passivos que compõem a JO (CNP e </a:t>
                      </a:r>
                      <a:r>
                        <a:rPr kumimoji="0" lang="pt-BR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Embracon</a:t>
                      </a: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).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prstClr val="black">
                            <a:lumMod val="50000"/>
                            <a:lumOff val="50000"/>
                          </a:prstClr>
                        </a:buClr>
                        <a:buSzPct val="150000"/>
                        <a:buFont typeface="Calibri" panose="020F0502020204030204" pitchFamily="34" charset="0"/>
                        <a:buNone/>
                        <a:tabLst>
                          <a:tab pos="179388" algn="l"/>
                        </a:tabLst>
                        <a:defRPr/>
                      </a:pP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Reflexo Holdings = 60%*(PL </a:t>
                      </a:r>
                      <a:r>
                        <a:rPr kumimoji="0" lang="pt-BR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Embracon</a:t>
                      </a: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a </a:t>
                      </a:r>
                      <a:r>
                        <a:rPr kumimoji="0" lang="pt-B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C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VJ </a:t>
                      </a: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PL CNP a </a:t>
                      </a:r>
                      <a:r>
                        <a:rPr kumimoji="0" lang="pt-B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C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VJ</a:t>
                      </a: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9388" marR="0" lvl="0" indent="-179388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FF0000"/>
                        </a:buClr>
                        <a:buSzPct val="150000"/>
                        <a:buFont typeface="Calibri" panose="020F0502020204030204" pitchFamily="34" charset="0"/>
                        <a:buChar char="●"/>
                        <a:tabLst>
                          <a:tab pos="179388" algn="l"/>
                        </a:tabLst>
                        <a:defRPr/>
                      </a:pP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Registro de </a:t>
                      </a:r>
                      <a:r>
                        <a:rPr kumimoji="0" lang="pt-B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passivo fiscal diferido</a:t>
                      </a: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10119" marR="10119" marT="0" marB="0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1086306"/>
                  </a:ext>
                </a:extLst>
              </a:tr>
              <a:tr h="669040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pt-BR" sz="1100" kern="100" dirty="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</a:endParaRPr>
                    </a:p>
                  </a:txBody>
                  <a:tcPr marL="10119" marR="10119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 kern="100" dirty="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GRUPO CNP</a:t>
                      </a:r>
                      <a:endParaRPr lang="pt-BR" sz="1100" kern="100" dirty="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</a:endParaRPr>
                    </a:p>
                  </a:txBody>
                  <a:tcPr marL="10119" marR="10119" marT="0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9388" marR="0" lvl="0" indent="-179388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FF0000"/>
                        </a:buClr>
                        <a:buSzPct val="150000"/>
                        <a:buFont typeface="Calibri" panose="020F0502020204030204" pitchFamily="34" charset="0"/>
                        <a:buChar char="●"/>
                        <a:tabLst>
                          <a:tab pos="179388" algn="l"/>
                        </a:tabLst>
                        <a:defRPr/>
                      </a:pP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Reflexo de 40% do PL da </a:t>
                      </a:r>
                      <a:r>
                        <a:rPr kumimoji="0" lang="pt-BR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Embracon</a:t>
                      </a: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após a incorporação reconhecido como aumento do valor do investimento em </a:t>
                      </a:r>
                      <a:r>
                        <a:rPr kumimoji="0" lang="pt-BR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Embracon</a:t>
                      </a: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por MEP.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prstClr val="black">
                            <a:lumMod val="50000"/>
                            <a:lumOff val="50000"/>
                          </a:prstClr>
                        </a:buClr>
                        <a:buSzPct val="150000"/>
                        <a:buFont typeface="Calibri" panose="020F0502020204030204" pitchFamily="34" charset="0"/>
                        <a:buNone/>
                        <a:tabLst>
                          <a:tab pos="179388" algn="l"/>
                        </a:tabLst>
                        <a:defRPr/>
                      </a:pP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Reflexo Holding = 40%*(PL </a:t>
                      </a:r>
                      <a:r>
                        <a:rPr kumimoji="0" lang="pt-BR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Embracon</a:t>
                      </a: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a </a:t>
                      </a:r>
                      <a:r>
                        <a:rPr kumimoji="0" lang="pt-B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valor contábil</a:t>
                      </a: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PL CNP a </a:t>
                      </a:r>
                      <a:r>
                        <a:rPr kumimoji="0" lang="pt-B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C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VJ</a:t>
                      </a: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10119" marR="10119" marT="0" marB="0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9388" marR="0" lvl="0" indent="-179388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00B050"/>
                        </a:buClr>
                        <a:buSzPct val="150000"/>
                        <a:buFont typeface="Calibri" panose="020F0502020204030204" pitchFamily="34" charset="0"/>
                        <a:buChar char="●"/>
                        <a:tabLst>
                          <a:tab pos="179388" algn="l"/>
                        </a:tabLst>
                        <a:defRPr/>
                      </a:pP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Reconhecimento direto de 40% do VJ dos ativos e passivos que compõem a JO.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prstClr val="black">
                            <a:lumMod val="50000"/>
                            <a:lumOff val="50000"/>
                          </a:prstClr>
                        </a:buClr>
                        <a:buSzPct val="150000"/>
                        <a:buFont typeface="Calibri" panose="020F0502020204030204" pitchFamily="34" charset="0"/>
                        <a:buNone/>
                        <a:tabLst>
                          <a:tab pos="179388" algn="l"/>
                        </a:tabLst>
                        <a:defRPr/>
                      </a:pP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Reflexo Holding = 40%*(PL </a:t>
                      </a:r>
                      <a:r>
                        <a:rPr kumimoji="0" lang="pt-BR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Embracon</a:t>
                      </a: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a </a:t>
                      </a:r>
                      <a:r>
                        <a:rPr kumimoji="0" lang="pt-B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C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VJ</a:t>
                      </a:r>
                      <a:r>
                        <a:rPr kumimoji="0" lang="pt-B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PL CNP a </a:t>
                      </a:r>
                      <a:r>
                        <a:rPr kumimoji="0" lang="pt-B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C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VJ</a:t>
                      </a: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10119" marR="10119" marT="0" marB="0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4043086"/>
                  </a:ext>
                </a:extLst>
              </a:tr>
              <a:tr h="56447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500" b="1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</a:endParaRPr>
                    </a:p>
                  </a:txBody>
                  <a:tcPr marL="10119" marR="10119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500" kern="100" dirty="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</a:endParaRPr>
                    </a:p>
                  </a:txBody>
                  <a:tcPr marL="10119" marR="10119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9388" marR="0" lvl="0" indent="-179388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00B050"/>
                        </a:buClr>
                        <a:buSzPct val="150000"/>
                        <a:buFont typeface="Calibri" panose="020F0502020204030204" pitchFamily="34" charset="0"/>
                        <a:buChar char="●"/>
                        <a:tabLst>
                          <a:tab pos="179388" algn="l"/>
                        </a:tabLst>
                        <a:defRPr/>
                      </a:pPr>
                      <a:endParaRPr kumimoji="0" lang="pt-BR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119" marR="10119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9388" marR="0" lvl="0" indent="-179388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prstClr val="black"/>
                        </a:buClr>
                        <a:buSzPct val="100000"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kumimoji="0" lang="pt-BR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119" marR="10119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6325468"/>
                  </a:ext>
                </a:extLst>
              </a:tr>
              <a:tr h="1010224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ASPECTOS</a:t>
                      </a:r>
                      <a:r>
                        <a:rPr lang="pt-BR" sz="1100" b="1" kern="100" dirty="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 </a:t>
                      </a:r>
                      <a:r>
                        <a:rPr lang="pt-BR" sz="1100" b="1" kern="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FISCAIS</a:t>
                      </a:r>
                    </a:p>
                  </a:txBody>
                  <a:tcPr marL="10119" marR="10119" marT="0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00" dirty="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SAVIAN / JVFJ</a:t>
                      </a:r>
                      <a:endParaRPr lang="pt-BR" sz="1100" kern="100" dirty="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</a:endParaRPr>
                    </a:p>
                  </a:txBody>
                  <a:tcPr marL="10119" marR="10119" marT="0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9388" marR="0" lvl="0" indent="-179388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00B050"/>
                        </a:buClr>
                        <a:buSzPct val="150000"/>
                        <a:buFont typeface="Calibri" panose="020F0502020204030204" pitchFamily="34" charset="0"/>
                        <a:buChar char="●"/>
                        <a:tabLst>
                          <a:tab pos="179388" algn="l"/>
                        </a:tabLst>
                        <a:defRPr/>
                      </a:pP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Argumentos para defender que reflexo positivo do PL incorporado da CNP é neutro para fins fiscais, tanto no reconhecimento inicial como em caso de alienação do investimento. Neutralidade completa desse reflexo não é livre de risco, mas </a:t>
                      </a:r>
                      <a:r>
                        <a:rPr kumimoji="0" lang="pt-B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risco fica limitado</a:t>
                      </a: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ao reflexo do VJ do PL da CNP, já que o PL da </a:t>
                      </a:r>
                      <a:r>
                        <a:rPr kumimoji="0" lang="pt-BR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Embracon</a:t>
                      </a: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não é reavaliado neste cenário.</a:t>
                      </a:r>
                    </a:p>
                  </a:txBody>
                  <a:tcPr marL="10119" marR="10119" marT="0" marB="0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9388" marR="0" lvl="0" indent="-179388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FF0000"/>
                        </a:buClr>
                        <a:buSzPct val="150000"/>
                        <a:buFont typeface="Calibri" panose="020F0502020204030204" pitchFamily="34" charset="0"/>
                        <a:buChar char="●"/>
                        <a:tabLst>
                          <a:tab pos="179388" algn="l"/>
                        </a:tabLst>
                        <a:defRPr/>
                      </a:pP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Ganhos decorrente da avaliação a VJ do patrimônio da JO ficam com tributação diferida até a alienação do investimento. Isso inclui o </a:t>
                      </a:r>
                      <a:r>
                        <a:rPr kumimoji="0" lang="pt-B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VJ do PL da CNP e da </a:t>
                      </a:r>
                      <a:r>
                        <a:rPr kumimoji="0" lang="pt-BR" sz="11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Embracon</a:t>
                      </a: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179388" marR="0" lvl="0" indent="-179388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prstClr val="black"/>
                        </a:buClr>
                        <a:buSzPct val="100000"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 ganho de AVJ diferido fica “carimbado” à alíquota de 34% de IRPJ/CSLL (independentemente da entidade que acabar alienando a participação) e deve ser, inclusive, controlado em subconta para evitar a tributação imediata quando da incorporação. </a:t>
                      </a:r>
                    </a:p>
                  </a:txBody>
                  <a:tcPr marL="10119" marR="10119" marT="0" marB="0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30893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1882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7CAE5-2237-20B3-D273-214D43684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BAD8FA02-68BB-D795-55B0-1FB0584B06C4}"/>
              </a:ext>
            </a:extLst>
          </p:cNvPr>
          <p:cNvSpPr/>
          <p:nvPr/>
        </p:nvSpPr>
        <p:spPr>
          <a:xfrm>
            <a:off x="502024" y="1965492"/>
            <a:ext cx="11435976" cy="2285452"/>
          </a:xfrm>
          <a:prstGeom prst="rect">
            <a:avLst/>
          </a:prstGeom>
          <a:solidFill>
            <a:srgbClr val="F2F2F2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94" name="object 3">
            <a:extLst>
              <a:ext uri="{FF2B5EF4-FFF2-40B4-BE49-F238E27FC236}">
                <a16:creationId xmlns:a16="http://schemas.microsoft.com/office/drawing/2014/main" id="{92C10598-6AD9-404B-6353-35FD42208F86}"/>
              </a:ext>
            </a:extLst>
          </p:cNvPr>
          <p:cNvSpPr txBox="1">
            <a:spLocks/>
          </p:cNvSpPr>
          <p:nvPr/>
        </p:nvSpPr>
        <p:spPr>
          <a:xfrm>
            <a:off x="736237" y="176424"/>
            <a:ext cx="9906000" cy="421909"/>
          </a:xfrm>
          <a:prstGeom prst="rect">
            <a:avLst/>
          </a:prstGeom>
        </p:spPr>
        <p:txBody>
          <a:bodyPr vert="horz" wrap="square" lIns="0" tIns="36829" rIns="0" bIns="0" rtlCol="0">
            <a:spAutoFit/>
          </a:bodyPr>
          <a:lstStyle>
            <a:lvl1pPr>
              <a:defRPr sz="6100" b="0" i="0">
                <a:solidFill>
                  <a:schemeClr val="bg1"/>
                </a:solidFill>
                <a:latin typeface="Gotham"/>
                <a:ea typeface="+mj-ea"/>
                <a:cs typeface="Gotham"/>
              </a:defRPr>
            </a:lvl1pPr>
          </a:lstStyle>
          <a:p>
            <a:pPr marL="8467" marR="3387" indent="-8467"/>
            <a:r>
              <a:rPr lang="pt-BR" sz="2400" b="1" cap="small" dirty="0">
                <a:solidFill>
                  <a:srgbClr val="EA06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Qualificação contábil da transação.</a:t>
            </a:r>
            <a:r>
              <a:rPr lang="pt-BR" sz="2400" b="1" cap="small" dirty="0">
                <a:solidFill>
                  <a:srgbClr val="EA06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400" b="1" cap="small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Implicações fiscais para </a:t>
            </a:r>
            <a:r>
              <a:rPr lang="pt-BR" sz="2400" b="1" cap="small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Savian</a:t>
            </a:r>
            <a:r>
              <a:rPr lang="pt-BR" sz="2400" b="1" cap="small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 JVFJ</a:t>
            </a:r>
          </a:p>
        </p:txBody>
      </p:sp>
      <p:sp>
        <p:nvSpPr>
          <p:cNvPr id="26" name="object 3">
            <a:extLst>
              <a:ext uri="{FF2B5EF4-FFF2-40B4-BE49-F238E27FC236}">
                <a16:creationId xmlns:a16="http://schemas.microsoft.com/office/drawing/2014/main" id="{8610AC69-E86B-58DB-5926-75BF71CDD690}"/>
              </a:ext>
            </a:extLst>
          </p:cNvPr>
          <p:cNvSpPr txBox="1">
            <a:spLocks/>
          </p:cNvSpPr>
          <p:nvPr/>
        </p:nvSpPr>
        <p:spPr>
          <a:xfrm>
            <a:off x="736237" y="566392"/>
            <a:ext cx="9906000" cy="314188"/>
          </a:xfrm>
          <a:prstGeom prst="rect">
            <a:avLst/>
          </a:prstGeom>
        </p:spPr>
        <p:txBody>
          <a:bodyPr vert="horz" wrap="square" lIns="0" tIns="36829" rIns="0" bIns="0" rtlCol="0">
            <a:spAutoFit/>
          </a:bodyPr>
          <a:lstStyle>
            <a:lvl1pPr>
              <a:defRPr sz="6100" b="0" i="0">
                <a:solidFill>
                  <a:schemeClr val="bg1"/>
                </a:solidFill>
                <a:latin typeface="Gotham"/>
                <a:ea typeface="+mj-ea"/>
                <a:cs typeface="Gotham"/>
              </a:defRPr>
            </a:lvl1pPr>
          </a:lstStyle>
          <a:p>
            <a:pPr marL="8467" marR="3387" indent="-8467"/>
            <a:r>
              <a:rPr lang="pt-BR" sz="18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Exemplo numérico comparativo</a:t>
            </a:r>
          </a:p>
        </p:txBody>
      </p:sp>
      <p:sp>
        <p:nvSpPr>
          <p:cNvPr id="153" name="Retângulo 152">
            <a:extLst>
              <a:ext uri="{FF2B5EF4-FFF2-40B4-BE49-F238E27FC236}">
                <a16:creationId xmlns:a16="http://schemas.microsoft.com/office/drawing/2014/main" id="{1EDBABF7-3216-E7A2-5B15-B7B5049B4AC9}"/>
              </a:ext>
            </a:extLst>
          </p:cNvPr>
          <p:cNvSpPr/>
          <p:nvPr/>
        </p:nvSpPr>
        <p:spPr>
          <a:xfrm>
            <a:off x="-1812329" y="1187630"/>
            <a:ext cx="2113545" cy="483852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>
              <a:spcAft>
                <a:spcPts val="200"/>
              </a:spcAft>
              <a:buSzPct val="110000"/>
            </a:pPr>
            <a:r>
              <a:rPr lang="pt-BR" sz="1000" b="1" cap="small" dirty="0">
                <a:solidFill>
                  <a:schemeClr val="tx1"/>
                </a:solidFill>
              </a:rPr>
              <a:t>Premissas dos exemplos</a:t>
            </a:r>
          </a:p>
          <a:p>
            <a:pPr marL="171450" indent="-171450">
              <a:spcAft>
                <a:spcPts val="200"/>
              </a:spcAft>
              <a:buSzPct val="110000"/>
              <a:buFont typeface="Wingdings" panose="05000000000000000000" pitchFamily="2" charset="2"/>
              <a:buChar char="§"/>
            </a:pPr>
            <a:r>
              <a:rPr lang="pt-BR" sz="900" dirty="0" err="1">
                <a:solidFill>
                  <a:schemeClr val="tx1"/>
                </a:solidFill>
              </a:rPr>
              <a:t>PLs</a:t>
            </a:r>
            <a:r>
              <a:rPr lang="pt-BR" sz="900" dirty="0">
                <a:solidFill>
                  <a:schemeClr val="tx1"/>
                </a:solidFill>
              </a:rPr>
              <a:t> da </a:t>
            </a:r>
            <a:r>
              <a:rPr lang="pt-BR" sz="900" dirty="0" err="1">
                <a:solidFill>
                  <a:schemeClr val="tx1"/>
                </a:solidFill>
              </a:rPr>
              <a:t>Embracon</a:t>
            </a:r>
            <a:r>
              <a:rPr lang="pt-BR" sz="900" dirty="0">
                <a:solidFill>
                  <a:schemeClr val="tx1"/>
                </a:solidFill>
              </a:rPr>
              <a:t>, CNP e Holdings </a:t>
            </a:r>
            <a:r>
              <a:rPr lang="pt-BR" sz="900" dirty="0" err="1">
                <a:solidFill>
                  <a:schemeClr val="tx1"/>
                </a:solidFill>
              </a:rPr>
              <a:t>Embracon</a:t>
            </a:r>
            <a:r>
              <a:rPr lang="pt-BR" sz="900" dirty="0">
                <a:solidFill>
                  <a:schemeClr val="tx1"/>
                </a:solidFill>
              </a:rPr>
              <a:t> cf. planilha enviada pela </a:t>
            </a:r>
            <a:r>
              <a:rPr lang="pt-BR" sz="900" dirty="0" err="1">
                <a:solidFill>
                  <a:schemeClr val="tx1"/>
                </a:solidFill>
              </a:rPr>
              <a:t>Embracon</a:t>
            </a:r>
            <a:r>
              <a:rPr lang="pt-BR" sz="900" dirty="0">
                <a:solidFill>
                  <a:schemeClr val="tx1"/>
                </a:solidFill>
              </a:rPr>
              <a:t>.</a:t>
            </a:r>
          </a:p>
          <a:p>
            <a:pPr marL="171450" indent="-171450">
              <a:spcAft>
                <a:spcPts val="200"/>
              </a:spcAft>
              <a:buSzPct val="110000"/>
              <a:buFont typeface="Wingdings" panose="05000000000000000000" pitchFamily="2" charset="2"/>
              <a:buChar char="§"/>
            </a:pPr>
            <a:r>
              <a:rPr lang="pt-BR" sz="900" dirty="0">
                <a:solidFill>
                  <a:schemeClr val="tx1"/>
                </a:solidFill>
              </a:rPr>
              <a:t>VJ da </a:t>
            </a:r>
            <a:r>
              <a:rPr lang="pt-BR" sz="900" dirty="0" err="1">
                <a:solidFill>
                  <a:schemeClr val="tx1"/>
                </a:solidFill>
              </a:rPr>
              <a:t>Embracon</a:t>
            </a:r>
            <a:r>
              <a:rPr lang="pt-BR" sz="900" dirty="0">
                <a:solidFill>
                  <a:schemeClr val="tx1"/>
                </a:solidFill>
              </a:rPr>
              <a:t> = </a:t>
            </a:r>
            <a:r>
              <a:rPr lang="pt-BR" sz="900" b="1" dirty="0">
                <a:solidFill>
                  <a:schemeClr val="tx1"/>
                </a:solidFill>
              </a:rPr>
              <a:t>5.888</a:t>
            </a:r>
            <a:r>
              <a:rPr lang="pt-BR" sz="900" dirty="0">
                <a:solidFill>
                  <a:schemeClr val="tx1"/>
                </a:solidFill>
              </a:rPr>
              <a:t> (exercício DTT).</a:t>
            </a:r>
          </a:p>
          <a:p>
            <a:pPr marL="171450" indent="-171450">
              <a:spcAft>
                <a:spcPts val="200"/>
              </a:spcAft>
              <a:buSzPct val="110000"/>
              <a:buFont typeface="Wingdings" panose="05000000000000000000" pitchFamily="2" charset="2"/>
              <a:buChar char="§"/>
            </a:pPr>
            <a:r>
              <a:rPr lang="pt-BR" sz="900" dirty="0">
                <a:solidFill>
                  <a:schemeClr val="tx1"/>
                </a:solidFill>
              </a:rPr>
              <a:t>VJ da CNP = </a:t>
            </a:r>
            <a:r>
              <a:rPr lang="pt-BR" sz="900" b="1" dirty="0">
                <a:solidFill>
                  <a:schemeClr val="tx1"/>
                </a:solidFill>
              </a:rPr>
              <a:t>866</a:t>
            </a:r>
            <a:r>
              <a:rPr lang="pt-BR" sz="900" dirty="0">
                <a:solidFill>
                  <a:schemeClr val="tx1"/>
                </a:solidFill>
              </a:rPr>
              <a:t> (exercício DTT proporcionalizado).</a:t>
            </a:r>
          </a:p>
          <a:p>
            <a:pPr marL="171450" indent="-171450">
              <a:spcAft>
                <a:spcPts val="200"/>
              </a:spcAft>
              <a:buSzPct val="110000"/>
              <a:buFont typeface="Wingdings" panose="05000000000000000000" pitchFamily="2" charset="2"/>
              <a:buChar char="§"/>
            </a:pPr>
            <a:r>
              <a:rPr lang="pt-BR" sz="900" dirty="0">
                <a:solidFill>
                  <a:schemeClr val="tx1"/>
                </a:solidFill>
              </a:rPr>
              <a:t>Cash out = </a:t>
            </a:r>
            <a:r>
              <a:rPr lang="pt-BR" sz="900" b="1" dirty="0">
                <a:solidFill>
                  <a:schemeClr val="tx1"/>
                </a:solidFill>
              </a:rPr>
              <a:t>1.200</a:t>
            </a:r>
          </a:p>
          <a:p>
            <a:pPr marL="171450" indent="-171450">
              <a:spcAft>
                <a:spcPts val="200"/>
              </a:spcAft>
              <a:buSzPct val="110000"/>
              <a:buFont typeface="Wingdings" panose="05000000000000000000" pitchFamily="2" charset="2"/>
              <a:buChar char="§"/>
            </a:pPr>
            <a:r>
              <a:rPr lang="pt-BR" sz="900" dirty="0">
                <a:solidFill>
                  <a:schemeClr val="tx1"/>
                </a:solidFill>
              </a:rPr>
              <a:t>% Venda PF: </a:t>
            </a:r>
            <a:r>
              <a:rPr lang="pt-BR" sz="900" b="1" dirty="0">
                <a:solidFill>
                  <a:schemeClr val="tx1"/>
                </a:solidFill>
              </a:rPr>
              <a:t>22,5%</a:t>
            </a:r>
          </a:p>
          <a:p>
            <a:pPr marL="171450" indent="-171450">
              <a:spcAft>
                <a:spcPts val="200"/>
              </a:spcAft>
              <a:buSzPct val="110000"/>
              <a:buFont typeface="Wingdings" panose="05000000000000000000" pitchFamily="2" charset="2"/>
              <a:buChar char="§"/>
            </a:pPr>
            <a:r>
              <a:rPr lang="pt-BR" sz="900" dirty="0">
                <a:solidFill>
                  <a:schemeClr val="tx1"/>
                </a:solidFill>
              </a:rPr>
              <a:t>As holdings estão no presumido (Caue, só coloca essa premissa </a:t>
            </a:r>
            <a:r>
              <a:rPr lang="pt-BR" sz="900" dirty="0" err="1">
                <a:solidFill>
                  <a:schemeClr val="tx1"/>
                </a:solidFill>
              </a:rPr>
              <a:t>pq</a:t>
            </a:r>
            <a:r>
              <a:rPr lang="pt-BR" sz="900" dirty="0">
                <a:solidFill>
                  <a:schemeClr val="tx1"/>
                </a:solidFill>
              </a:rPr>
              <a:t> é importante para a parte do cash out. Depois na venda dos 60% temos que dizer que tributação efetiva poderia ser reduzida se trocar para LR e tiver prejuízos correntes suficientes para essa redução – não precisa detalhar, mas tem que por algum </a:t>
            </a:r>
            <a:r>
              <a:rPr lang="pt-BR" sz="900" dirty="0" err="1">
                <a:solidFill>
                  <a:schemeClr val="tx1"/>
                </a:solidFill>
              </a:rPr>
              <a:t>disclaimer</a:t>
            </a:r>
            <a:r>
              <a:rPr lang="pt-BR" sz="900" dirty="0">
                <a:solidFill>
                  <a:schemeClr val="tx1"/>
                </a:solidFill>
              </a:rPr>
              <a:t>.</a:t>
            </a:r>
          </a:p>
          <a:p>
            <a:pPr marL="171450" indent="-171450">
              <a:spcAft>
                <a:spcPts val="200"/>
              </a:spcAft>
              <a:buSzPct val="110000"/>
              <a:buFont typeface="Wingdings" panose="05000000000000000000" pitchFamily="2" charset="2"/>
              <a:buChar char="§"/>
            </a:pPr>
            <a:r>
              <a:rPr lang="pt-BR" sz="900" dirty="0">
                <a:solidFill>
                  <a:schemeClr val="tx1"/>
                </a:solidFill>
              </a:rPr>
              <a:t>Também precisamos comentar que esse material não contém o risco de ITCMD (</a:t>
            </a:r>
            <a:r>
              <a:rPr lang="pt-BR" sz="900" dirty="0" err="1">
                <a:solidFill>
                  <a:schemeClr val="tx1"/>
                </a:solidFill>
              </a:rPr>
              <a:t>pq</a:t>
            </a:r>
            <a:r>
              <a:rPr lang="pt-BR" sz="900" dirty="0">
                <a:solidFill>
                  <a:schemeClr val="tx1"/>
                </a:solidFill>
              </a:rPr>
              <a:t> meio que não é nosso escopo, ver um tom aqui pra não ficar agressivo </a:t>
            </a:r>
            <a:r>
              <a:rPr lang="pt-BR" sz="900" dirty="0" err="1">
                <a:solidFill>
                  <a:schemeClr val="tx1"/>
                </a:solidFill>
              </a:rPr>
              <a:t>kk</a:t>
            </a:r>
            <a:r>
              <a:rPr lang="pt-BR" sz="900" dirty="0">
                <a:solidFill>
                  <a:schemeClr val="tx1"/>
                </a:solidFill>
              </a:rPr>
              <a:t>), mas que, conforme discutido na reunião do dia 31.08, o impacto para a base de cálculo do ITCMD será bem maior se for JO, </a:t>
            </a:r>
            <a:r>
              <a:rPr lang="pt-BR" sz="900" dirty="0" err="1">
                <a:solidFill>
                  <a:schemeClr val="tx1"/>
                </a:solidFill>
              </a:rPr>
              <a:t>pq</a:t>
            </a:r>
            <a:r>
              <a:rPr lang="pt-BR" sz="900" dirty="0">
                <a:solidFill>
                  <a:schemeClr val="tx1"/>
                </a:solidFill>
              </a:rPr>
              <a:t> aumenta o valor patrimonial das holdings para o valor gordo tanto da CNP como da </a:t>
            </a:r>
            <a:r>
              <a:rPr lang="pt-BR" sz="900" dirty="0" err="1">
                <a:solidFill>
                  <a:schemeClr val="tx1"/>
                </a:solidFill>
              </a:rPr>
              <a:t>Embracon</a:t>
            </a:r>
            <a:r>
              <a:rPr lang="pt-BR" sz="900" dirty="0">
                <a:solidFill>
                  <a:schemeClr val="tx1"/>
                </a:solidFill>
              </a:rPr>
              <a:t>. </a:t>
            </a:r>
          </a:p>
        </p:txBody>
      </p:sp>
      <p:grpSp>
        <p:nvGrpSpPr>
          <p:cNvPr id="284" name="Agrupar 283">
            <a:extLst>
              <a:ext uri="{FF2B5EF4-FFF2-40B4-BE49-F238E27FC236}">
                <a16:creationId xmlns:a16="http://schemas.microsoft.com/office/drawing/2014/main" id="{521A4102-3863-2269-5C04-B152DFD8DAC6}"/>
              </a:ext>
            </a:extLst>
          </p:cNvPr>
          <p:cNvGrpSpPr/>
          <p:nvPr/>
        </p:nvGrpSpPr>
        <p:grpSpPr>
          <a:xfrm>
            <a:off x="614395" y="2357206"/>
            <a:ext cx="5710205" cy="1778000"/>
            <a:chOff x="614395" y="1604206"/>
            <a:chExt cx="5710205" cy="1778000"/>
          </a:xfrm>
        </p:grpSpPr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B8F9617A-80D2-4130-1A82-26A55CB5BD04}"/>
                </a:ext>
              </a:extLst>
            </p:cNvPr>
            <p:cNvSpPr/>
            <p:nvPr/>
          </p:nvSpPr>
          <p:spPr>
            <a:xfrm>
              <a:off x="614395" y="1959806"/>
              <a:ext cx="1022969" cy="3556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bg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square" rtlCol="0" anchor="ctr" anchorCtr="0">
              <a:noAutofit/>
            </a:bodyPr>
            <a:lstStyle/>
            <a:p>
              <a:r>
                <a:rPr lang="pt-BR" sz="1100" b="1" dirty="0" err="1">
                  <a:solidFill>
                    <a:schemeClr val="tx1"/>
                  </a:solidFill>
                  <a:latin typeface="Calibri"/>
                  <a:ea typeface="Calibri"/>
                  <a:cs typeface="Calibri"/>
                </a:rPr>
                <a:t>Embracon</a:t>
              </a:r>
              <a:r>
                <a:rPr lang="pt-BR" sz="1100" b="1" dirty="0">
                  <a:solidFill>
                    <a:schemeClr val="tx1"/>
                  </a:solidFill>
                  <a:latin typeface="Calibri"/>
                  <a:ea typeface="Calibri"/>
                  <a:cs typeface="Calibri"/>
                </a:rPr>
                <a:t> (PL)</a:t>
              </a:r>
            </a:p>
          </p:txBody>
        </p: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986DFE94-B094-92E3-AD90-4EF39B380A40}"/>
                </a:ext>
              </a:extLst>
            </p:cNvPr>
            <p:cNvSpPr/>
            <p:nvPr/>
          </p:nvSpPr>
          <p:spPr>
            <a:xfrm>
              <a:off x="1637365" y="1959806"/>
              <a:ext cx="614395" cy="3556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BFBFBF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square" lIns="45720" rIns="25400" rtlCol="0" anchor="ctr" anchorCtr="0">
              <a:noAutofit/>
            </a:bodyPr>
            <a:lstStyle/>
            <a:p>
              <a:pPr algn="ctr"/>
              <a:r>
                <a:rPr lang="pt-BR" sz="1400" b="1" dirty="0">
                  <a:solidFill>
                    <a:srgbClr val="000000"/>
                  </a:solidFill>
                  <a:latin typeface="Calibri"/>
                  <a:ea typeface="Calibri"/>
                  <a:cs typeface="Calibri"/>
                </a:rPr>
                <a:t>-</a:t>
              </a:r>
            </a:p>
          </p:txBody>
        </p:sp>
        <p:sp>
          <p:nvSpPr>
            <p:cNvPr id="25" name="Retângulo 24">
              <a:extLst>
                <a:ext uri="{FF2B5EF4-FFF2-40B4-BE49-F238E27FC236}">
                  <a16:creationId xmlns:a16="http://schemas.microsoft.com/office/drawing/2014/main" id="{D474FD77-F9A0-37CB-C746-15B2A28A6A5F}"/>
                </a:ext>
              </a:extLst>
            </p:cNvPr>
            <p:cNvSpPr/>
            <p:nvPr/>
          </p:nvSpPr>
          <p:spPr>
            <a:xfrm>
              <a:off x="3063585" y="1959806"/>
              <a:ext cx="811824" cy="3556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BFBFBF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square" lIns="45720" rIns="25400" rtlCol="0" anchor="ctr" anchorCtr="0">
              <a:noAutofit/>
            </a:bodyPr>
            <a:lstStyle/>
            <a:p>
              <a:pPr algn="r"/>
              <a:r>
                <a:rPr lang="pt-BR" sz="1400" b="1" dirty="0">
                  <a:solidFill>
                    <a:srgbClr val="000000"/>
                  </a:solidFill>
                  <a:latin typeface="Calibri"/>
                  <a:ea typeface="Calibri"/>
                  <a:cs typeface="Calibri"/>
                </a:rPr>
                <a:t>208</a:t>
              </a:r>
            </a:p>
          </p:txBody>
        </p:sp>
        <p:sp>
          <p:nvSpPr>
            <p:cNvPr id="34" name="Retângulo 33">
              <a:extLst>
                <a:ext uri="{FF2B5EF4-FFF2-40B4-BE49-F238E27FC236}">
                  <a16:creationId xmlns:a16="http://schemas.microsoft.com/office/drawing/2014/main" id="{236CE0E9-8D7E-55CF-45EA-4A0F9BC02A82}"/>
                </a:ext>
              </a:extLst>
            </p:cNvPr>
            <p:cNvSpPr/>
            <p:nvPr/>
          </p:nvSpPr>
          <p:spPr>
            <a:xfrm>
              <a:off x="614395" y="2315406"/>
              <a:ext cx="1022969" cy="3556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bg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square" rtlCol="0" anchor="ctr" anchorCtr="0">
              <a:noAutofit/>
            </a:bodyPr>
            <a:lstStyle/>
            <a:p>
              <a:r>
                <a:rPr lang="pt-BR" sz="1100" b="1" dirty="0">
                  <a:solidFill>
                    <a:schemeClr val="tx1"/>
                  </a:solidFill>
                  <a:latin typeface="Calibri"/>
                  <a:ea typeface="Calibri"/>
                  <a:cs typeface="Calibri"/>
                </a:rPr>
                <a:t>CNP (PL)</a:t>
              </a:r>
            </a:p>
          </p:txBody>
        </p:sp>
        <p:sp>
          <p:nvSpPr>
            <p:cNvPr id="40" name="Retângulo 39">
              <a:extLst>
                <a:ext uri="{FF2B5EF4-FFF2-40B4-BE49-F238E27FC236}">
                  <a16:creationId xmlns:a16="http://schemas.microsoft.com/office/drawing/2014/main" id="{F9A6ADFB-5140-7386-E75A-91FCBA38BFC4}"/>
                </a:ext>
              </a:extLst>
            </p:cNvPr>
            <p:cNvSpPr/>
            <p:nvPr/>
          </p:nvSpPr>
          <p:spPr>
            <a:xfrm>
              <a:off x="1637365" y="2315406"/>
              <a:ext cx="614395" cy="3556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BFBFBF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square" lIns="45720" rIns="25400" rtlCol="0" anchor="ctr" anchorCtr="0">
              <a:noAutofit/>
            </a:bodyPr>
            <a:lstStyle/>
            <a:p>
              <a:pPr algn="r"/>
              <a:r>
                <a:rPr lang="pt-BR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/>
                  <a:ea typeface="Calibri"/>
                  <a:cs typeface="Calibri"/>
                </a:rPr>
                <a:t>548</a:t>
              </a:r>
            </a:p>
          </p:txBody>
        </p:sp>
        <p:sp>
          <p:nvSpPr>
            <p:cNvPr id="44" name="Retângulo 43">
              <a:extLst>
                <a:ext uri="{FF2B5EF4-FFF2-40B4-BE49-F238E27FC236}">
                  <a16:creationId xmlns:a16="http://schemas.microsoft.com/office/drawing/2014/main" id="{5C43634E-1910-5F16-D713-15B7EEA26A1B}"/>
                </a:ext>
              </a:extLst>
            </p:cNvPr>
            <p:cNvSpPr/>
            <p:nvPr/>
          </p:nvSpPr>
          <p:spPr>
            <a:xfrm>
              <a:off x="3063585" y="2315406"/>
              <a:ext cx="811824" cy="3556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BFBFBF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square" lIns="45720" rIns="25400" rtlCol="0" anchor="ctr" anchorCtr="0">
              <a:noAutofit/>
            </a:bodyPr>
            <a:lstStyle/>
            <a:p>
              <a:pPr algn="r"/>
              <a:r>
                <a:rPr lang="pt-BR" sz="1400" b="1" dirty="0">
                  <a:solidFill>
                    <a:srgbClr val="000000"/>
                  </a:solidFill>
                  <a:latin typeface="Calibri"/>
                  <a:ea typeface="Calibri"/>
                  <a:cs typeface="Calibri"/>
                </a:rPr>
                <a:t>264</a:t>
              </a:r>
            </a:p>
          </p:txBody>
        </p:sp>
        <p:sp>
          <p:nvSpPr>
            <p:cNvPr id="48" name="Retângulo 47">
              <a:extLst>
                <a:ext uri="{FF2B5EF4-FFF2-40B4-BE49-F238E27FC236}">
                  <a16:creationId xmlns:a16="http://schemas.microsoft.com/office/drawing/2014/main" id="{058CA530-CCAC-D377-37C3-7B1BFECCC5D3}"/>
                </a:ext>
              </a:extLst>
            </p:cNvPr>
            <p:cNvSpPr/>
            <p:nvPr/>
          </p:nvSpPr>
          <p:spPr>
            <a:xfrm>
              <a:off x="4687234" y="1959806"/>
              <a:ext cx="1637366" cy="7112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BFBFBF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square" lIns="45720" rIns="25400" rtlCol="0" anchor="ctr" anchorCtr="0">
              <a:noAutofit/>
            </a:bodyPr>
            <a:lstStyle/>
            <a:p>
              <a:pPr marL="266700"/>
              <a:r>
                <a:rPr lang="pt-BR" sz="11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</a:rPr>
                <a:t>Desde que não usado no cash out</a:t>
              </a:r>
            </a:p>
          </p:txBody>
        </p:sp>
        <p:sp>
          <p:nvSpPr>
            <p:cNvPr id="50" name="Retângulo: Cantos Arredondados 49">
              <a:extLst>
                <a:ext uri="{FF2B5EF4-FFF2-40B4-BE49-F238E27FC236}">
                  <a16:creationId xmlns:a16="http://schemas.microsoft.com/office/drawing/2014/main" id="{B91D6027-F9C9-C6DD-57A1-334A120A3B2C}"/>
                </a:ext>
              </a:extLst>
            </p:cNvPr>
            <p:cNvSpPr/>
            <p:nvPr/>
          </p:nvSpPr>
          <p:spPr>
            <a:xfrm>
              <a:off x="4734988" y="2264606"/>
              <a:ext cx="85958" cy="114300"/>
            </a:xfrm>
            <a:prstGeom prst="roundRect">
              <a:avLst/>
            </a:prstGeom>
            <a:solidFill>
              <a:srgbClr val="00B050"/>
            </a:solidFill>
            <a:ln w="25400" cap="flat" cmpd="sng" algn="ctr">
              <a:noFill/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pt-BR" sz="1100"/>
            </a:p>
          </p:txBody>
        </p:sp>
        <p:sp>
          <p:nvSpPr>
            <p:cNvPr id="52" name="Retângulo 51">
              <a:extLst>
                <a:ext uri="{FF2B5EF4-FFF2-40B4-BE49-F238E27FC236}">
                  <a16:creationId xmlns:a16="http://schemas.microsoft.com/office/drawing/2014/main" id="{1429ADA9-74B0-ED6B-917F-3DC5432FD017}"/>
                </a:ext>
              </a:extLst>
            </p:cNvPr>
            <p:cNvSpPr/>
            <p:nvPr/>
          </p:nvSpPr>
          <p:spPr>
            <a:xfrm>
              <a:off x="614395" y="2671006"/>
              <a:ext cx="1022969" cy="3556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bg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square" rtlCol="0" anchor="ctr" anchorCtr="0">
              <a:noAutofit/>
            </a:bodyPr>
            <a:lstStyle/>
            <a:p>
              <a:r>
                <a:rPr lang="pt-BR" sz="1100" b="1" dirty="0">
                  <a:solidFill>
                    <a:schemeClr val="tx1"/>
                  </a:solidFill>
                  <a:latin typeface="Calibri"/>
                  <a:ea typeface="Calibri"/>
                  <a:cs typeface="Calibri"/>
                </a:rPr>
                <a:t>CNP (AVJ)</a:t>
              </a:r>
            </a:p>
          </p:txBody>
        </p:sp>
        <p:sp>
          <p:nvSpPr>
            <p:cNvPr id="58" name="Retângulo 57">
              <a:extLst>
                <a:ext uri="{FF2B5EF4-FFF2-40B4-BE49-F238E27FC236}">
                  <a16:creationId xmlns:a16="http://schemas.microsoft.com/office/drawing/2014/main" id="{16A03184-FF96-28DC-C4BF-0B8FDDE6C64D}"/>
                </a:ext>
              </a:extLst>
            </p:cNvPr>
            <p:cNvSpPr/>
            <p:nvPr/>
          </p:nvSpPr>
          <p:spPr>
            <a:xfrm>
              <a:off x="1637365" y="2671006"/>
              <a:ext cx="614395" cy="3556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BFBFBF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square" lIns="45720" rIns="25400" rtlCol="0" anchor="ctr" anchorCtr="0">
              <a:noAutofit/>
            </a:bodyPr>
            <a:lstStyle/>
            <a:p>
              <a:pPr algn="r"/>
              <a:r>
                <a:rPr lang="pt-BR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/>
                  <a:ea typeface="Calibri"/>
                  <a:cs typeface="Calibri"/>
                </a:rPr>
                <a:t>291</a:t>
              </a:r>
            </a:p>
          </p:txBody>
        </p:sp>
        <p:sp>
          <p:nvSpPr>
            <p:cNvPr id="62" name="Retângulo 61">
              <a:extLst>
                <a:ext uri="{FF2B5EF4-FFF2-40B4-BE49-F238E27FC236}">
                  <a16:creationId xmlns:a16="http://schemas.microsoft.com/office/drawing/2014/main" id="{3D372639-58D5-9E9F-3583-C252C8A72B3E}"/>
                </a:ext>
              </a:extLst>
            </p:cNvPr>
            <p:cNvSpPr/>
            <p:nvPr/>
          </p:nvSpPr>
          <p:spPr>
            <a:xfrm>
              <a:off x="3063585" y="2671006"/>
              <a:ext cx="811824" cy="3556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BFBFBF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square" lIns="45720" rIns="25400" rtlCol="0" anchor="ctr" anchorCtr="0">
              <a:noAutofit/>
            </a:bodyPr>
            <a:lstStyle/>
            <a:p>
              <a:pPr algn="r"/>
              <a:r>
                <a:rPr lang="pt-BR" sz="1400" b="1" dirty="0">
                  <a:solidFill>
                    <a:srgbClr val="000000"/>
                  </a:solidFill>
                  <a:latin typeface="Calibri"/>
                  <a:ea typeface="Calibri"/>
                  <a:cs typeface="Calibri"/>
                </a:rPr>
                <a:t>174</a:t>
              </a:r>
            </a:p>
          </p:txBody>
        </p:sp>
        <p:sp>
          <p:nvSpPr>
            <p:cNvPr id="66" name="Retângulo 65">
              <a:extLst>
                <a:ext uri="{FF2B5EF4-FFF2-40B4-BE49-F238E27FC236}">
                  <a16:creationId xmlns:a16="http://schemas.microsoft.com/office/drawing/2014/main" id="{C11A5C26-57EF-F125-E56D-360519FBD7BA}"/>
                </a:ext>
              </a:extLst>
            </p:cNvPr>
            <p:cNvSpPr/>
            <p:nvPr/>
          </p:nvSpPr>
          <p:spPr>
            <a:xfrm>
              <a:off x="4687234" y="2671006"/>
              <a:ext cx="1637366" cy="3556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BFBFBF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square" lIns="45720" rIns="25400" rtlCol="0" anchor="ctr" anchorCtr="0">
              <a:noAutofit/>
            </a:bodyPr>
            <a:lstStyle/>
            <a:p>
              <a:pPr marL="266700"/>
              <a:r>
                <a:rPr lang="pt-BR" sz="11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</a:rPr>
                <a:t>Reflexo do VJ do PL da CNP</a:t>
              </a:r>
            </a:p>
          </p:txBody>
        </p:sp>
        <p:sp>
          <p:nvSpPr>
            <p:cNvPr id="68" name="Retângulo: Cantos Arredondados 67">
              <a:extLst>
                <a:ext uri="{FF2B5EF4-FFF2-40B4-BE49-F238E27FC236}">
                  <a16:creationId xmlns:a16="http://schemas.microsoft.com/office/drawing/2014/main" id="{0CC5FB31-195A-499C-71EA-E1FF7DBE166C}"/>
                </a:ext>
              </a:extLst>
            </p:cNvPr>
            <p:cNvSpPr/>
            <p:nvPr/>
          </p:nvSpPr>
          <p:spPr>
            <a:xfrm>
              <a:off x="4734988" y="2791656"/>
              <a:ext cx="85958" cy="114300"/>
            </a:xfrm>
            <a:prstGeom prst="roundRect">
              <a:avLst/>
            </a:prstGeom>
            <a:solidFill>
              <a:srgbClr val="FFC000"/>
            </a:solidFill>
            <a:ln w="25400" cap="flat" cmpd="sng" algn="ctr">
              <a:noFill/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pt-BR" sz="1100"/>
            </a:p>
          </p:txBody>
        </p:sp>
        <p:sp>
          <p:nvSpPr>
            <p:cNvPr id="70" name="Retângulo 69">
              <a:extLst>
                <a:ext uri="{FF2B5EF4-FFF2-40B4-BE49-F238E27FC236}">
                  <a16:creationId xmlns:a16="http://schemas.microsoft.com/office/drawing/2014/main" id="{D4640AB7-7026-B744-644F-A1E314DE8F1E}"/>
                </a:ext>
              </a:extLst>
            </p:cNvPr>
            <p:cNvSpPr/>
            <p:nvPr/>
          </p:nvSpPr>
          <p:spPr>
            <a:xfrm>
              <a:off x="614395" y="3026606"/>
              <a:ext cx="1637365" cy="355600"/>
            </a:xfrm>
            <a:prstGeom prst="rect">
              <a:avLst/>
            </a:prstGeom>
            <a:solidFill>
              <a:srgbClr val="595959"/>
            </a:solidFill>
            <a:ln w="6350" cap="flat" cmpd="sng" algn="ctr">
              <a:solidFill>
                <a:schemeClr val="bg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square" rtlCol="0" anchor="ctr" anchorCtr="0">
              <a:noAutofit/>
            </a:bodyPr>
            <a:lstStyle/>
            <a:p>
              <a:r>
                <a:rPr lang="pt-BR" sz="1100" b="1" dirty="0">
                  <a:solidFill>
                    <a:schemeClr val="bg1"/>
                  </a:solidFill>
                  <a:latin typeface="Calibri"/>
                  <a:ea typeface="Calibri"/>
                  <a:cs typeface="Calibri"/>
                </a:rPr>
                <a:t>Inv. </a:t>
              </a:r>
              <a:r>
                <a:rPr lang="pt-BR" sz="1100" b="1" dirty="0" err="1">
                  <a:solidFill>
                    <a:schemeClr val="bg1"/>
                  </a:solidFill>
                  <a:latin typeface="Calibri"/>
                  <a:ea typeface="Calibri"/>
                  <a:cs typeface="Calibri"/>
                </a:rPr>
                <a:t>Embracon</a:t>
              </a:r>
              <a:endParaRPr lang="pt-BR" sz="1100" b="1" dirty="0">
                <a:solidFill>
                  <a:schemeClr val="bg1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80" name="Retângulo 79">
              <a:extLst>
                <a:ext uri="{FF2B5EF4-FFF2-40B4-BE49-F238E27FC236}">
                  <a16:creationId xmlns:a16="http://schemas.microsoft.com/office/drawing/2014/main" id="{EFC856FD-8044-AD7A-5E8F-ADEC104C19F7}"/>
                </a:ext>
              </a:extLst>
            </p:cNvPr>
            <p:cNvSpPr/>
            <p:nvPr/>
          </p:nvSpPr>
          <p:spPr>
            <a:xfrm>
              <a:off x="3063585" y="3026606"/>
              <a:ext cx="811824" cy="355600"/>
            </a:xfrm>
            <a:prstGeom prst="rect">
              <a:avLst/>
            </a:prstGeom>
            <a:solidFill>
              <a:srgbClr val="595959"/>
            </a:solidFill>
            <a:ln w="6350" cap="flat" cmpd="sng" algn="ctr">
              <a:solidFill>
                <a:srgbClr val="BFBFBF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square" lIns="45720" rIns="25400" rtlCol="0" anchor="ctr" anchorCtr="0">
              <a:noAutofit/>
            </a:bodyPr>
            <a:lstStyle/>
            <a:p>
              <a:pPr algn="r"/>
              <a:r>
                <a:rPr lang="pt-BR" sz="1400" b="1" dirty="0">
                  <a:solidFill>
                    <a:schemeClr val="bg1"/>
                  </a:solidFill>
                  <a:latin typeface="Calibri"/>
                  <a:ea typeface="Calibri"/>
                  <a:cs typeface="Calibri"/>
                </a:rPr>
                <a:t>647</a:t>
              </a:r>
            </a:p>
          </p:txBody>
        </p:sp>
        <p:sp>
          <p:nvSpPr>
            <p:cNvPr id="155" name="SubHdr 00">
              <a:extLst>
                <a:ext uri="{FF2B5EF4-FFF2-40B4-BE49-F238E27FC236}">
                  <a16:creationId xmlns:a16="http://schemas.microsoft.com/office/drawing/2014/main" id="{E1666B56-8624-BB1F-B9B3-BAA162F1F84E}"/>
                </a:ext>
              </a:extLst>
            </p:cNvPr>
            <p:cNvSpPr/>
            <p:nvPr/>
          </p:nvSpPr>
          <p:spPr>
            <a:xfrm>
              <a:off x="1637365" y="1604206"/>
              <a:ext cx="614395" cy="3556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bg1"/>
              </a:solidFill>
              <a:prstDash val="solid"/>
            </a:ln>
          </p:spPr>
          <p:txBody>
            <a:bodyPr vertOverflow="clip" horzOverflow="clip" wrap="square" lIns="18288" tIns="0" rIns="18288" bIns="0" rtlCol="0" anchor="ctr" anchorCtr="0">
              <a:noAutofit/>
            </a:bodyPr>
            <a:lstStyle/>
            <a:p>
              <a:pPr algn="ctr"/>
              <a:r>
                <a:rPr lang="pt-BR" sz="1100" b="1" dirty="0">
                  <a:latin typeface="Calibri"/>
                  <a:ea typeface="Calibri"/>
                  <a:cs typeface="Calibri"/>
                </a:rPr>
                <a:t>PPA CNP</a:t>
              </a:r>
            </a:p>
          </p:txBody>
        </p:sp>
        <p:sp>
          <p:nvSpPr>
            <p:cNvPr id="157" name="SubHdr 01">
              <a:extLst>
                <a:ext uri="{FF2B5EF4-FFF2-40B4-BE49-F238E27FC236}">
                  <a16:creationId xmlns:a16="http://schemas.microsoft.com/office/drawing/2014/main" id="{81B5E6F1-31AD-63D0-DFA6-489D242AC929}"/>
                </a:ext>
              </a:extLst>
            </p:cNvPr>
            <p:cNvSpPr/>
            <p:nvPr/>
          </p:nvSpPr>
          <p:spPr>
            <a:xfrm>
              <a:off x="2251761" y="1604206"/>
              <a:ext cx="811824" cy="355600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bg1"/>
              </a:solidFill>
              <a:prstDash val="solid"/>
            </a:ln>
          </p:spPr>
          <p:txBody>
            <a:bodyPr vertOverflow="clip" horzOverflow="clip" wrap="square" lIns="18288" tIns="0" rIns="18288" bIns="0" rtlCol="0" anchor="ctr" anchorCtr="0">
              <a:noAutofit/>
            </a:bodyPr>
            <a:lstStyle/>
            <a:p>
              <a:pPr algn="ctr"/>
              <a:r>
                <a:rPr lang="pt-BR" sz="11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Antes da Transação</a:t>
              </a:r>
            </a:p>
          </p:txBody>
        </p:sp>
        <p:sp>
          <p:nvSpPr>
            <p:cNvPr id="159" name="SubHdr 10">
              <a:extLst>
                <a:ext uri="{FF2B5EF4-FFF2-40B4-BE49-F238E27FC236}">
                  <a16:creationId xmlns:a16="http://schemas.microsoft.com/office/drawing/2014/main" id="{B87864EF-81A6-4E4B-2DDD-081BBC27A56F}"/>
                </a:ext>
              </a:extLst>
            </p:cNvPr>
            <p:cNvSpPr/>
            <p:nvPr/>
          </p:nvSpPr>
          <p:spPr>
            <a:xfrm>
              <a:off x="3063585" y="1604206"/>
              <a:ext cx="811824" cy="355600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bg1"/>
              </a:solidFill>
              <a:prstDash val="solid"/>
            </a:ln>
          </p:spPr>
          <p:txBody>
            <a:bodyPr vertOverflow="clip" horzOverflow="clip" wrap="square" lIns="18288" tIns="0" rIns="18288" bIns="0" rtlCol="0" anchor="ctr" anchorCtr="0">
              <a:noAutofit/>
            </a:bodyPr>
            <a:lstStyle/>
            <a:p>
              <a:pPr algn="ctr"/>
              <a:r>
                <a:rPr lang="pt-BR" sz="11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Depois </a:t>
              </a:r>
            </a:p>
            <a:p>
              <a:pPr algn="ctr"/>
              <a:r>
                <a:rPr lang="pt-BR" sz="11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do Cash Out</a:t>
              </a:r>
            </a:p>
          </p:txBody>
        </p:sp>
        <p:sp>
          <p:nvSpPr>
            <p:cNvPr id="161" name="SubHdr 11">
              <a:extLst>
                <a:ext uri="{FF2B5EF4-FFF2-40B4-BE49-F238E27FC236}">
                  <a16:creationId xmlns:a16="http://schemas.microsoft.com/office/drawing/2014/main" id="{B13D00BA-4C60-5C40-7492-BA819C4B2AC1}"/>
                </a:ext>
              </a:extLst>
            </p:cNvPr>
            <p:cNvSpPr/>
            <p:nvPr/>
          </p:nvSpPr>
          <p:spPr>
            <a:xfrm>
              <a:off x="3875410" y="1604206"/>
              <a:ext cx="811824" cy="355600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bg1"/>
              </a:solidFill>
              <a:prstDash val="solid"/>
            </a:ln>
          </p:spPr>
          <p:txBody>
            <a:bodyPr vertOverflow="clip" horzOverflow="clip" wrap="square" lIns="18288" tIns="0" rIns="18288" bIns="0" rtlCol="0" anchor="ctr" anchorCtr="0">
              <a:noAutofit/>
            </a:bodyPr>
            <a:lstStyle/>
            <a:p>
              <a:pPr algn="ctr"/>
              <a:r>
                <a:rPr lang="el-GR" sz="1100" b="1" dirty="0">
                  <a:solidFill>
                    <a:srgbClr val="FFFFFF"/>
                  </a:solidFill>
                  <a:ea typeface="Calibri"/>
                  <a:cs typeface="Calibri"/>
                </a:rPr>
                <a:t>Δ</a:t>
              </a:r>
              <a:endParaRPr lang="pt-BR" sz="1100" b="1" dirty="0">
                <a:solidFill>
                  <a:srgbClr val="FFFFFF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63" name="SubHdr 20">
              <a:extLst>
                <a:ext uri="{FF2B5EF4-FFF2-40B4-BE49-F238E27FC236}">
                  <a16:creationId xmlns:a16="http://schemas.microsoft.com/office/drawing/2014/main" id="{17054859-8D15-78B8-FE68-DEBD2C8E50A3}"/>
                </a:ext>
              </a:extLst>
            </p:cNvPr>
            <p:cNvSpPr/>
            <p:nvPr/>
          </p:nvSpPr>
          <p:spPr>
            <a:xfrm>
              <a:off x="4687234" y="1604206"/>
              <a:ext cx="1637366" cy="355600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bg1"/>
              </a:solidFill>
              <a:prstDash val="solid"/>
            </a:ln>
          </p:spPr>
          <p:txBody>
            <a:bodyPr vertOverflow="clip" horzOverflow="clip" wrap="square" lIns="18288" tIns="0" rIns="18288" bIns="0" rtlCol="0" anchor="ctr" anchorCtr="0">
              <a:noAutofit/>
            </a:bodyPr>
            <a:lstStyle/>
            <a:p>
              <a:pPr algn="ctr"/>
              <a:r>
                <a:rPr lang="pt-BR" sz="11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Risco – 34% diferido</a:t>
              </a:r>
            </a:p>
          </p:txBody>
        </p:sp>
        <p:sp>
          <p:nvSpPr>
            <p:cNvPr id="167" name="Cell TDT 00">
              <a:extLst>
                <a:ext uri="{FF2B5EF4-FFF2-40B4-BE49-F238E27FC236}">
                  <a16:creationId xmlns:a16="http://schemas.microsoft.com/office/drawing/2014/main" id="{888CC568-E55A-EA96-B60B-855F05EA120B}"/>
                </a:ext>
              </a:extLst>
            </p:cNvPr>
            <p:cNvSpPr/>
            <p:nvPr/>
          </p:nvSpPr>
          <p:spPr>
            <a:xfrm>
              <a:off x="2251761" y="1959806"/>
              <a:ext cx="811824" cy="3556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BFBFBF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square" lIns="45720" rIns="25400" rtlCol="0" anchor="ctr" anchorCtr="0">
              <a:noAutofit/>
            </a:bodyPr>
            <a:lstStyle/>
            <a:p>
              <a:pPr algn="r"/>
              <a:r>
                <a:rPr lang="pt-BR" sz="1400" b="1" dirty="0">
                  <a:solidFill>
                    <a:schemeClr val="tx1"/>
                  </a:solidFill>
                </a:rPr>
                <a:t>239</a:t>
              </a:r>
            </a:p>
          </p:txBody>
        </p:sp>
        <p:sp>
          <p:nvSpPr>
            <p:cNvPr id="171" name="Cell TDT 01">
              <a:extLst>
                <a:ext uri="{FF2B5EF4-FFF2-40B4-BE49-F238E27FC236}">
                  <a16:creationId xmlns:a16="http://schemas.microsoft.com/office/drawing/2014/main" id="{4B6F425C-FB0E-8173-DD1B-F471DA30266B}"/>
                </a:ext>
              </a:extLst>
            </p:cNvPr>
            <p:cNvSpPr/>
            <p:nvPr/>
          </p:nvSpPr>
          <p:spPr>
            <a:xfrm>
              <a:off x="3875410" y="1959806"/>
              <a:ext cx="811824" cy="3556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BFBFBF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square" lIns="45720" rIns="25400" rtlCol="0" anchor="ctr" anchorCtr="0">
              <a:noAutofit/>
            </a:bodyPr>
            <a:lstStyle/>
            <a:p>
              <a:pPr algn="r"/>
              <a:r>
                <a:rPr lang="pt-BR" sz="1400" b="1" dirty="0">
                  <a:solidFill>
                    <a:srgbClr val="FF0000"/>
                  </a:solidFill>
                </a:rPr>
                <a:t>- 31</a:t>
              </a:r>
            </a:p>
          </p:txBody>
        </p:sp>
        <p:sp>
          <p:nvSpPr>
            <p:cNvPr id="179" name="Cell TDT 10">
              <a:extLst>
                <a:ext uri="{FF2B5EF4-FFF2-40B4-BE49-F238E27FC236}">
                  <a16:creationId xmlns:a16="http://schemas.microsoft.com/office/drawing/2014/main" id="{218EB25D-DF07-A776-AED1-CFBCA66B036B}"/>
                </a:ext>
              </a:extLst>
            </p:cNvPr>
            <p:cNvSpPr/>
            <p:nvPr/>
          </p:nvSpPr>
          <p:spPr>
            <a:xfrm>
              <a:off x="2251761" y="2315406"/>
              <a:ext cx="811824" cy="3556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BFBFBF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square" lIns="45720" rIns="25400" rtlCol="0" anchor="ctr" anchorCtr="0">
              <a:noAutofit/>
            </a:bodyPr>
            <a:lstStyle/>
            <a:p>
              <a:pPr algn="r"/>
              <a:r>
                <a:rPr lang="pt-BR" sz="1400" b="1" dirty="0"/>
                <a:t>0</a:t>
              </a:r>
            </a:p>
          </p:txBody>
        </p:sp>
        <p:sp>
          <p:nvSpPr>
            <p:cNvPr id="183" name="Cell TDT 11">
              <a:extLst>
                <a:ext uri="{FF2B5EF4-FFF2-40B4-BE49-F238E27FC236}">
                  <a16:creationId xmlns:a16="http://schemas.microsoft.com/office/drawing/2014/main" id="{73474ED8-44E1-4C43-B7F7-A7EA3DD8F083}"/>
                </a:ext>
              </a:extLst>
            </p:cNvPr>
            <p:cNvSpPr/>
            <p:nvPr/>
          </p:nvSpPr>
          <p:spPr>
            <a:xfrm>
              <a:off x="3875410" y="2315406"/>
              <a:ext cx="811824" cy="3556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BFBFBF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square" lIns="45720" rIns="25400" rtlCol="0" anchor="ctr" anchorCtr="0">
              <a:noAutofit/>
            </a:bodyPr>
            <a:lstStyle/>
            <a:p>
              <a:pPr algn="r"/>
              <a:r>
                <a:rPr lang="pt-BR" sz="1400" b="1" dirty="0">
                  <a:solidFill>
                    <a:srgbClr val="002F8E"/>
                  </a:solidFill>
                </a:rPr>
                <a:t>+264</a:t>
              </a:r>
            </a:p>
          </p:txBody>
        </p:sp>
        <p:sp>
          <p:nvSpPr>
            <p:cNvPr id="191" name="Cell TDT 20">
              <a:extLst>
                <a:ext uri="{FF2B5EF4-FFF2-40B4-BE49-F238E27FC236}">
                  <a16:creationId xmlns:a16="http://schemas.microsoft.com/office/drawing/2014/main" id="{9C3BEA97-1DFA-A131-9851-0F5387230EDE}"/>
                </a:ext>
              </a:extLst>
            </p:cNvPr>
            <p:cNvSpPr/>
            <p:nvPr/>
          </p:nvSpPr>
          <p:spPr>
            <a:xfrm>
              <a:off x="2251761" y="2671006"/>
              <a:ext cx="811824" cy="3556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BFBFBF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square" lIns="45720" rIns="25400" rtlCol="0" anchor="ctr" anchorCtr="0">
              <a:noAutofit/>
            </a:bodyPr>
            <a:lstStyle/>
            <a:p>
              <a:pPr algn="r"/>
              <a:r>
                <a:rPr lang="pt-BR" sz="1400" b="1" dirty="0"/>
                <a:t>0</a:t>
              </a:r>
            </a:p>
          </p:txBody>
        </p:sp>
        <p:sp>
          <p:nvSpPr>
            <p:cNvPr id="195" name="Cell TDT 21">
              <a:extLst>
                <a:ext uri="{FF2B5EF4-FFF2-40B4-BE49-F238E27FC236}">
                  <a16:creationId xmlns:a16="http://schemas.microsoft.com/office/drawing/2014/main" id="{4C8D4AB1-D9E3-2D9B-EE22-37A4F2C88A6F}"/>
                </a:ext>
              </a:extLst>
            </p:cNvPr>
            <p:cNvSpPr/>
            <p:nvPr/>
          </p:nvSpPr>
          <p:spPr>
            <a:xfrm>
              <a:off x="3875410" y="2671006"/>
              <a:ext cx="811824" cy="3556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BFBFBF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square" lIns="45720" rIns="25400" rtlCol="0" anchor="ctr" anchorCtr="0">
              <a:noAutofit/>
            </a:bodyPr>
            <a:lstStyle/>
            <a:p>
              <a:pPr algn="r"/>
              <a:r>
                <a:rPr lang="pt-BR" sz="1400" b="1" dirty="0">
                  <a:solidFill>
                    <a:srgbClr val="002F8E"/>
                  </a:solidFill>
                </a:rPr>
                <a:t>+174</a:t>
              </a:r>
            </a:p>
          </p:txBody>
        </p:sp>
        <p:sp>
          <p:nvSpPr>
            <p:cNvPr id="203" name="Cell TDT 30">
              <a:extLst>
                <a:ext uri="{FF2B5EF4-FFF2-40B4-BE49-F238E27FC236}">
                  <a16:creationId xmlns:a16="http://schemas.microsoft.com/office/drawing/2014/main" id="{116A682B-397A-EB31-E521-D77A88FF7793}"/>
                </a:ext>
              </a:extLst>
            </p:cNvPr>
            <p:cNvSpPr/>
            <p:nvPr/>
          </p:nvSpPr>
          <p:spPr>
            <a:xfrm>
              <a:off x="2251761" y="3026606"/>
              <a:ext cx="811824" cy="355600"/>
            </a:xfrm>
            <a:prstGeom prst="rect">
              <a:avLst/>
            </a:prstGeom>
            <a:solidFill>
              <a:srgbClr val="595959"/>
            </a:solidFill>
            <a:ln w="6350" cap="flat" cmpd="sng" algn="ctr">
              <a:solidFill>
                <a:srgbClr val="BFBFBF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square" lIns="45720" rIns="25400" rtlCol="0" anchor="ctr" anchorCtr="0">
              <a:noAutofit/>
            </a:bodyPr>
            <a:lstStyle/>
            <a:p>
              <a:pPr algn="r"/>
              <a:r>
                <a:rPr lang="pt-BR" sz="1400" b="1" dirty="0">
                  <a:solidFill>
                    <a:schemeClr val="bg1"/>
                  </a:solidFill>
                </a:rPr>
                <a:t>239</a:t>
              </a:r>
            </a:p>
          </p:txBody>
        </p:sp>
        <p:sp>
          <p:nvSpPr>
            <p:cNvPr id="207" name="Cell TDT 31">
              <a:extLst>
                <a:ext uri="{FF2B5EF4-FFF2-40B4-BE49-F238E27FC236}">
                  <a16:creationId xmlns:a16="http://schemas.microsoft.com/office/drawing/2014/main" id="{F78D6D87-EC44-4DF8-36B1-093932C65FF4}"/>
                </a:ext>
              </a:extLst>
            </p:cNvPr>
            <p:cNvSpPr/>
            <p:nvPr/>
          </p:nvSpPr>
          <p:spPr>
            <a:xfrm>
              <a:off x="3875410" y="3026606"/>
              <a:ext cx="811824" cy="355600"/>
            </a:xfrm>
            <a:prstGeom prst="rect">
              <a:avLst/>
            </a:prstGeom>
            <a:solidFill>
              <a:srgbClr val="595959"/>
            </a:solidFill>
            <a:ln w="6350" cap="flat" cmpd="sng" algn="ctr">
              <a:solidFill>
                <a:srgbClr val="BFBFBF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square" lIns="45720" rIns="25400" rtlCol="0" anchor="ctr" anchorCtr="0">
              <a:noAutofit/>
            </a:bodyPr>
            <a:lstStyle/>
            <a:p>
              <a:pPr algn="r"/>
              <a:r>
                <a:rPr lang="pt-BR" sz="1400" b="1" dirty="0">
                  <a:solidFill>
                    <a:schemeClr val="bg1"/>
                  </a:solidFill>
                </a:rPr>
                <a:t>+647</a:t>
              </a:r>
            </a:p>
          </p:txBody>
        </p:sp>
      </p:grpSp>
      <p:sp>
        <p:nvSpPr>
          <p:cNvPr id="227" name="Retângulo 226">
            <a:extLst>
              <a:ext uri="{FF2B5EF4-FFF2-40B4-BE49-F238E27FC236}">
                <a16:creationId xmlns:a16="http://schemas.microsoft.com/office/drawing/2014/main" id="{1E607A68-EC73-BC06-AF59-281F6C1C5984}"/>
              </a:ext>
            </a:extLst>
          </p:cNvPr>
          <p:cNvSpPr/>
          <p:nvPr/>
        </p:nvSpPr>
        <p:spPr>
          <a:xfrm>
            <a:off x="502023" y="1712377"/>
            <a:ext cx="4258236" cy="253115"/>
          </a:xfrm>
          <a:prstGeom prst="rect">
            <a:avLst/>
          </a:prstGeom>
          <a:noFill/>
          <a:ln w="635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r>
              <a:rPr lang="pt-BR" sz="1600" b="1" cap="small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Custo do investimento para </a:t>
            </a:r>
            <a:r>
              <a:rPr lang="pt-BR" sz="1600" b="1" cap="small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Savian</a:t>
            </a:r>
            <a:r>
              <a:rPr lang="pt-BR" sz="1600" b="1" cap="small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e JVFJ</a:t>
            </a:r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B6C4F931-545F-0645-FFC1-D3B3E437D2AA}"/>
              </a:ext>
            </a:extLst>
          </p:cNvPr>
          <p:cNvGrpSpPr/>
          <p:nvPr/>
        </p:nvGrpSpPr>
        <p:grpSpPr>
          <a:xfrm>
            <a:off x="6716709" y="2375350"/>
            <a:ext cx="4270116" cy="1430020"/>
            <a:chOff x="6716709" y="1604206"/>
            <a:chExt cx="4270116" cy="1430020"/>
          </a:xfrm>
        </p:grpSpPr>
        <p:sp>
          <p:nvSpPr>
            <p:cNvPr id="232" name="Retângulo 231">
              <a:extLst>
                <a:ext uri="{FF2B5EF4-FFF2-40B4-BE49-F238E27FC236}">
                  <a16:creationId xmlns:a16="http://schemas.microsoft.com/office/drawing/2014/main" id="{FB6887B7-715D-F738-C648-B7BE329026E1}"/>
                </a:ext>
              </a:extLst>
            </p:cNvPr>
            <p:cNvSpPr/>
            <p:nvPr/>
          </p:nvSpPr>
          <p:spPr>
            <a:xfrm>
              <a:off x="6716709" y="1959806"/>
              <a:ext cx="1006654" cy="3556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bg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square" rtlCol="0" anchor="ctr" anchorCtr="0">
              <a:noAutofit/>
            </a:bodyPr>
            <a:lstStyle/>
            <a:p>
              <a:r>
                <a:rPr lang="pt-BR" sz="1100" b="1" dirty="0">
                  <a:solidFill>
                    <a:schemeClr val="tx1"/>
                  </a:solidFill>
                  <a:latin typeface="Calibri"/>
                  <a:ea typeface="Calibri"/>
                  <a:cs typeface="Calibri"/>
                </a:rPr>
                <a:t>JO (PL)</a:t>
              </a:r>
            </a:p>
          </p:txBody>
        </p:sp>
        <p:sp>
          <p:nvSpPr>
            <p:cNvPr id="233" name="Retângulo 232">
              <a:extLst>
                <a:ext uri="{FF2B5EF4-FFF2-40B4-BE49-F238E27FC236}">
                  <a16:creationId xmlns:a16="http://schemas.microsoft.com/office/drawing/2014/main" id="{52F74F9D-0183-4725-E8C6-5532559CC7C6}"/>
                </a:ext>
              </a:extLst>
            </p:cNvPr>
            <p:cNvSpPr/>
            <p:nvPr/>
          </p:nvSpPr>
          <p:spPr>
            <a:xfrm>
              <a:off x="7730937" y="1959806"/>
              <a:ext cx="811824" cy="3556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BFBFBF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square" lIns="45720" rIns="25400" rtlCol="0" anchor="ctr" anchorCtr="0">
              <a:noAutofit/>
            </a:bodyPr>
            <a:lstStyle/>
            <a:p>
              <a:pPr algn="r"/>
              <a:r>
                <a:rPr lang="pt-BR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/>
                  <a:ea typeface="Calibri"/>
                  <a:cs typeface="Calibri"/>
                </a:rPr>
                <a:t>788</a:t>
              </a:r>
            </a:p>
          </p:txBody>
        </p:sp>
        <p:sp>
          <p:nvSpPr>
            <p:cNvPr id="235" name="Retângulo 234">
              <a:extLst>
                <a:ext uri="{FF2B5EF4-FFF2-40B4-BE49-F238E27FC236}">
                  <a16:creationId xmlns:a16="http://schemas.microsoft.com/office/drawing/2014/main" id="{A0D5BB35-A751-6AA3-76AA-7EEA280EAB4D}"/>
                </a:ext>
              </a:extLst>
            </p:cNvPr>
            <p:cNvSpPr/>
            <p:nvPr/>
          </p:nvSpPr>
          <p:spPr>
            <a:xfrm>
              <a:off x="6716709" y="2315406"/>
              <a:ext cx="1006654" cy="3556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bg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square" rtlCol="0" anchor="ctr" anchorCtr="0">
              <a:noAutofit/>
            </a:bodyPr>
            <a:lstStyle/>
            <a:p>
              <a:r>
                <a:rPr lang="pt-BR" sz="1100" b="1" dirty="0">
                  <a:solidFill>
                    <a:schemeClr val="tx1"/>
                  </a:solidFill>
                  <a:latin typeface="Calibri"/>
                  <a:ea typeface="Calibri"/>
                  <a:cs typeface="Calibri"/>
                </a:rPr>
                <a:t>AVJ JO</a:t>
              </a:r>
            </a:p>
          </p:txBody>
        </p:sp>
        <p:sp>
          <p:nvSpPr>
            <p:cNvPr id="236" name="Retângulo 235">
              <a:extLst>
                <a:ext uri="{FF2B5EF4-FFF2-40B4-BE49-F238E27FC236}">
                  <a16:creationId xmlns:a16="http://schemas.microsoft.com/office/drawing/2014/main" id="{CA671904-E3F8-E686-99E8-4E8E032387DC}"/>
                </a:ext>
              </a:extLst>
            </p:cNvPr>
            <p:cNvSpPr/>
            <p:nvPr/>
          </p:nvSpPr>
          <p:spPr>
            <a:xfrm>
              <a:off x="7730937" y="2315406"/>
              <a:ext cx="811824" cy="3556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BFBFBF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square" lIns="45720" rIns="25400" rtlCol="0" anchor="ctr" anchorCtr="0">
              <a:noAutofit/>
            </a:bodyPr>
            <a:lstStyle/>
            <a:p>
              <a:pPr algn="r"/>
              <a:r>
                <a:rPr lang="pt-BR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/>
                  <a:ea typeface="Calibri"/>
                  <a:cs typeface="Calibri"/>
                </a:rPr>
                <a:t>5.100</a:t>
              </a:r>
            </a:p>
          </p:txBody>
        </p:sp>
        <p:sp>
          <p:nvSpPr>
            <p:cNvPr id="238" name="Retângulo 237">
              <a:extLst>
                <a:ext uri="{FF2B5EF4-FFF2-40B4-BE49-F238E27FC236}">
                  <a16:creationId xmlns:a16="http://schemas.microsoft.com/office/drawing/2014/main" id="{38002F94-AE5F-829D-B719-6624ED3EE92F}"/>
                </a:ext>
              </a:extLst>
            </p:cNvPr>
            <p:cNvSpPr/>
            <p:nvPr/>
          </p:nvSpPr>
          <p:spPr>
            <a:xfrm>
              <a:off x="9349459" y="1959806"/>
              <a:ext cx="1637366" cy="3556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BFBFBF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square" lIns="45720" rIns="25400" rtlCol="0" anchor="ctr" anchorCtr="0">
              <a:noAutofit/>
            </a:bodyPr>
            <a:lstStyle/>
            <a:p>
              <a:pPr marL="266700"/>
              <a:r>
                <a:rPr lang="pt-BR" sz="11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</a:rPr>
                <a:t>Reflexo patrimonial</a:t>
              </a:r>
            </a:p>
          </p:txBody>
        </p:sp>
        <p:sp>
          <p:nvSpPr>
            <p:cNvPr id="239" name="Retângulo: Cantos Arredondados 238">
              <a:extLst>
                <a:ext uri="{FF2B5EF4-FFF2-40B4-BE49-F238E27FC236}">
                  <a16:creationId xmlns:a16="http://schemas.microsoft.com/office/drawing/2014/main" id="{3C1FC7C7-FB29-2A0F-6DA5-B484FA8840DA}"/>
                </a:ext>
              </a:extLst>
            </p:cNvPr>
            <p:cNvSpPr/>
            <p:nvPr/>
          </p:nvSpPr>
          <p:spPr>
            <a:xfrm>
              <a:off x="9397213" y="2083631"/>
              <a:ext cx="85958" cy="114300"/>
            </a:xfrm>
            <a:prstGeom prst="roundRect">
              <a:avLst/>
            </a:prstGeom>
            <a:solidFill>
              <a:srgbClr val="00B050"/>
            </a:solidFill>
            <a:ln w="25400" cap="flat" cmpd="sng" algn="ctr">
              <a:noFill/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pt-BR" sz="1100"/>
            </a:p>
          </p:txBody>
        </p:sp>
        <p:sp>
          <p:nvSpPr>
            <p:cNvPr id="240" name="Retângulo 239">
              <a:extLst>
                <a:ext uri="{FF2B5EF4-FFF2-40B4-BE49-F238E27FC236}">
                  <a16:creationId xmlns:a16="http://schemas.microsoft.com/office/drawing/2014/main" id="{18DA1D0D-C389-91F2-8328-CDF4957822AB}"/>
                </a:ext>
              </a:extLst>
            </p:cNvPr>
            <p:cNvSpPr/>
            <p:nvPr/>
          </p:nvSpPr>
          <p:spPr>
            <a:xfrm>
              <a:off x="6716709" y="2678626"/>
              <a:ext cx="1006654" cy="355600"/>
            </a:xfrm>
            <a:prstGeom prst="rect">
              <a:avLst/>
            </a:prstGeom>
            <a:solidFill>
              <a:srgbClr val="595959"/>
            </a:solidFill>
            <a:ln w="6350" cap="flat" cmpd="sng" algn="ctr">
              <a:solidFill>
                <a:schemeClr val="bg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square" rtlCol="0" anchor="ctr" anchorCtr="0">
              <a:noAutofit/>
            </a:bodyPr>
            <a:lstStyle/>
            <a:p>
              <a:r>
                <a:rPr lang="pt-BR" sz="1100" b="1" dirty="0">
                  <a:solidFill>
                    <a:schemeClr val="bg1"/>
                  </a:solidFill>
                  <a:latin typeface="Calibri"/>
                  <a:ea typeface="Calibri"/>
                  <a:cs typeface="Calibri"/>
                </a:rPr>
                <a:t>Inv. JO</a:t>
              </a:r>
            </a:p>
          </p:txBody>
        </p:sp>
        <p:sp>
          <p:nvSpPr>
            <p:cNvPr id="241" name="Retângulo 240">
              <a:extLst>
                <a:ext uri="{FF2B5EF4-FFF2-40B4-BE49-F238E27FC236}">
                  <a16:creationId xmlns:a16="http://schemas.microsoft.com/office/drawing/2014/main" id="{7C49F99B-169D-6F4E-6C6A-AD0FC87C22D5}"/>
                </a:ext>
              </a:extLst>
            </p:cNvPr>
            <p:cNvSpPr/>
            <p:nvPr/>
          </p:nvSpPr>
          <p:spPr>
            <a:xfrm>
              <a:off x="7730937" y="2671006"/>
              <a:ext cx="811824" cy="355600"/>
            </a:xfrm>
            <a:prstGeom prst="rect">
              <a:avLst/>
            </a:prstGeom>
            <a:solidFill>
              <a:srgbClr val="E5EEFF"/>
            </a:solidFill>
            <a:ln w="6350" cap="flat" cmpd="sng" algn="ctr">
              <a:solidFill>
                <a:srgbClr val="BFBFBF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square" lIns="45720" rIns="25400" rtlCol="0" anchor="ctr" anchorCtr="0">
              <a:noAutofit/>
            </a:bodyPr>
            <a:lstStyle/>
            <a:p>
              <a:pPr algn="r"/>
              <a:r>
                <a:rPr lang="pt-BR" sz="1400" b="1" dirty="0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5.888</a:t>
              </a:r>
            </a:p>
          </p:txBody>
        </p:sp>
        <p:sp>
          <p:nvSpPr>
            <p:cNvPr id="248" name="SubHdr 00">
              <a:extLst>
                <a:ext uri="{FF2B5EF4-FFF2-40B4-BE49-F238E27FC236}">
                  <a16:creationId xmlns:a16="http://schemas.microsoft.com/office/drawing/2014/main" id="{7FEB1B26-4E98-DB0A-E419-069AB2C03416}"/>
                </a:ext>
              </a:extLst>
            </p:cNvPr>
            <p:cNvSpPr/>
            <p:nvPr/>
          </p:nvSpPr>
          <p:spPr>
            <a:xfrm>
              <a:off x="7730937" y="1604206"/>
              <a:ext cx="811824" cy="355600"/>
            </a:xfrm>
            <a:prstGeom prst="rect">
              <a:avLst/>
            </a:prstGeom>
            <a:solidFill>
              <a:srgbClr val="E5EEFF"/>
            </a:solidFill>
            <a:ln w="6350" cap="flat" cmpd="sng" algn="ctr">
              <a:solidFill>
                <a:schemeClr val="bg1"/>
              </a:solidFill>
              <a:prstDash val="solid"/>
            </a:ln>
          </p:spPr>
          <p:txBody>
            <a:bodyPr vertOverflow="clip" horzOverflow="clip" wrap="square" lIns="18288" tIns="0" rIns="18288" bIns="0" rtlCol="0" anchor="ctr" anchorCtr="0">
              <a:noAutofit/>
            </a:bodyPr>
            <a:lstStyle/>
            <a:p>
              <a:pPr algn="ctr"/>
              <a:r>
                <a:rPr lang="pt-BR" sz="1100" b="1" dirty="0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100% JO</a:t>
              </a:r>
            </a:p>
          </p:txBody>
        </p:sp>
        <p:sp>
          <p:nvSpPr>
            <p:cNvPr id="249" name="SubHdr 01">
              <a:extLst>
                <a:ext uri="{FF2B5EF4-FFF2-40B4-BE49-F238E27FC236}">
                  <a16:creationId xmlns:a16="http://schemas.microsoft.com/office/drawing/2014/main" id="{2662C327-B858-5161-A9E5-702C1A9A6FF9}"/>
                </a:ext>
              </a:extLst>
            </p:cNvPr>
            <p:cNvSpPr/>
            <p:nvPr/>
          </p:nvSpPr>
          <p:spPr>
            <a:xfrm>
              <a:off x="8542761" y="1604206"/>
              <a:ext cx="811824" cy="355600"/>
            </a:xfrm>
            <a:prstGeom prst="rect">
              <a:avLst/>
            </a:prstGeom>
            <a:solidFill>
              <a:srgbClr val="002060"/>
            </a:solidFill>
            <a:ln w="6350" cap="flat" cmpd="sng" algn="ctr">
              <a:solidFill>
                <a:schemeClr val="bg1"/>
              </a:solidFill>
              <a:prstDash val="solid"/>
            </a:ln>
          </p:spPr>
          <p:txBody>
            <a:bodyPr vertOverflow="clip" horzOverflow="clip" wrap="square" lIns="18288" tIns="0" rIns="18288" bIns="0" rtlCol="0" anchor="ctr" anchorCtr="0">
              <a:noAutofit/>
            </a:bodyPr>
            <a:lstStyle/>
            <a:p>
              <a:pPr algn="ctr"/>
              <a:r>
                <a:rPr lang="pt-BR" sz="11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60% JO</a:t>
              </a:r>
            </a:p>
          </p:txBody>
        </p:sp>
        <p:sp>
          <p:nvSpPr>
            <p:cNvPr id="252" name="SubHdr 20">
              <a:extLst>
                <a:ext uri="{FF2B5EF4-FFF2-40B4-BE49-F238E27FC236}">
                  <a16:creationId xmlns:a16="http://schemas.microsoft.com/office/drawing/2014/main" id="{0BD25617-4DFA-EB53-44D5-6C04724B0ACF}"/>
                </a:ext>
              </a:extLst>
            </p:cNvPr>
            <p:cNvSpPr/>
            <p:nvPr/>
          </p:nvSpPr>
          <p:spPr>
            <a:xfrm>
              <a:off x="9349459" y="1604206"/>
              <a:ext cx="1637366" cy="355600"/>
            </a:xfrm>
            <a:prstGeom prst="rect">
              <a:avLst/>
            </a:prstGeom>
            <a:solidFill>
              <a:srgbClr val="002060"/>
            </a:solidFill>
            <a:ln w="6350" cap="flat" cmpd="sng" algn="ctr">
              <a:solidFill>
                <a:schemeClr val="bg1"/>
              </a:solidFill>
              <a:prstDash val="solid"/>
            </a:ln>
          </p:spPr>
          <p:txBody>
            <a:bodyPr vertOverflow="clip" horzOverflow="clip" wrap="square" lIns="18288" tIns="0" rIns="18288" bIns="0" rtlCol="0" anchor="ctr" anchorCtr="0">
              <a:noAutofit/>
            </a:bodyPr>
            <a:lstStyle/>
            <a:p>
              <a:pPr algn="ctr"/>
              <a:r>
                <a:rPr lang="pt-BR" sz="11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Risco – 34% diferido</a:t>
              </a:r>
            </a:p>
          </p:txBody>
        </p:sp>
        <p:sp>
          <p:nvSpPr>
            <p:cNvPr id="253" name="Cell TDT 00">
              <a:extLst>
                <a:ext uri="{FF2B5EF4-FFF2-40B4-BE49-F238E27FC236}">
                  <a16:creationId xmlns:a16="http://schemas.microsoft.com/office/drawing/2014/main" id="{7F0EA60B-6181-AC08-A8E4-5F0851088B4F}"/>
                </a:ext>
              </a:extLst>
            </p:cNvPr>
            <p:cNvSpPr/>
            <p:nvPr/>
          </p:nvSpPr>
          <p:spPr>
            <a:xfrm>
              <a:off x="8542761" y="1959806"/>
              <a:ext cx="811824" cy="3556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BFBFBF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square" lIns="45720" rIns="25400" rtlCol="0" anchor="ctr" anchorCtr="0">
              <a:noAutofit/>
            </a:bodyPr>
            <a:lstStyle/>
            <a:p>
              <a:pPr algn="r"/>
              <a:r>
                <a:rPr lang="pt-BR" sz="1400" b="1" dirty="0">
                  <a:solidFill>
                    <a:schemeClr val="tx1"/>
                  </a:solidFill>
                </a:rPr>
                <a:t>473</a:t>
              </a:r>
            </a:p>
          </p:txBody>
        </p:sp>
        <p:sp>
          <p:nvSpPr>
            <p:cNvPr id="255" name="Cell TDT 10">
              <a:extLst>
                <a:ext uri="{FF2B5EF4-FFF2-40B4-BE49-F238E27FC236}">
                  <a16:creationId xmlns:a16="http://schemas.microsoft.com/office/drawing/2014/main" id="{09B7265A-70AD-37A4-54CD-665450AF0B33}"/>
                </a:ext>
              </a:extLst>
            </p:cNvPr>
            <p:cNvSpPr/>
            <p:nvPr/>
          </p:nvSpPr>
          <p:spPr>
            <a:xfrm>
              <a:off x="8542761" y="2315406"/>
              <a:ext cx="811824" cy="3556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BFBFBF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square" lIns="45720" rIns="25400" rtlCol="0" anchor="ctr" anchorCtr="0">
              <a:noAutofit/>
            </a:bodyPr>
            <a:lstStyle/>
            <a:p>
              <a:pPr algn="r"/>
              <a:r>
                <a:rPr lang="pt-BR" sz="1400" b="1" dirty="0">
                  <a:solidFill>
                    <a:schemeClr val="tx1"/>
                  </a:solidFill>
                </a:rPr>
                <a:t>3.060</a:t>
              </a:r>
            </a:p>
          </p:txBody>
        </p:sp>
        <p:sp>
          <p:nvSpPr>
            <p:cNvPr id="257" name="Cell TDT 20">
              <a:extLst>
                <a:ext uri="{FF2B5EF4-FFF2-40B4-BE49-F238E27FC236}">
                  <a16:creationId xmlns:a16="http://schemas.microsoft.com/office/drawing/2014/main" id="{921F57DC-7AE1-23E2-0896-660BD6B9B396}"/>
                </a:ext>
              </a:extLst>
            </p:cNvPr>
            <p:cNvSpPr/>
            <p:nvPr/>
          </p:nvSpPr>
          <p:spPr>
            <a:xfrm>
              <a:off x="8542761" y="2671006"/>
              <a:ext cx="811824" cy="355600"/>
            </a:xfrm>
            <a:prstGeom prst="rect">
              <a:avLst/>
            </a:prstGeom>
            <a:solidFill>
              <a:srgbClr val="595959"/>
            </a:solidFill>
            <a:ln w="6350" cap="flat" cmpd="sng" algn="ctr">
              <a:solidFill>
                <a:srgbClr val="BFBFBF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square" lIns="45720" rIns="25400" rtlCol="0" anchor="ctr" anchorCtr="0">
              <a:noAutofit/>
            </a:bodyPr>
            <a:lstStyle/>
            <a:p>
              <a:pPr algn="r"/>
              <a:r>
                <a:rPr lang="pt-BR" sz="1400" b="1" dirty="0">
                  <a:solidFill>
                    <a:schemeClr val="bg1"/>
                  </a:solidFill>
                  <a:latin typeface="Calibri"/>
                  <a:ea typeface="Calibri"/>
                  <a:cs typeface="Calibri"/>
                </a:rPr>
                <a:t>3.533</a:t>
              </a:r>
            </a:p>
          </p:txBody>
        </p:sp>
        <p:sp>
          <p:nvSpPr>
            <p:cNvPr id="262" name="Retângulo 261">
              <a:extLst>
                <a:ext uri="{FF2B5EF4-FFF2-40B4-BE49-F238E27FC236}">
                  <a16:creationId xmlns:a16="http://schemas.microsoft.com/office/drawing/2014/main" id="{A6ABC2C9-5AFB-C346-6D75-AB02D848B397}"/>
                </a:ext>
              </a:extLst>
            </p:cNvPr>
            <p:cNvSpPr/>
            <p:nvPr/>
          </p:nvSpPr>
          <p:spPr>
            <a:xfrm>
              <a:off x="9349459" y="2311661"/>
              <a:ext cx="1637366" cy="3556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BFBFBF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square" lIns="45720" rIns="25400" rtlCol="0" anchor="ctr" anchorCtr="0">
              <a:noAutofit/>
            </a:bodyPr>
            <a:lstStyle/>
            <a:p>
              <a:pPr marL="266700"/>
              <a:r>
                <a:rPr lang="pt-BR" sz="11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</a:rPr>
                <a:t>AVJ</a:t>
              </a:r>
            </a:p>
          </p:txBody>
        </p:sp>
        <p:sp>
          <p:nvSpPr>
            <p:cNvPr id="244" name="Retângulo: Cantos Arredondados 243">
              <a:extLst>
                <a:ext uri="{FF2B5EF4-FFF2-40B4-BE49-F238E27FC236}">
                  <a16:creationId xmlns:a16="http://schemas.microsoft.com/office/drawing/2014/main" id="{4C9B8041-AF78-6613-1242-C413332CF0B7}"/>
                </a:ext>
              </a:extLst>
            </p:cNvPr>
            <p:cNvSpPr/>
            <p:nvPr/>
          </p:nvSpPr>
          <p:spPr>
            <a:xfrm>
              <a:off x="9397213" y="2429706"/>
              <a:ext cx="85958" cy="114300"/>
            </a:xfrm>
            <a:prstGeom prst="roundRect">
              <a:avLst/>
            </a:prstGeom>
            <a:solidFill>
              <a:srgbClr val="FF0000"/>
            </a:solidFill>
            <a:ln w="25400" cap="flat" cmpd="sng" algn="ctr">
              <a:noFill/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pt-BR" sz="1100"/>
            </a:p>
          </p:txBody>
        </p:sp>
      </p:grpSp>
      <p:sp>
        <p:nvSpPr>
          <p:cNvPr id="267" name="Retângulo 266">
            <a:extLst>
              <a:ext uri="{FF2B5EF4-FFF2-40B4-BE49-F238E27FC236}">
                <a16:creationId xmlns:a16="http://schemas.microsoft.com/office/drawing/2014/main" id="{EC35ACB1-730F-ED19-8FA6-5FA2E7C8B9EB}"/>
              </a:ext>
            </a:extLst>
          </p:cNvPr>
          <p:cNvSpPr/>
          <p:nvPr/>
        </p:nvSpPr>
        <p:spPr>
          <a:xfrm>
            <a:off x="547327" y="2032779"/>
            <a:ext cx="5797594" cy="214131"/>
          </a:xfrm>
          <a:prstGeom prst="rect">
            <a:avLst/>
          </a:prstGeom>
          <a:noFill/>
          <a:ln w="635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t-BR" sz="1100" b="1" cap="small" dirty="0">
                <a:solidFill>
                  <a:srgbClr val="C00000"/>
                </a:solidFill>
                <a:ea typeface="Calibri"/>
                <a:cs typeface="Calibri"/>
              </a:rPr>
              <a:t>CPC 15 | Combinação de Negócios</a:t>
            </a:r>
            <a:endParaRPr lang="pt-BR" sz="1100" kern="100" cap="small" dirty="0">
              <a:solidFill>
                <a:srgbClr val="C00000"/>
              </a:solidFill>
              <a:effectLst/>
              <a:latin typeface="Calibri" panose="020F0502020204030204" pitchFamily="34" charset="0"/>
              <a:ea typeface="Aptos" panose="020B0004020202020204" pitchFamily="34" charset="0"/>
            </a:endParaRPr>
          </a:p>
        </p:txBody>
      </p:sp>
      <p:sp>
        <p:nvSpPr>
          <p:cNvPr id="277" name="Retângulo 276">
            <a:extLst>
              <a:ext uri="{FF2B5EF4-FFF2-40B4-BE49-F238E27FC236}">
                <a16:creationId xmlns:a16="http://schemas.microsoft.com/office/drawing/2014/main" id="{AE1AA53B-66E0-A2D4-787A-22458C603984}"/>
              </a:ext>
            </a:extLst>
          </p:cNvPr>
          <p:cNvSpPr/>
          <p:nvPr/>
        </p:nvSpPr>
        <p:spPr>
          <a:xfrm>
            <a:off x="502022" y="4279326"/>
            <a:ext cx="7918077" cy="253115"/>
          </a:xfrm>
          <a:prstGeom prst="rect">
            <a:avLst/>
          </a:prstGeom>
          <a:noFill/>
          <a:ln w="635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r>
              <a:rPr lang="pt-BR" sz="1600" b="1" cap="small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Venda futura</a:t>
            </a:r>
          </a:p>
        </p:txBody>
      </p:sp>
      <p:cxnSp>
        <p:nvCxnSpPr>
          <p:cNvPr id="283" name="Conector reto 282">
            <a:extLst>
              <a:ext uri="{FF2B5EF4-FFF2-40B4-BE49-F238E27FC236}">
                <a16:creationId xmlns:a16="http://schemas.microsoft.com/office/drawing/2014/main" id="{FCF35DDD-DCFE-0A7E-9A79-859EE46ADA65}"/>
              </a:ext>
            </a:extLst>
          </p:cNvPr>
          <p:cNvCxnSpPr/>
          <p:nvPr/>
        </p:nvCxnSpPr>
        <p:spPr>
          <a:xfrm>
            <a:off x="614395" y="2245683"/>
            <a:ext cx="5710205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tângulo 4">
            <a:extLst>
              <a:ext uri="{FF2B5EF4-FFF2-40B4-BE49-F238E27FC236}">
                <a16:creationId xmlns:a16="http://schemas.microsoft.com/office/drawing/2014/main" id="{10A15B38-504D-4CC2-1F99-412FEEBD66D6}"/>
              </a:ext>
            </a:extLst>
          </p:cNvPr>
          <p:cNvSpPr/>
          <p:nvPr/>
        </p:nvSpPr>
        <p:spPr>
          <a:xfrm>
            <a:off x="6633820" y="2032779"/>
            <a:ext cx="5797594" cy="214131"/>
          </a:xfrm>
          <a:prstGeom prst="rect">
            <a:avLst/>
          </a:prstGeom>
          <a:noFill/>
          <a:ln w="635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t-BR" sz="1100" b="1" cap="small" dirty="0">
                <a:solidFill>
                  <a:srgbClr val="002060"/>
                </a:solidFill>
                <a:ea typeface="Calibri"/>
                <a:cs typeface="Calibri"/>
              </a:rPr>
              <a:t>CPC 19 | Joint </a:t>
            </a:r>
            <a:r>
              <a:rPr lang="pt-BR" sz="1100" b="1" cap="small" dirty="0" err="1">
                <a:solidFill>
                  <a:srgbClr val="002060"/>
                </a:solidFill>
                <a:ea typeface="Calibri"/>
                <a:cs typeface="Calibri"/>
              </a:rPr>
              <a:t>Operation</a:t>
            </a:r>
            <a:endParaRPr lang="pt-BR" sz="1100" kern="100" cap="small" dirty="0">
              <a:solidFill>
                <a:srgbClr val="002060"/>
              </a:solidFill>
              <a:effectLst/>
              <a:latin typeface="Calibri" panose="020F0502020204030204" pitchFamily="34" charset="0"/>
              <a:ea typeface="Aptos" panose="020B0004020202020204" pitchFamily="34" charset="0"/>
            </a:endParaRP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B75DC578-0A0F-3191-BB05-EFC98C7FE28A}"/>
              </a:ext>
            </a:extLst>
          </p:cNvPr>
          <p:cNvCxnSpPr>
            <a:cxnSpLocks/>
          </p:cNvCxnSpPr>
          <p:nvPr/>
        </p:nvCxnSpPr>
        <p:spPr>
          <a:xfrm>
            <a:off x="6700888" y="2260925"/>
            <a:ext cx="5171072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0" name="BG CPC 15 | Combinação de Negócios"/>
          <p:cNvSpPr/>
          <p:nvPr/>
        </p:nvSpPr>
        <p:spPr>
          <a:xfrm>
            <a:off x="508000" y="4533900"/>
            <a:ext cx="11430000" cy="1802278"/>
          </a:xfrm>
          <a:prstGeom prst="rect">
            <a:avLst/>
          </a:prstGeom>
          <a:solidFill>
            <a:srgbClr val="F2F2F2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01" name="Titulo CPC 15 | Combinação de Negócios"/>
          <p:cNvSpPr/>
          <p:nvPr/>
        </p:nvSpPr>
        <p:spPr>
          <a:xfrm>
            <a:off x="609600" y="4533900"/>
            <a:ext cx="5715000" cy="254000"/>
          </a:xfrm>
          <a:prstGeom prst="rect">
            <a:avLst/>
          </a:prstGeom>
          <a:noFill/>
          <a:ln w="6350" cap="flat" cmpd="sng" algn="ctr">
            <a:noFill/>
            <a:prstDash val="solid"/>
          </a:ln>
        </p:spPr>
        <p:txBody>
          <a:bodyPr vertOverflow="clip" horzOverflow="clip" wrap="square" lIns="0" tIns="0" rIns="0" bIns="0" rtlCol="0" anchor="ctr" anchorCtr="0">
            <a:noAutofit/>
          </a:bodyPr>
          <a:lstStyle/>
          <a:p>
            <a:pPr algn="l"/>
            <a:r>
              <a:rPr lang="pt-BR" sz="1100" b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CPC 15 | Combinação de Negócios</a:t>
            </a:r>
          </a:p>
        </p:txBody>
      </p:sp>
      <p:sp>
        <p:nvSpPr>
          <p:cNvPr id="402" name="Hdr 0"/>
          <p:cNvSpPr/>
          <p:nvPr/>
        </p:nvSpPr>
        <p:spPr>
          <a:xfrm>
            <a:off x="609600" y="4838700"/>
            <a:ext cx="1397000" cy="355600"/>
          </a:xfrm>
          <a:prstGeom prst="rect">
            <a:avLst/>
          </a:prstGeom>
          <a:solidFill>
            <a:srgbClr val="C00000"/>
          </a:solidFill>
          <a:ln w="6350" cap="flat" cmpd="sng" algn="ctr">
            <a:solidFill>
              <a:schemeClr val="bg1"/>
            </a:solidFill>
            <a:prstDash val="solid"/>
          </a:ln>
        </p:spPr>
        <p:txBody>
          <a:bodyPr vertOverflow="clip" horzOverflow="clip" wrap="square" lIns="18288" tIns="0" rIns="18288" bIns="0" rtlCol="0" anchor="ctr" anchorCtr="0">
            <a:noAutofit/>
          </a:bodyPr>
          <a:lstStyle/>
          <a:p>
            <a:pPr algn="ctr"/>
            <a:r>
              <a:rPr lang="pt-BR" sz="11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Preço</a:t>
            </a:r>
          </a:p>
        </p:txBody>
      </p:sp>
      <p:sp>
        <p:nvSpPr>
          <p:cNvPr id="403" name="Hdr 1"/>
          <p:cNvSpPr/>
          <p:nvPr/>
        </p:nvSpPr>
        <p:spPr>
          <a:xfrm>
            <a:off x="2006600" y="4838700"/>
            <a:ext cx="2159000" cy="355600"/>
          </a:xfrm>
          <a:prstGeom prst="rect">
            <a:avLst/>
          </a:prstGeom>
          <a:solidFill>
            <a:srgbClr val="C00000"/>
          </a:solidFill>
          <a:ln w="6350" cap="flat" cmpd="sng" algn="ctr">
            <a:solidFill>
              <a:schemeClr val="bg1"/>
            </a:solidFill>
            <a:prstDash val="solid"/>
          </a:ln>
        </p:spPr>
        <p:txBody>
          <a:bodyPr vertOverflow="clip" horzOverflow="clip" wrap="square" lIns="18288" tIns="0" rIns="18288" bIns="0" rtlCol="0" anchor="ctr" anchorCtr="0">
            <a:noAutofit/>
          </a:bodyPr>
          <a:lstStyle/>
          <a:p>
            <a:pPr algn="ctr"/>
            <a:r>
              <a:rPr lang="pt-BR" sz="11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Venda pela PJ</a:t>
            </a:r>
          </a:p>
        </p:txBody>
      </p:sp>
      <p:sp>
        <p:nvSpPr>
          <p:cNvPr id="404" name="Hdr 2"/>
          <p:cNvSpPr/>
          <p:nvPr/>
        </p:nvSpPr>
        <p:spPr>
          <a:xfrm>
            <a:off x="4165600" y="4838700"/>
            <a:ext cx="2159000" cy="355600"/>
          </a:xfrm>
          <a:prstGeom prst="rect">
            <a:avLst/>
          </a:prstGeom>
          <a:solidFill>
            <a:srgbClr val="C00000"/>
          </a:solidFill>
          <a:ln w="6350" cap="flat" cmpd="sng" algn="ctr">
            <a:solidFill>
              <a:schemeClr val="bg1"/>
            </a:solidFill>
            <a:prstDash val="solid"/>
          </a:ln>
        </p:spPr>
        <p:txBody>
          <a:bodyPr vertOverflow="clip" horzOverflow="clip" wrap="square" lIns="18288" tIns="0" rIns="18288" bIns="0" rtlCol="0" anchor="ctr" anchorCtr="0">
            <a:noAutofit/>
          </a:bodyPr>
          <a:lstStyle/>
          <a:p>
            <a:pPr algn="ctr"/>
            <a:r>
              <a:rPr lang="pt-BR" sz="11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Venda pela PF</a:t>
            </a:r>
          </a:p>
        </p:txBody>
      </p:sp>
      <p:sp>
        <p:nvSpPr>
          <p:cNvPr id="405" name="Preco 0"/>
          <p:cNvSpPr/>
          <p:nvPr/>
        </p:nvSpPr>
        <p:spPr>
          <a:xfrm>
            <a:off x="609600" y="5194300"/>
            <a:ext cx="13970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r>
              <a:rPr lang="pt-B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1.000</a:t>
            </a:r>
          </a:p>
        </p:txBody>
      </p:sp>
      <p:sp>
        <p:nvSpPr>
          <p:cNvPr id="406" name="Val 01"/>
          <p:cNvSpPr/>
          <p:nvPr/>
        </p:nvSpPr>
        <p:spPr>
          <a:xfrm>
            <a:off x="2006600" y="5194300"/>
            <a:ext cx="2159000" cy="3556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BFBFB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45720" rIns="25400" rtlCol="0" anchor="ctr" anchorCtr="0">
            <a:noAutofit/>
          </a:bodyPr>
          <a:lstStyle/>
          <a:p>
            <a:pPr algn="r"/>
            <a:r>
              <a:rPr lang="pt-BR" sz="1400" b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120</a:t>
            </a:r>
          </a:p>
        </p:txBody>
      </p:sp>
      <p:sp>
        <p:nvSpPr>
          <p:cNvPr id="407" name="Mk 01"/>
          <p:cNvSpPr/>
          <p:nvPr/>
        </p:nvSpPr>
        <p:spPr>
          <a:xfrm>
            <a:off x="2108200" y="5314950"/>
            <a:ext cx="114300" cy="114300"/>
          </a:xfrm>
          <a:prstGeom prst="roundRect">
            <a:avLst/>
          </a:prstGeom>
          <a:solidFill>
            <a:srgbClr val="00B05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 sz="1100"/>
          </a:p>
        </p:txBody>
      </p:sp>
      <p:sp>
        <p:nvSpPr>
          <p:cNvPr id="408" name="Val 02"/>
          <p:cNvSpPr/>
          <p:nvPr/>
        </p:nvSpPr>
        <p:spPr>
          <a:xfrm>
            <a:off x="4165600" y="5194300"/>
            <a:ext cx="2159000" cy="3556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BFBFB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45720" rIns="25400" rtlCol="0" anchor="ctr" anchorCtr="0">
            <a:noAutofit/>
          </a:bodyPr>
          <a:lstStyle/>
          <a:p>
            <a:pPr algn="r"/>
            <a:r>
              <a:rPr lang="pt-BR" sz="1400" b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221</a:t>
            </a:r>
          </a:p>
        </p:txBody>
      </p:sp>
      <p:sp>
        <p:nvSpPr>
          <p:cNvPr id="409" name="Mk 02"/>
          <p:cNvSpPr/>
          <p:nvPr/>
        </p:nvSpPr>
        <p:spPr>
          <a:xfrm>
            <a:off x="4267200" y="5314950"/>
            <a:ext cx="114300" cy="114300"/>
          </a:xfrm>
          <a:prstGeom prst="roundRect">
            <a:avLst/>
          </a:prstGeom>
          <a:solidFill>
            <a:srgbClr val="00B05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 sz="1100"/>
          </a:p>
        </p:txBody>
      </p:sp>
      <p:sp>
        <p:nvSpPr>
          <p:cNvPr id="410" name="Preco 1"/>
          <p:cNvSpPr/>
          <p:nvPr/>
        </p:nvSpPr>
        <p:spPr>
          <a:xfrm>
            <a:off x="609600" y="5549900"/>
            <a:ext cx="13970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r>
              <a:rPr lang="pt-B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3.533</a:t>
            </a:r>
          </a:p>
        </p:txBody>
      </p:sp>
      <p:sp>
        <p:nvSpPr>
          <p:cNvPr id="411" name="Val 11"/>
          <p:cNvSpPr/>
          <p:nvPr/>
        </p:nvSpPr>
        <p:spPr>
          <a:xfrm>
            <a:off x="2006600" y="5549900"/>
            <a:ext cx="2159000" cy="3556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BFBFB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45720" rIns="25400" rtlCol="0" anchor="ctr" anchorCtr="0">
            <a:noAutofit/>
          </a:bodyPr>
          <a:lstStyle/>
          <a:p>
            <a:pPr algn="r"/>
            <a:r>
              <a:rPr lang="pt-BR" sz="1400" b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981</a:t>
            </a:r>
          </a:p>
        </p:txBody>
      </p:sp>
      <p:sp>
        <p:nvSpPr>
          <p:cNvPr id="412" name="Mk 11"/>
          <p:cNvSpPr/>
          <p:nvPr/>
        </p:nvSpPr>
        <p:spPr>
          <a:xfrm>
            <a:off x="2108200" y="5670550"/>
            <a:ext cx="114300" cy="114300"/>
          </a:xfrm>
          <a:prstGeom prst="roundRect">
            <a:avLst/>
          </a:prstGeom>
          <a:solidFill>
            <a:srgbClr val="00B05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 sz="1100"/>
          </a:p>
        </p:txBody>
      </p:sp>
      <p:sp>
        <p:nvSpPr>
          <p:cNvPr id="413" name="Val 12"/>
          <p:cNvSpPr/>
          <p:nvPr/>
        </p:nvSpPr>
        <p:spPr>
          <a:xfrm>
            <a:off x="4165600" y="5549900"/>
            <a:ext cx="2159000" cy="3556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BFBFB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45720" rIns="25400" rtlCol="0" anchor="ctr" anchorCtr="0">
            <a:noAutofit/>
          </a:bodyPr>
          <a:lstStyle/>
          <a:p>
            <a:pPr algn="r"/>
            <a:r>
              <a:rPr lang="pt-BR" sz="1400" b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791</a:t>
            </a:r>
          </a:p>
        </p:txBody>
      </p:sp>
      <p:sp>
        <p:nvSpPr>
          <p:cNvPr id="414" name="Mk 12"/>
          <p:cNvSpPr/>
          <p:nvPr/>
        </p:nvSpPr>
        <p:spPr>
          <a:xfrm>
            <a:off x="4267200" y="5670550"/>
            <a:ext cx="114300" cy="114300"/>
          </a:xfrm>
          <a:prstGeom prst="roundRect">
            <a:avLst/>
          </a:prstGeom>
          <a:solidFill>
            <a:srgbClr val="00B05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 sz="1100"/>
          </a:p>
        </p:txBody>
      </p:sp>
      <p:sp>
        <p:nvSpPr>
          <p:cNvPr id="415" name="Preco 2"/>
          <p:cNvSpPr/>
          <p:nvPr/>
        </p:nvSpPr>
        <p:spPr>
          <a:xfrm>
            <a:off x="609600" y="5905500"/>
            <a:ext cx="13970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r>
              <a:rPr lang="pt-B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5.000</a:t>
            </a:r>
          </a:p>
        </p:txBody>
      </p:sp>
      <p:sp>
        <p:nvSpPr>
          <p:cNvPr id="416" name="Val 21"/>
          <p:cNvSpPr/>
          <p:nvPr/>
        </p:nvSpPr>
        <p:spPr>
          <a:xfrm>
            <a:off x="2006600" y="5905500"/>
            <a:ext cx="2159000" cy="3556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BFBFB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45720" rIns="25400" rtlCol="0" anchor="ctr" anchorCtr="0">
            <a:noAutofit/>
          </a:bodyPr>
          <a:lstStyle/>
          <a:p>
            <a:pPr algn="r"/>
            <a:r>
              <a:rPr lang="pt-BR" sz="1400" b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1.480</a:t>
            </a:r>
          </a:p>
        </p:txBody>
      </p:sp>
      <p:sp>
        <p:nvSpPr>
          <p:cNvPr id="417" name="Mk 21"/>
          <p:cNvSpPr/>
          <p:nvPr/>
        </p:nvSpPr>
        <p:spPr>
          <a:xfrm>
            <a:off x="2108200" y="6026150"/>
            <a:ext cx="114300" cy="114300"/>
          </a:xfrm>
          <a:prstGeom prst="roundRect">
            <a:avLst/>
          </a:prstGeom>
          <a:solidFill>
            <a:srgbClr val="00B05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 sz="1100"/>
          </a:p>
        </p:txBody>
      </p:sp>
      <p:sp>
        <p:nvSpPr>
          <p:cNvPr id="418" name="Val 22"/>
          <p:cNvSpPr/>
          <p:nvPr/>
        </p:nvSpPr>
        <p:spPr>
          <a:xfrm>
            <a:off x="4165600" y="5905500"/>
            <a:ext cx="2159000" cy="3556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BFBFB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45720" rIns="25400" rtlCol="0" anchor="ctr" anchorCtr="0">
            <a:noAutofit/>
          </a:bodyPr>
          <a:lstStyle/>
          <a:p>
            <a:pPr algn="r"/>
            <a:r>
              <a:rPr lang="pt-BR" sz="1400" b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1.121</a:t>
            </a:r>
          </a:p>
        </p:txBody>
      </p:sp>
      <p:sp>
        <p:nvSpPr>
          <p:cNvPr id="419" name="Mk 22"/>
          <p:cNvSpPr/>
          <p:nvPr/>
        </p:nvSpPr>
        <p:spPr>
          <a:xfrm>
            <a:off x="4267200" y="6026150"/>
            <a:ext cx="114300" cy="114300"/>
          </a:xfrm>
          <a:prstGeom prst="roundRect">
            <a:avLst/>
          </a:prstGeom>
          <a:solidFill>
            <a:srgbClr val="00B05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 sz="1100"/>
          </a:p>
        </p:txBody>
      </p:sp>
      <p:sp>
        <p:nvSpPr>
          <p:cNvPr id="421" name="Titulo CPC 19 | Joint Operation"/>
          <p:cNvSpPr/>
          <p:nvPr/>
        </p:nvSpPr>
        <p:spPr>
          <a:xfrm>
            <a:off x="6731000" y="4533900"/>
            <a:ext cx="5105400" cy="254000"/>
          </a:xfrm>
          <a:prstGeom prst="rect">
            <a:avLst/>
          </a:prstGeom>
          <a:noFill/>
          <a:ln w="6350" cap="flat" cmpd="sng" algn="ctr">
            <a:noFill/>
            <a:prstDash val="solid"/>
          </a:ln>
        </p:spPr>
        <p:txBody>
          <a:bodyPr vertOverflow="clip" horzOverflow="clip" wrap="square" lIns="0" tIns="0" rIns="0" bIns="0" rtlCol="0" anchor="ctr" anchorCtr="0">
            <a:noAutofit/>
          </a:bodyPr>
          <a:lstStyle/>
          <a:p>
            <a:pPr algn="l"/>
            <a:r>
              <a:rPr lang="pt-BR" sz="11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CPC 19 | Joint Operation</a:t>
            </a:r>
          </a:p>
        </p:txBody>
      </p:sp>
      <p:sp>
        <p:nvSpPr>
          <p:cNvPr id="422" name="Hdr 0"/>
          <p:cNvSpPr/>
          <p:nvPr/>
        </p:nvSpPr>
        <p:spPr>
          <a:xfrm>
            <a:off x="6731000" y="4838700"/>
            <a:ext cx="1193800" cy="355600"/>
          </a:xfrm>
          <a:prstGeom prst="rect">
            <a:avLst/>
          </a:prstGeom>
          <a:solidFill>
            <a:srgbClr val="002060"/>
          </a:solidFill>
          <a:ln w="6350" cap="flat" cmpd="sng" algn="ctr">
            <a:solidFill>
              <a:schemeClr val="bg1"/>
            </a:solidFill>
            <a:prstDash val="solid"/>
          </a:ln>
        </p:spPr>
        <p:txBody>
          <a:bodyPr vertOverflow="clip" horzOverflow="clip" wrap="square" lIns="18288" tIns="0" rIns="18288" bIns="0" rtlCol="0" anchor="ctr" anchorCtr="0">
            <a:noAutofit/>
          </a:bodyPr>
          <a:lstStyle/>
          <a:p>
            <a:pPr algn="ctr"/>
            <a:r>
              <a:rPr lang="pt-BR" sz="11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PREÇO</a:t>
            </a:r>
          </a:p>
        </p:txBody>
      </p:sp>
      <p:sp>
        <p:nvSpPr>
          <p:cNvPr id="423" name="Hdr 1"/>
          <p:cNvSpPr/>
          <p:nvPr/>
        </p:nvSpPr>
        <p:spPr>
          <a:xfrm>
            <a:off x="7924800" y="4838700"/>
            <a:ext cx="1955800" cy="355600"/>
          </a:xfrm>
          <a:prstGeom prst="rect">
            <a:avLst/>
          </a:prstGeom>
          <a:solidFill>
            <a:srgbClr val="002060"/>
          </a:solidFill>
          <a:ln w="6350" cap="flat" cmpd="sng" algn="ctr">
            <a:solidFill>
              <a:schemeClr val="bg1"/>
            </a:solidFill>
            <a:prstDash val="solid"/>
          </a:ln>
        </p:spPr>
        <p:txBody>
          <a:bodyPr vertOverflow="clip" horzOverflow="clip" wrap="square" lIns="18288" tIns="0" rIns="18288" bIns="0" rtlCol="0" anchor="ctr" anchorCtr="0">
            <a:noAutofit/>
          </a:bodyPr>
          <a:lstStyle/>
          <a:p>
            <a:pPr algn="ctr"/>
            <a:r>
              <a:rPr lang="pt-BR" sz="11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Venda pela PJ</a:t>
            </a:r>
          </a:p>
        </p:txBody>
      </p:sp>
      <p:sp>
        <p:nvSpPr>
          <p:cNvPr id="424" name="Hdr 2"/>
          <p:cNvSpPr/>
          <p:nvPr/>
        </p:nvSpPr>
        <p:spPr>
          <a:xfrm>
            <a:off x="9880600" y="4838700"/>
            <a:ext cx="1955800" cy="355600"/>
          </a:xfrm>
          <a:prstGeom prst="rect">
            <a:avLst/>
          </a:prstGeom>
          <a:solidFill>
            <a:srgbClr val="002060"/>
          </a:solidFill>
          <a:ln w="6350" cap="flat" cmpd="sng" algn="ctr">
            <a:solidFill>
              <a:schemeClr val="bg1"/>
            </a:solidFill>
            <a:prstDash val="solid"/>
          </a:ln>
        </p:spPr>
        <p:txBody>
          <a:bodyPr vertOverflow="clip" horzOverflow="clip" wrap="square" lIns="18288" tIns="0" rIns="18288" bIns="0" rtlCol="0" anchor="ctr" anchorCtr="0">
            <a:noAutofit/>
          </a:bodyPr>
          <a:lstStyle/>
          <a:p>
            <a:pPr algn="ctr"/>
            <a:r>
              <a:rPr lang="pt-BR" sz="11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Venda pela PF</a:t>
            </a:r>
          </a:p>
        </p:txBody>
      </p:sp>
      <p:sp>
        <p:nvSpPr>
          <p:cNvPr id="425" name="Preco 0"/>
          <p:cNvSpPr/>
          <p:nvPr/>
        </p:nvSpPr>
        <p:spPr>
          <a:xfrm>
            <a:off x="6731000" y="5194300"/>
            <a:ext cx="11938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r>
              <a:rPr lang="pt-B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1.000</a:t>
            </a:r>
          </a:p>
        </p:txBody>
      </p:sp>
      <p:sp>
        <p:nvSpPr>
          <p:cNvPr id="426" name="Val 01"/>
          <p:cNvSpPr/>
          <p:nvPr/>
        </p:nvSpPr>
        <p:spPr>
          <a:xfrm>
            <a:off x="7924800" y="5194300"/>
            <a:ext cx="1955800" cy="3556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BFBFB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45720" rIns="25400" rtlCol="0" anchor="ctr" anchorCtr="0">
            <a:noAutofit/>
          </a:bodyPr>
          <a:lstStyle/>
          <a:p>
            <a:pPr algn="r"/>
            <a:r>
              <a:rPr lang="pt-BR" sz="1400" b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1.040</a:t>
            </a:r>
          </a:p>
        </p:txBody>
      </p:sp>
      <p:sp>
        <p:nvSpPr>
          <p:cNvPr id="427" name="Mk 01"/>
          <p:cNvSpPr/>
          <p:nvPr/>
        </p:nvSpPr>
        <p:spPr>
          <a:xfrm>
            <a:off x="8026400" y="5314950"/>
            <a:ext cx="114300" cy="114300"/>
          </a:xfrm>
          <a:prstGeom prst="roundRect">
            <a:avLst/>
          </a:prstGeom>
          <a:solidFill>
            <a:srgbClr val="C000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 sz="1100"/>
          </a:p>
        </p:txBody>
      </p:sp>
      <p:sp>
        <p:nvSpPr>
          <p:cNvPr id="428" name="Val 02"/>
          <p:cNvSpPr/>
          <p:nvPr/>
        </p:nvSpPr>
        <p:spPr>
          <a:xfrm>
            <a:off x="9880600" y="5194300"/>
            <a:ext cx="1955800" cy="3556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BFBFB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45720" rIns="25400" rtlCol="0" anchor="ctr" anchorCtr="0">
            <a:noAutofit/>
          </a:bodyPr>
          <a:lstStyle/>
          <a:p>
            <a:pPr algn="r"/>
            <a:r>
              <a:rPr lang="pt-BR" sz="1400" b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1.040</a:t>
            </a:r>
          </a:p>
        </p:txBody>
      </p:sp>
      <p:sp>
        <p:nvSpPr>
          <p:cNvPr id="429" name="Mk 02"/>
          <p:cNvSpPr/>
          <p:nvPr/>
        </p:nvSpPr>
        <p:spPr>
          <a:xfrm>
            <a:off x="9982200" y="5314950"/>
            <a:ext cx="114300" cy="114300"/>
          </a:xfrm>
          <a:prstGeom prst="roundRect">
            <a:avLst/>
          </a:prstGeom>
          <a:solidFill>
            <a:srgbClr val="C000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 sz="1100"/>
          </a:p>
        </p:txBody>
      </p:sp>
      <p:sp>
        <p:nvSpPr>
          <p:cNvPr id="430" name="Preco 1"/>
          <p:cNvSpPr/>
          <p:nvPr/>
        </p:nvSpPr>
        <p:spPr>
          <a:xfrm>
            <a:off x="6731000" y="5549900"/>
            <a:ext cx="11938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r>
              <a:rPr lang="pt-B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3.533</a:t>
            </a:r>
          </a:p>
        </p:txBody>
      </p:sp>
      <p:sp>
        <p:nvSpPr>
          <p:cNvPr id="431" name="Val 11"/>
          <p:cNvSpPr/>
          <p:nvPr/>
        </p:nvSpPr>
        <p:spPr>
          <a:xfrm>
            <a:off x="7924800" y="5549900"/>
            <a:ext cx="1955800" cy="3556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BFBFB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45720" rIns="25400" rtlCol="0" anchor="ctr" anchorCtr="0">
            <a:noAutofit/>
          </a:bodyPr>
          <a:lstStyle/>
          <a:p>
            <a:pPr algn="r"/>
            <a:r>
              <a:rPr lang="pt-BR" sz="1400" b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1.040</a:t>
            </a:r>
          </a:p>
        </p:txBody>
      </p:sp>
      <p:sp>
        <p:nvSpPr>
          <p:cNvPr id="432" name="Mk 11"/>
          <p:cNvSpPr/>
          <p:nvPr/>
        </p:nvSpPr>
        <p:spPr>
          <a:xfrm>
            <a:off x="8026400" y="5670550"/>
            <a:ext cx="114300" cy="114300"/>
          </a:xfrm>
          <a:prstGeom prst="roundRect">
            <a:avLst/>
          </a:prstGeom>
          <a:solidFill>
            <a:srgbClr val="C000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 sz="1100"/>
          </a:p>
        </p:txBody>
      </p:sp>
      <p:sp>
        <p:nvSpPr>
          <p:cNvPr id="433" name="Val 12"/>
          <p:cNvSpPr/>
          <p:nvPr/>
        </p:nvSpPr>
        <p:spPr>
          <a:xfrm>
            <a:off x="9880600" y="5549900"/>
            <a:ext cx="1955800" cy="3556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BFBFB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45720" rIns="25400" rtlCol="0" anchor="ctr" anchorCtr="0">
            <a:noAutofit/>
          </a:bodyPr>
          <a:lstStyle/>
          <a:p>
            <a:pPr algn="r"/>
            <a:r>
              <a:rPr lang="pt-BR" sz="1400" b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1.040</a:t>
            </a:r>
          </a:p>
        </p:txBody>
      </p:sp>
      <p:sp>
        <p:nvSpPr>
          <p:cNvPr id="434" name="Mk 12"/>
          <p:cNvSpPr/>
          <p:nvPr/>
        </p:nvSpPr>
        <p:spPr>
          <a:xfrm>
            <a:off x="9982200" y="5670550"/>
            <a:ext cx="114300" cy="114300"/>
          </a:xfrm>
          <a:prstGeom prst="roundRect">
            <a:avLst/>
          </a:prstGeom>
          <a:solidFill>
            <a:srgbClr val="C000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 sz="1100"/>
          </a:p>
        </p:txBody>
      </p:sp>
      <p:sp>
        <p:nvSpPr>
          <p:cNvPr id="435" name="Preco 2"/>
          <p:cNvSpPr/>
          <p:nvPr/>
        </p:nvSpPr>
        <p:spPr>
          <a:xfrm>
            <a:off x="6731000" y="5905500"/>
            <a:ext cx="11938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r>
              <a:rPr lang="pt-B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5.000</a:t>
            </a:r>
          </a:p>
        </p:txBody>
      </p:sp>
      <p:sp>
        <p:nvSpPr>
          <p:cNvPr id="436" name="Val 21"/>
          <p:cNvSpPr/>
          <p:nvPr/>
        </p:nvSpPr>
        <p:spPr>
          <a:xfrm>
            <a:off x="7924800" y="5905500"/>
            <a:ext cx="1955800" cy="3556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BFBFB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45720" rIns="25400" rtlCol="0" anchor="ctr" anchorCtr="0">
            <a:noAutofit/>
          </a:bodyPr>
          <a:lstStyle/>
          <a:p>
            <a:pPr algn="r"/>
            <a:r>
              <a:rPr lang="pt-BR" sz="1400" b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1.539</a:t>
            </a:r>
          </a:p>
        </p:txBody>
      </p:sp>
      <p:sp>
        <p:nvSpPr>
          <p:cNvPr id="437" name="Mk 21"/>
          <p:cNvSpPr/>
          <p:nvPr/>
        </p:nvSpPr>
        <p:spPr>
          <a:xfrm>
            <a:off x="8026400" y="6026150"/>
            <a:ext cx="114300" cy="114300"/>
          </a:xfrm>
          <a:prstGeom prst="roundRect">
            <a:avLst/>
          </a:prstGeom>
          <a:solidFill>
            <a:srgbClr val="C000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 sz="1100"/>
          </a:p>
        </p:txBody>
      </p:sp>
      <p:sp>
        <p:nvSpPr>
          <p:cNvPr id="438" name="Val 22"/>
          <p:cNvSpPr/>
          <p:nvPr/>
        </p:nvSpPr>
        <p:spPr>
          <a:xfrm>
            <a:off x="9880600" y="5905500"/>
            <a:ext cx="1955800" cy="3556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BFBFB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45720" rIns="25400" rtlCol="0" anchor="ctr" anchorCtr="0">
            <a:noAutofit/>
          </a:bodyPr>
          <a:lstStyle/>
          <a:p>
            <a:pPr algn="r"/>
            <a:r>
              <a:rPr lang="pt-BR" sz="1400" b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1.371</a:t>
            </a:r>
          </a:p>
        </p:txBody>
      </p:sp>
      <p:sp>
        <p:nvSpPr>
          <p:cNvPr id="439" name="Mk 22"/>
          <p:cNvSpPr/>
          <p:nvPr/>
        </p:nvSpPr>
        <p:spPr>
          <a:xfrm>
            <a:off x="9982200" y="6026150"/>
            <a:ext cx="114300" cy="114300"/>
          </a:xfrm>
          <a:prstGeom prst="roundRect">
            <a:avLst/>
          </a:prstGeom>
          <a:solidFill>
            <a:srgbClr val="C000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 sz="1100"/>
          </a:p>
        </p:txBody>
      </p:sp>
      <p:sp>
        <p:nvSpPr>
          <p:cNvPr id="460" name="Rule 401"/>
          <p:cNvSpPr/>
          <p:nvPr/>
        </p:nvSpPr>
        <p:spPr>
          <a:xfrm>
            <a:off x="609600" y="4787900"/>
            <a:ext cx="5715000" cy="952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61" name="Rule 421"/>
          <p:cNvSpPr/>
          <p:nvPr/>
        </p:nvSpPr>
        <p:spPr>
          <a:xfrm>
            <a:off x="6731000" y="4787900"/>
            <a:ext cx="5105400" cy="952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98A379B-077D-14C7-D1F4-9B8833765249}"/>
              </a:ext>
            </a:extLst>
          </p:cNvPr>
          <p:cNvSpPr/>
          <p:nvPr/>
        </p:nvSpPr>
        <p:spPr>
          <a:xfrm>
            <a:off x="502022" y="905472"/>
            <a:ext cx="11435976" cy="60328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171450" indent="-171450">
              <a:spcAft>
                <a:spcPts val="200"/>
              </a:spcAft>
              <a:buSzPct val="110000"/>
              <a:buFont typeface="Wingdings" panose="05000000000000000000" pitchFamily="2" charset="2"/>
              <a:buChar char="§"/>
            </a:pPr>
            <a:r>
              <a:rPr lang="pt-BR" sz="1100" dirty="0">
                <a:solidFill>
                  <a:schemeClr val="tx1"/>
                </a:solidFill>
              </a:rPr>
              <a:t>O objetivo destes exemplos é ilustrar o impacto que a classificação da Transação como Combinação de Negócios ou como Joint </a:t>
            </a:r>
            <a:r>
              <a:rPr lang="pt-BR" sz="1100" dirty="0" err="1">
                <a:solidFill>
                  <a:schemeClr val="tx1"/>
                </a:solidFill>
              </a:rPr>
              <a:t>Operation</a:t>
            </a:r>
            <a:r>
              <a:rPr lang="pt-BR" sz="1100" dirty="0">
                <a:solidFill>
                  <a:schemeClr val="tx1"/>
                </a:solidFill>
              </a:rPr>
              <a:t> pode gerar no caso de venda futura da participação remanescente de 60% da </a:t>
            </a:r>
            <a:r>
              <a:rPr lang="pt-BR" sz="1100" dirty="0" err="1">
                <a:solidFill>
                  <a:schemeClr val="tx1"/>
                </a:solidFill>
              </a:rPr>
              <a:t>Embracon</a:t>
            </a:r>
            <a:r>
              <a:rPr lang="pt-BR" sz="1100" dirty="0">
                <a:solidFill>
                  <a:schemeClr val="tx1"/>
                </a:solidFill>
              </a:rPr>
              <a:t>. Para isso, simulamos a venda com (i) preço inferior ao EV atual; (</a:t>
            </a:r>
            <a:r>
              <a:rPr lang="pt-BR" sz="1100" dirty="0" err="1">
                <a:solidFill>
                  <a:schemeClr val="tx1"/>
                </a:solidFill>
              </a:rPr>
              <a:t>ii</a:t>
            </a:r>
            <a:r>
              <a:rPr lang="pt-BR" sz="1100" dirty="0">
                <a:solidFill>
                  <a:schemeClr val="tx1"/>
                </a:solidFill>
              </a:rPr>
              <a:t>) preço idêntico ao EV atual; e (</a:t>
            </a:r>
            <a:r>
              <a:rPr lang="pt-BR" sz="1100" dirty="0" err="1">
                <a:solidFill>
                  <a:schemeClr val="tx1"/>
                </a:solidFill>
              </a:rPr>
              <a:t>iii</a:t>
            </a:r>
            <a:r>
              <a:rPr lang="pt-BR" sz="1100" dirty="0">
                <a:solidFill>
                  <a:schemeClr val="tx1"/>
                </a:solidFill>
              </a:rPr>
              <a:t>) preço superior ao EV atual. Também ilustrativamente, testamos esses impactos em uma venda pelas próprias Holdings ou pelas </a:t>
            </a:r>
            <a:r>
              <a:rPr lang="pt-BR" sz="1100" dirty="0" err="1">
                <a:solidFill>
                  <a:schemeClr val="tx1"/>
                </a:solidFill>
              </a:rPr>
              <a:t>PFs</a:t>
            </a:r>
            <a:r>
              <a:rPr lang="pt-BR" sz="1100" dirty="0">
                <a:solidFill>
                  <a:schemeClr val="tx1"/>
                </a:solidFill>
              </a:rPr>
              <a:t> (com alíquota simplificada de 22,5% sobre o ganho de capital).</a:t>
            </a:r>
            <a:endParaRPr lang="pt-BR" sz="11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827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3674FA92-D0D1-E7D2-A2EF-8378C5D126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1807" y="3099230"/>
            <a:ext cx="5488387" cy="654528"/>
          </a:xfrm>
          <a:prstGeom prst="rect">
            <a:avLst/>
          </a:prstGeom>
        </p:spPr>
      </p:pic>
      <p:sp>
        <p:nvSpPr>
          <p:cNvPr id="2" name="object 2"/>
          <p:cNvSpPr/>
          <p:nvPr/>
        </p:nvSpPr>
        <p:spPr>
          <a:xfrm>
            <a:off x="935076" y="1085835"/>
            <a:ext cx="0" cy="1126618"/>
          </a:xfrm>
          <a:custGeom>
            <a:avLst/>
            <a:gdLst/>
            <a:ahLst/>
            <a:cxnLst/>
            <a:rect l="l" t="t" r="r" b="b"/>
            <a:pathLst>
              <a:path h="1877695">
                <a:moveTo>
                  <a:pt x="0" y="1877514"/>
                </a:moveTo>
                <a:lnTo>
                  <a:pt x="0" y="0"/>
                </a:lnTo>
              </a:path>
            </a:pathLst>
          </a:custGeom>
          <a:ln w="6667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defTabSz="548640"/>
            <a:endParaRPr sz="1080" kern="0">
              <a:solidFill>
                <a:sysClr val="windowText" lastClr="000000"/>
              </a:solidFill>
              <a:latin typeface="Calibri" panose="020F0502020204030204" pitchFamily="34" charset="0"/>
              <a:ea typeface="Geneva" pitchFamily="123" charset="-128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066018" y="2003731"/>
            <a:ext cx="0" cy="885444"/>
          </a:xfrm>
          <a:custGeom>
            <a:avLst/>
            <a:gdLst/>
            <a:ahLst/>
            <a:cxnLst/>
            <a:rect l="l" t="t" r="r" b="b"/>
            <a:pathLst>
              <a:path h="1475739">
                <a:moveTo>
                  <a:pt x="0" y="1475275"/>
                </a:moveTo>
                <a:lnTo>
                  <a:pt x="0" y="0"/>
                </a:lnTo>
              </a:path>
            </a:pathLst>
          </a:custGeom>
          <a:ln w="6667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defTabSz="548640"/>
            <a:endParaRPr sz="1080" kern="0">
              <a:solidFill>
                <a:sysClr val="windowText" lastClr="000000"/>
              </a:solidFill>
              <a:latin typeface="Calibri" panose="020F0502020204030204" pitchFamily="34" charset="0"/>
              <a:ea typeface="Geneva" pitchFamily="123" charset="-128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066004" y="3426494"/>
            <a:ext cx="0" cy="321946"/>
          </a:xfrm>
          <a:custGeom>
            <a:avLst/>
            <a:gdLst/>
            <a:ahLst/>
            <a:cxnLst/>
            <a:rect l="l" t="t" r="r" b="b"/>
            <a:pathLst>
              <a:path h="536575">
                <a:moveTo>
                  <a:pt x="0" y="536518"/>
                </a:moveTo>
                <a:lnTo>
                  <a:pt x="0" y="0"/>
                </a:lnTo>
              </a:path>
            </a:pathLst>
          </a:custGeom>
          <a:ln w="6667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defTabSz="548640"/>
            <a:endParaRPr sz="1080" kern="0">
              <a:solidFill>
                <a:sysClr val="windowText" lastClr="000000"/>
              </a:solidFill>
              <a:latin typeface="Calibri" panose="020F0502020204030204" pitchFamily="34" charset="0"/>
              <a:ea typeface="Geneva" pitchFamily="123" charset="-128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55094" y="4922032"/>
            <a:ext cx="1062990" cy="974980"/>
            <a:chOff x="575821" y="7631885"/>
            <a:chExt cx="1771650" cy="1624965"/>
          </a:xfrm>
        </p:grpSpPr>
        <p:sp>
          <p:nvSpPr>
            <p:cNvPr id="6" name="object 6"/>
            <p:cNvSpPr/>
            <p:nvPr/>
          </p:nvSpPr>
          <p:spPr>
            <a:xfrm>
              <a:off x="575821" y="7631885"/>
              <a:ext cx="1124585" cy="1142365"/>
            </a:xfrm>
            <a:custGeom>
              <a:avLst/>
              <a:gdLst/>
              <a:ahLst/>
              <a:cxnLst/>
              <a:rect l="l" t="t" r="r" b="b"/>
              <a:pathLst>
                <a:path w="1124585" h="1142365">
                  <a:moveTo>
                    <a:pt x="1124349" y="1142045"/>
                  </a:moveTo>
                  <a:lnTo>
                    <a:pt x="0" y="1142045"/>
                  </a:lnTo>
                  <a:lnTo>
                    <a:pt x="0" y="0"/>
                  </a:lnTo>
                  <a:lnTo>
                    <a:pt x="1124349" y="0"/>
                  </a:lnTo>
                  <a:lnTo>
                    <a:pt x="1124349" y="1142045"/>
                  </a:lnTo>
                  <a:close/>
                </a:path>
              </a:pathLst>
            </a:custGeom>
            <a:solidFill>
              <a:srgbClr val="FFFFFF">
                <a:alpha val="13999"/>
              </a:srgbClr>
            </a:solidFill>
          </p:spPr>
          <p:txBody>
            <a:bodyPr wrap="square" lIns="0" tIns="0" rIns="0" bIns="0" rtlCol="0"/>
            <a:lstStyle/>
            <a:p>
              <a:pPr defTabSz="548640"/>
              <a:endParaRPr sz="1080" kern="0">
                <a:solidFill>
                  <a:sysClr val="windowText" lastClr="000000"/>
                </a:solidFill>
                <a:latin typeface="Calibri" panose="020F0502020204030204" pitchFamily="34" charset="0"/>
                <a:ea typeface="Geneva" pitchFamily="123" charset="-128"/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1950" y="7951401"/>
              <a:ext cx="1304924" cy="1304924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9387842" y="5067380"/>
            <a:ext cx="1585081" cy="846707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7620" marR="3048" indent="451486" algn="r" defTabSz="548640">
              <a:lnSpc>
                <a:spcPct val="114700"/>
              </a:lnSpc>
              <a:spcBef>
                <a:spcPts val="60"/>
              </a:spcBef>
            </a:pPr>
            <a:r>
              <a:rPr sz="93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sz="930" kern="0" spc="-156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Ã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sz="930" kern="0" spc="2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16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</a:t>
            </a:r>
            <a:r>
              <a:rPr sz="930" kern="0" spc="-156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3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</a:t>
            </a:r>
            <a:endParaRPr lang="pt-BR" sz="930" kern="0" spc="-3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620" marR="3048" indent="451486" algn="r" defTabSz="548640">
              <a:lnSpc>
                <a:spcPct val="114700"/>
              </a:lnSpc>
              <a:spcBef>
                <a:spcPts val="60"/>
              </a:spcBef>
            </a:pP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sz="930" kern="0" spc="-156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6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sz="930" kern="0" spc="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sz="930" kern="0" spc="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6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sz="930" kern="0" spc="-156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6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sz="930" kern="0" spc="-156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3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sz="930" kern="0" spc="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pt-BR" sz="930" kern="0" spc="3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620" marR="3048" indent="451486" algn="r" defTabSz="548640">
              <a:lnSpc>
                <a:spcPct val="114700"/>
              </a:lnSpc>
              <a:spcBef>
                <a:spcPts val="60"/>
              </a:spcBef>
            </a:pP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sz="930" kern="0" spc="-156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16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sz="930" kern="0" spc="256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sz="930" kern="0" spc="-156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6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sz="930" kern="0" spc="-156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3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  <a:endParaRPr sz="930" kern="0" dirty="0"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7818" marR="3048" indent="571500" algn="r" defTabSz="548640">
              <a:lnSpc>
                <a:spcPct val="114700"/>
              </a:lnSpc>
            </a:pP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6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Í</a:t>
            </a:r>
            <a:r>
              <a:rPr sz="930" kern="0" spc="-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16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6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3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</a:t>
            </a:r>
            <a:endParaRPr lang="pt-BR" sz="930" kern="0" spc="-3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7818" marR="3048" indent="571500" algn="r" defTabSz="548640">
              <a:lnSpc>
                <a:spcPct val="114700"/>
              </a:lnSpc>
            </a:pP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6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6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Ã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sz="930" kern="0" spc="258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3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</a:t>
            </a:r>
            <a:endParaRPr sz="930" kern="0" dirty="0"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02083" y="5561616"/>
            <a:ext cx="1472946" cy="314061"/>
          </a:xfrm>
          <a:prstGeom prst="rect">
            <a:avLst/>
          </a:prstGeom>
        </p:spPr>
        <p:txBody>
          <a:bodyPr vert="horz" wrap="square" lIns="0" tIns="7240" rIns="0" bIns="0" rtlCol="0">
            <a:spAutoFit/>
          </a:bodyPr>
          <a:lstStyle/>
          <a:p>
            <a:pPr marL="7620" marR="3048" defTabSz="548640">
              <a:lnSpc>
                <a:spcPct val="114300"/>
              </a:lnSpc>
              <a:spcBef>
                <a:spcPts val="58"/>
              </a:spcBef>
            </a:pPr>
            <a:r>
              <a:rPr sz="90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Escaneie</a:t>
            </a:r>
            <a:r>
              <a:rPr sz="900" kern="0" spc="-1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0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sz="900" kern="0" spc="-6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0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QR</a:t>
            </a:r>
            <a:r>
              <a:rPr sz="900" kern="0" spc="-1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0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</a:t>
            </a:r>
            <a:r>
              <a:rPr sz="900" kern="0" spc="-6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0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 </a:t>
            </a:r>
            <a:r>
              <a:rPr sz="90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acessar</a:t>
            </a:r>
            <a:r>
              <a:rPr sz="900" kern="0" spc="-16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0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nossas</a:t>
            </a:r>
            <a:r>
              <a:rPr sz="90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redes</a:t>
            </a:r>
            <a:endParaRPr sz="900" kern="0" dirty="0"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object 14">
            <a:extLst>
              <a:ext uri="{FF2B5EF4-FFF2-40B4-BE49-F238E27FC236}">
                <a16:creationId xmlns:a16="http://schemas.microsoft.com/office/drawing/2014/main" id="{AC44AFBC-A49A-363C-7A16-D8390A23EE80}"/>
              </a:ext>
            </a:extLst>
          </p:cNvPr>
          <p:cNvSpPr txBox="1"/>
          <p:nvPr/>
        </p:nvSpPr>
        <p:spPr>
          <a:xfrm>
            <a:off x="5229606" y="764826"/>
            <a:ext cx="1732788" cy="136577"/>
          </a:xfrm>
          <a:prstGeom prst="rect">
            <a:avLst/>
          </a:prstGeom>
        </p:spPr>
        <p:txBody>
          <a:bodyPr vert="horz" wrap="square" lIns="0" tIns="7240" rIns="0" bIns="0" rtlCol="0">
            <a:spAutoFit/>
          </a:bodyPr>
          <a:lstStyle/>
          <a:p>
            <a:pPr marL="7620" algn="ctr" defTabSz="548640">
              <a:spcBef>
                <a:spcPts val="58"/>
              </a:spcBef>
            </a:pPr>
            <a:r>
              <a:rPr sz="84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sz="840" kern="0" spc="8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4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sz="840" kern="0" spc="84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4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sz="840" kern="0" spc="8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4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sz="840" kern="0" spc="84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4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sz="840" kern="0" spc="84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4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sz="840" kern="0" spc="8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4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sz="840" kern="0" spc="84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4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sz="840" kern="0" spc="8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4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sz="840" kern="0" spc="84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4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sz="840" kern="0" spc="84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4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sz="840" kern="0" spc="8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4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sz="840" kern="0" spc="84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4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sz="840" kern="0" spc="8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4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sz="840" kern="0" spc="84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4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sz="840" kern="0" spc="84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4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sz="840" kern="0" spc="8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4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sz="840" kern="0" spc="84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4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sz="840" kern="0" spc="8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4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sz="840" kern="0" spc="84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40" kern="0" spc="-3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endParaRPr sz="840" kern="0" dirty="0"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  <wetp:taskpane dockstate="right" visibility="0" width="350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E8F5486F-9FC1-4A15-91CE-3D7D4B7681B7}">
  <we:reference id="wa104379997" version="3.0.0.0" store="pt-BR" storeType="OMEX"/>
  <we:alternateReferences>
    <we:reference id="wa104379997" version="3.0.0.0" store="wa104379997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AF52DC28-11C4-40EA-BF05-3EF98A6D2C5D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3f9679ad-9759-4310-a93d-20c26d4bb37f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6706F4D205BC14CBF5FDF38141D2F2A" ma:contentTypeVersion="5" ma:contentTypeDescription="Crie um novo documento." ma:contentTypeScope="" ma:versionID="07f0b873b7b2e95787a93c4402f37cb4">
  <xsd:schema xmlns:xsd="http://www.w3.org/2001/XMLSchema" xmlns:xs="http://www.w3.org/2001/XMLSchema" xmlns:p="http://schemas.microsoft.com/office/2006/metadata/properties" xmlns:ns3="cef3cd8f-459e-46df-8b5b-dd38627cea28" targetNamespace="http://schemas.microsoft.com/office/2006/metadata/properties" ma:root="true" ma:fieldsID="572a9d532d5b39f9d5820f149cd9d16d" ns3:_="">
    <xsd:import namespace="cef3cd8f-459e-46df-8b5b-dd38627cea28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f3cd8f-459e-46df-8b5b-dd38627cea28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ef3cd8f-459e-46df-8b5b-dd38627cea28" xsi:nil="true"/>
  </documentManagement>
</p:properties>
</file>

<file path=customXml/itemProps1.xml><?xml version="1.0" encoding="utf-8"?>
<ds:datastoreItem xmlns:ds="http://schemas.openxmlformats.org/officeDocument/2006/customXml" ds:itemID="{2470D411-F0AA-4369-919B-EEEC5D88A5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FE51A57-13DD-4855-87E5-28D7A389384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ef3cd8f-459e-46df-8b5b-dd38627cea2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5533A1A-BAAD-4CD9-BAAA-A1BB732470FD}">
  <ds:schemaRefs>
    <ds:schemaRef ds:uri="http://purl.org/dc/dcmitype/"/>
    <ds:schemaRef ds:uri="cef3cd8f-459e-46df-8b5b-dd38627cea28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schemas.microsoft.com/office/2006/metadata/properties"/>
    <ds:schemaRef ds:uri="http://purl.org/dc/elements/1.1/"/>
  </ds:schemaRefs>
</ds:datastoreItem>
</file>

<file path=docMetadata/LabelInfo.xml><?xml version="1.0" encoding="utf-8"?>
<clbl:labelList xmlns:clbl="http://schemas.microsoft.com/office/2020/mipLabelMetadata">
  <clbl:label id="{bf63df5a-c6cb-4032-936b-ad25a04dd3dd}" enabled="1" method="Standard" siteId="{ea803e51-b7dd-4b01-9f98-6ad769db2115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60372</TotalTime>
  <Words>1031</Words>
  <Application>Microsoft Office PowerPoint</Application>
  <PresentationFormat>Widescreen</PresentationFormat>
  <Paragraphs>128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</vt:i4>
      </vt:variant>
    </vt:vector>
  </HeadingPairs>
  <TitlesOfParts>
    <vt:vector size="15" baseType="lpstr">
      <vt:lpstr>Aptos</vt:lpstr>
      <vt:lpstr>Arial</vt:lpstr>
      <vt:lpstr>Calibri</vt:lpstr>
      <vt:lpstr>Gotham</vt:lpstr>
      <vt:lpstr>Gotham Bold</vt:lpstr>
      <vt:lpstr>Times New Roman</vt:lpstr>
      <vt:lpstr>Wingdings</vt:lpstr>
      <vt:lpstr>Office Theme</vt:lpstr>
      <vt:lpstr>3_Office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Ana Carolina Calado Brandão | Stocche Forbes Advogados</dc:creator>
  <cp:lastModifiedBy>Caue Costa Silva | Stocche Forbes Advogados</cp:lastModifiedBy>
  <cp:revision>201</cp:revision>
  <dcterms:created xsi:type="dcterms:W3CDTF">2024-01-23T12:37:59Z</dcterms:created>
  <dcterms:modified xsi:type="dcterms:W3CDTF">2026-08-31T22:14:12Z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0x01010096706F4D205BC14CBF5FDF38141D2F2A</vt:lpwstr>
  </property>
  <property fmtid="{D5CDD505-2E9C-101B-9397-08002B2CF9AE}" pid="3" name="MediaServiceImageTags">
    <vt:lpwstr/>
  </property>
</Properties>
</file>