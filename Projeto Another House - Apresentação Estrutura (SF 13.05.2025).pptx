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991" r:id="rId6"/>
  </p:sldMasterIdLst>
  <p:notesMasterIdLst>
    <p:notesMasterId r:id="rId17"/>
  </p:notesMasterIdLst>
  <p:handoutMasterIdLst>
    <p:handoutMasterId r:id="rId18"/>
  </p:handoutMasterIdLst>
  <p:sldIdLst>
    <p:sldId id="5196" r:id="rId7"/>
    <p:sldId id="5184" r:id="rId8"/>
    <p:sldId id="5186" r:id="rId9"/>
    <p:sldId id="5191" r:id="rId10"/>
    <p:sldId id="5253" r:id="rId11"/>
    <p:sldId id="5254" r:id="rId12"/>
    <p:sldId id="5210" r:id="rId13"/>
    <p:sldId id="5197" r:id="rId14"/>
    <p:sldId id="5192" r:id="rId15"/>
    <p:sldId id="268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5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BBBDA1-F5A7-B274-31B9-00116FB908DE}" name="Paloma Campagnoli Matos | Stocche Forbes Advogados" initials="PCM|SFA" userId="S::pmatos@stoccheforbes.com.br::583c284d-2a43-4781-afa3-6a12f58a0f0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0600"/>
    <a:srgbClr val="EB0600"/>
    <a:srgbClr val="30455E"/>
    <a:srgbClr val="587DAA"/>
    <a:srgbClr val="F2F2F2"/>
    <a:srgbClr val="D9D9D9"/>
    <a:srgbClr val="446580"/>
    <a:srgbClr val="000000"/>
    <a:srgbClr val="2C4152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6374" autoAdjust="0"/>
  </p:normalViewPr>
  <p:slideViewPr>
    <p:cSldViewPr snapToGrid="0">
      <p:cViewPr varScale="1">
        <p:scale>
          <a:sx n="75" d="100"/>
          <a:sy n="75" d="100"/>
        </p:scale>
        <p:origin x="412" y="30"/>
      </p:cViewPr>
      <p:guideLst>
        <p:guide pos="365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6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B953871-AE4A-4E57-7A01-097F66A3D1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A5D9A0-CD62-74FE-2F71-3F28F2D7CF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E5181-5DDE-4467-9665-E9961D17CA5A}" type="datetimeFigureOut">
              <a:rPr lang="pt-BR" smtClean="0"/>
              <a:t>13/05/2025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033E9D0-B3FB-7337-54A8-BC69457DC0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B59C15-DE16-EBC1-762D-F439AD4E65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4BEEA-A6C2-40BA-933D-1C421A257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73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EDEA5-15A1-44C6-8555-33648E07E80F}" type="datetimeFigureOut">
              <a:rPr lang="pt-BR" smtClean="0"/>
              <a:t>13/05/2025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07EDC-03E0-4048-9E10-CC2E47DD7A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84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nio.com/fr/architecture-fr/batiments/fenetre-architecture-batiment-exterieur-verre-contemporain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C42F03BC-0BD2-7E49-A53D-49453D2E7952}"/>
              </a:ext>
            </a:extLst>
          </p:cNvPr>
          <p:cNvSpPr txBox="1"/>
          <p:nvPr userDrawn="1"/>
        </p:nvSpPr>
        <p:spPr>
          <a:xfrm>
            <a:off x="8171579" y="6390720"/>
            <a:ext cx="3766421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33" dirty="0">
                <a:solidFill>
                  <a:schemeClr val="bg1">
                    <a:lumMod val="65000"/>
                  </a:schemeClr>
                </a:solidFill>
                <a:cs typeface="Times New Roman" panose="02020603050405020304" pitchFamily="18" charset="0"/>
              </a:rPr>
              <a:t>São Paulo | Rio de Janeiro | Belo Horizonte | Brasília | Ribeirão Preto </a:t>
            </a:r>
            <a:endParaRPr lang="pt-BR" sz="933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8F8B94F-F04E-03BB-6637-9E39102EC8FA}"/>
              </a:ext>
            </a:extLst>
          </p:cNvPr>
          <p:cNvCxnSpPr>
            <a:cxnSpLocks/>
          </p:cNvCxnSpPr>
          <p:nvPr userDrawn="1"/>
        </p:nvCxnSpPr>
        <p:spPr>
          <a:xfrm>
            <a:off x="209943" y="6347561"/>
            <a:ext cx="1172805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B5BFBAE4-AC7A-B338-A617-8EFC7F9DC0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12" y="6445479"/>
            <a:ext cx="1492896" cy="178038"/>
          </a:xfrm>
          <a:prstGeom prst="rect">
            <a:avLst/>
          </a:prstGeom>
        </p:spPr>
      </p:pic>
      <p:sp>
        <p:nvSpPr>
          <p:cNvPr id="14" name="object 4">
            <a:extLst>
              <a:ext uri="{FF2B5EF4-FFF2-40B4-BE49-F238E27FC236}">
                <a16:creationId xmlns:a16="http://schemas.microsoft.com/office/drawing/2014/main" id="{5CF6CF74-FDAD-2B5C-9E81-A97AFF25392B}"/>
              </a:ext>
            </a:extLst>
          </p:cNvPr>
          <p:cNvSpPr/>
          <p:nvPr userDrawn="1"/>
        </p:nvSpPr>
        <p:spPr>
          <a:xfrm>
            <a:off x="514660" y="330200"/>
            <a:ext cx="508000" cy="543257"/>
          </a:xfrm>
          <a:custGeom>
            <a:avLst/>
            <a:gdLst/>
            <a:ahLst/>
            <a:cxnLst/>
            <a:rect l="l" t="t" r="r" b="b"/>
            <a:pathLst>
              <a:path h="1630680">
                <a:moveTo>
                  <a:pt x="0" y="1630255"/>
                </a:moveTo>
                <a:lnTo>
                  <a:pt x="0" y="0"/>
                </a:lnTo>
              </a:path>
            </a:pathLst>
          </a:custGeom>
          <a:ln w="47624">
            <a:solidFill>
              <a:srgbClr val="E50600"/>
            </a:solidFill>
          </a:ln>
        </p:spPr>
        <p:txBody>
          <a:bodyPr wrap="square" lIns="0" tIns="0" rIns="0" bIns="0" rtlCol="0"/>
          <a:lstStyle/>
          <a:p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069752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Arranha-céus abstratos em arte de linha">
            <a:extLst>
              <a:ext uri="{FF2B5EF4-FFF2-40B4-BE49-F238E27FC236}">
                <a16:creationId xmlns:a16="http://schemas.microsoft.com/office/drawing/2014/main" id="{48945A31-61F6-D47B-BD49-FF4DBB4458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effectLst/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7C71A1E-353F-F1A5-AB3F-3BF8FDEFEE70}"/>
              </a:ext>
            </a:extLst>
          </p:cNvPr>
          <p:cNvSpPr/>
          <p:nvPr userDrawn="1"/>
        </p:nvSpPr>
        <p:spPr>
          <a:xfrm>
            <a:off x="1" y="-543"/>
            <a:ext cx="12191999" cy="6880860"/>
          </a:xfrm>
          <a:prstGeom prst="rect">
            <a:avLst/>
          </a:prstGeom>
          <a:solidFill>
            <a:srgbClr val="C00000">
              <a:alpha val="102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1501"/>
            <a:endParaRPr lang="pt-BR" sz="3240">
              <a:solidFill>
                <a:prstClr val="white"/>
              </a:solidFill>
              <a:latin typeface="Open Sans"/>
            </a:endParaRPr>
          </a:p>
        </p:txBody>
      </p:sp>
      <p:sp>
        <p:nvSpPr>
          <p:cNvPr id="41" name="Retângulo 1">
            <a:extLst>
              <a:ext uri="{FF2B5EF4-FFF2-40B4-BE49-F238E27FC236}">
                <a16:creationId xmlns:a16="http://schemas.microsoft.com/office/drawing/2014/main" id="{FA22CBF6-A0AF-A5D9-C4D4-58CF42213EAB}"/>
              </a:ext>
            </a:extLst>
          </p:cNvPr>
          <p:cNvSpPr/>
          <p:nvPr userDrawn="1"/>
        </p:nvSpPr>
        <p:spPr>
          <a:xfrm>
            <a:off x="-1" y="-39727"/>
            <a:ext cx="12191999" cy="6903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1501"/>
            <a:endParaRPr lang="pt-BR" sz="3240" dirty="0">
              <a:solidFill>
                <a:prstClr val="white"/>
              </a:solidFill>
              <a:latin typeface="Open Sans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5189B4C4-2817-D09C-1881-882A293F8D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200" y="547637"/>
            <a:ext cx="2257654" cy="269240"/>
          </a:xfrm>
          <a:prstGeom prst="rect">
            <a:avLst/>
          </a:prstGeom>
        </p:spPr>
      </p:pic>
      <p:sp>
        <p:nvSpPr>
          <p:cNvPr id="36" name="object 6">
            <a:extLst>
              <a:ext uri="{FF2B5EF4-FFF2-40B4-BE49-F238E27FC236}">
                <a16:creationId xmlns:a16="http://schemas.microsoft.com/office/drawing/2014/main" id="{B7DF1A88-ACC8-261E-7254-53484FE069B9}"/>
              </a:ext>
            </a:extLst>
          </p:cNvPr>
          <p:cNvSpPr/>
          <p:nvPr userDrawn="1"/>
        </p:nvSpPr>
        <p:spPr>
          <a:xfrm>
            <a:off x="685749" y="1065173"/>
            <a:ext cx="1608437" cy="4727787"/>
          </a:xfrm>
          <a:custGeom>
            <a:avLst/>
            <a:gdLst/>
            <a:ahLst/>
            <a:cxnLst/>
            <a:rect l="l" t="t" r="r" b="b"/>
            <a:pathLst>
              <a:path w="2320924" h="7091680">
                <a:moveTo>
                  <a:pt x="2320874" y="2273"/>
                </a:moveTo>
                <a:lnTo>
                  <a:pt x="2249386" y="2273"/>
                </a:lnTo>
                <a:lnTo>
                  <a:pt x="2249386" y="0"/>
                </a:lnTo>
                <a:lnTo>
                  <a:pt x="2286" y="0"/>
                </a:lnTo>
                <a:lnTo>
                  <a:pt x="2286" y="2235"/>
                </a:lnTo>
                <a:lnTo>
                  <a:pt x="0" y="2235"/>
                </a:lnTo>
                <a:lnTo>
                  <a:pt x="0" y="7089114"/>
                </a:lnTo>
                <a:lnTo>
                  <a:pt x="2286" y="7089114"/>
                </a:lnTo>
                <a:lnTo>
                  <a:pt x="2286" y="7091489"/>
                </a:lnTo>
                <a:lnTo>
                  <a:pt x="2249386" y="7091489"/>
                </a:lnTo>
                <a:lnTo>
                  <a:pt x="2249386" y="6948614"/>
                </a:lnTo>
                <a:lnTo>
                  <a:pt x="142875" y="6948614"/>
                </a:lnTo>
                <a:lnTo>
                  <a:pt x="142875" y="142875"/>
                </a:lnTo>
                <a:lnTo>
                  <a:pt x="2177999" y="142875"/>
                </a:lnTo>
                <a:lnTo>
                  <a:pt x="2177999" y="1578571"/>
                </a:lnTo>
                <a:lnTo>
                  <a:pt x="2320874" y="1578571"/>
                </a:lnTo>
                <a:lnTo>
                  <a:pt x="2320874" y="2273"/>
                </a:lnTo>
                <a:close/>
              </a:path>
            </a:pathLst>
          </a:custGeom>
          <a:solidFill>
            <a:srgbClr val="E10912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39" name="object 9">
            <a:extLst>
              <a:ext uri="{FF2B5EF4-FFF2-40B4-BE49-F238E27FC236}">
                <a16:creationId xmlns:a16="http://schemas.microsoft.com/office/drawing/2014/main" id="{809920B4-C8AB-FC30-9844-9952F98FB703}"/>
              </a:ext>
            </a:extLst>
          </p:cNvPr>
          <p:cNvSpPr txBox="1"/>
          <p:nvPr userDrawn="1"/>
        </p:nvSpPr>
        <p:spPr>
          <a:xfrm>
            <a:off x="8432800" y="5820091"/>
            <a:ext cx="3082149" cy="355781"/>
          </a:xfrm>
          <a:prstGeom prst="rect">
            <a:avLst/>
          </a:prstGeom>
        </p:spPr>
        <p:txBody>
          <a:bodyPr vert="horz" wrap="square" lIns="0" tIns="32173" rIns="0" bIns="0" rtlCol="0">
            <a:spAutoFit/>
          </a:bodyPr>
          <a:lstStyle/>
          <a:p>
            <a:pPr marR="3387" algn="r">
              <a:lnSpc>
                <a:spcPct val="100000"/>
              </a:lnSpc>
              <a:spcBef>
                <a:spcPts val="253"/>
              </a:spcBef>
            </a:pPr>
            <a:r>
              <a:rPr sz="967" spc="-7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sz="967" spc="-103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7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7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967" spc="-103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2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2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2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13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967" spc="-103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17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53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2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4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967" spc="-103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17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2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967" spc="-103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2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23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4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967" spc="-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67" spc="-33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sz="967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3387" algn="r">
              <a:lnSpc>
                <a:spcPct val="100000"/>
              </a:lnSpc>
              <a:spcBef>
                <a:spcPts val="190"/>
              </a:spcBef>
            </a:pPr>
            <a:r>
              <a:rPr lang="pt-BR" sz="967" spc="-2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SÃO PAULO</a:t>
            </a:r>
            <a:r>
              <a:rPr sz="967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967" spc="32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967" spc="-17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</a:t>
            </a:r>
            <a:endParaRPr sz="967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object 14">
            <a:extLst>
              <a:ext uri="{FF2B5EF4-FFF2-40B4-BE49-F238E27FC236}">
                <a16:creationId xmlns:a16="http://schemas.microsoft.com/office/drawing/2014/main" id="{A7F95E71-B9E5-8C2B-2994-C26B6B012BBD}"/>
              </a:ext>
            </a:extLst>
          </p:cNvPr>
          <p:cNvSpPr/>
          <p:nvPr userDrawn="1"/>
        </p:nvSpPr>
        <p:spPr>
          <a:xfrm>
            <a:off x="10818073" y="5591665"/>
            <a:ext cx="688340" cy="88900"/>
          </a:xfrm>
          <a:custGeom>
            <a:avLst/>
            <a:gdLst/>
            <a:ahLst/>
            <a:cxnLst/>
            <a:rect l="l" t="t" r="r" b="b"/>
            <a:pathLst>
              <a:path w="1032509" h="133350">
                <a:moveTo>
                  <a:pt x="1032080" y="133349"/>
                </a:moveTo>
                <a:lnTo>
                  <a:pt x="0" y="133349"/>
                </a:lnTo>
                <a:lnTo>
                  <a:pt x="0" y="0"/>
                </a:lnTo>
                <a:lnTo>
                  <a:pt x="1032080" y="0"/>
                </a:lnTo>
                <a:lnTo>
                  <a:pt x="1032080" y="13334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2BD32799-92B9-E335-3FDA-BD79A9635E1F}"/>
              </a:ext>
            </a:extLst>
          </p:cNvPr>
          <p:cNvSpPr/>
          <p:nvPr userDrawn="1"/>
        </p:nvSpPr>
        <p:spPr>
          <a:xfrm rot="10800000" flipH="1">
            <a:off x="685587" y="1077980"/>
            <a:ext cx="1608598" cy="4754918"/>
          </a:xfrm>
          <a:custGeom>
            <a:avLst/>
            <a:gdLst/>
            <a:ahLst/>
            <a:cxnLst/>
            <a:rect l="l" t="t" r="r" b="b"/>
            <a:pathLst>
              <a:path w="2320924" h="7091680">
                <a:moveTo>
                  <a:pt x="2320874" y="2273"/>
                </a:moveTo>
                <a:lnTo>
                  <a:pt x="2249386" y="2273"/>
                </a:lnTo>
                <a:lnTo>
                  <a:pt x="2249386" y="0"/>
                </a:lnTo>
                <a:lnTo>
                  <a:pt x="2286" y="0"/>
                </a:lnTo>
                <a:lnTo>
                  <a:pt x="2286" y="2235"/>
                </a:lnTo>
                <a:lnTo>
                  <a:pt x="0" y="2235"/>
                </a:lnTo>
                <a:lnTo>
                  <a:pt x="0" y="7089114"/>
                </a:lnTo>
                <a:lnTo>
                  <a:pt x="2286" y="7089114"/>
                </a:lnTo>
                <a:lnTo>
                  <a:pt x="2286" y="7091489"/>
                </a:lnTo>
                <a:lnTo>
                  <a:pt x="2249386" y="7091489"/>
                </a:lnTo>
                <a:lnTo>
                  <a:pt x="2249386" y="6948614"/>
                </a:lnTo>
                <a:lnTo>
                  <a:pt x="142875" y="6948614"/>
                </a:lnTo>
                <a:lnTo>
                  <a:pt x="142875" y="142875"/>
                </a:lnTo>
                <a:lnTo>
                  <a:pt x="2177999" y="142875"/>
                </a:lnTo>
                <a:lnTo>
                  <a:pt x="2177999" y="1578571"/>
                </a:lnTo>
                <a:lnTo>
                  <a:pt x="2320874" y="1578571"/>
                </a:lnTo>
                <a:lnTo>
                  <a:pt x="2320874" y="2273"/>
                </a:lnTo>
                <a:close/>
              </a:path>
            </a:pathLst>
          </a:custGeom>
          <a:solidFill>
            <a:srgbClr val="E10912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07856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7FD455A-6C52-6D68-8E8E-F440B3B37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80860"/>
          </a:xfrm>
          <a:prstGeom prst="rect">
            <a:avLst/>
          </a:prstGeom>
        </p:spPr>
      </p:pic>
      <p:sp>
        <p:nvSpPr>
          <p:cNvPr id="6" name="Retângulo 1">
            <a:extLst>
              <a:ext uri="{FF2B5EF4-FFF2-40B4-BE49-F238E27FC236}">
                <a16:creationId xmlns:a16="http://schemas.microsoft.com/office/drawing/2014/main" id="{28DE83C9-B18A-CF53-9CAC-CE101BC24E94}"/>
              </a:ext>
            </a:extLst>
          </p:cNvPr>
          <p:cNvSpPr/>
          <p:nvPr userDrawn="1"/>
        </p:nvSpPr>
        <p:spPr>
          <a:xfrm>
            <a:off x="1" y="0"/>
            <a:ext cx="12191999" cy="6880860"/>
          </a:xfrm>
          <a:prstGeom prst="rect">
            <a:avLst/>
          </a:prstGeom>
          <a:solidFill>
            <a:srgbClr val="3B3838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1501"/>
            <a:endParaRPr lang="pt-BR" sz="3240">
              <a:solidFill>
                <a:prstClr val="white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81088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Design 3D de uma cidade em branco">
            <a:extLst>
              <a:ext uri="{FF2B5EF4-FFF2-40B4-BE49-F238E27FC236}">
                <a16:creationId xmlns:a16="http://schemas.microsoft.com/office/drawing/2014/main" id="{E7FD455A-6C52-6D68-8E8E-F440B3B37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854B950-DA42-4FAC-7D21-DA6106B2F575}"/>
              </a:ext>
            </a:extLst>
          </p:cNvPr>
          <p:cNvSpPr/>
          <p:nvPr userDrawn="1"/>
        </p:nvSpPr>
        <p:spPr>
          <a:xfrm>
            <a:off x="1" y="0"/>
            <a:ext cx="12191999" cy="6880860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1501"/>
            <a:endParaRPr lang="pt-BR" sz="3240">
              <a:solidFill>
                <a:prstClr val="white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3979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1"/>
            <a:ext cx="10363200" cy="563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418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160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3975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7" name="bg object 17"/>
          <p:cNvSpPr/>
          <p:nvPr/>
        </p:nvSpPr>
        <p:spPr>
          <a:xfrm>
            <a:off x="11229284" y="1"/>
            <a:ext cx="76200" cy="2336377"/>
          </a:xfrm>
          <a:custGeom>
            <a:avLst/>
            <a:gdLst/>
            <a:ahLst/>
            <a:cxnLst/>
            <a:rect l="l" t="t" r="r" b="b"/>
            <a:pathLst>
              <a:path w="114300" h="3504565">
                <a:moveTo>
                  <a:pt x="0" y="3504086"/>
                </a:moveTo>
                <a:lnTo>
                  <a:pt x="0" y="0"/>
                </a:lnTo>
                <a:lnTo>
                  <a:pt x="114299" y="0"/>
                </a:lnTo>
                <a:lnTo>
                  <a:pt x="114299" y="3504086"/>
                </a:lnTo>
                <a:lnTo>
                  <a:pt x="0" y="35040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8" name="bg object 18"/>
          <p:cNvSpPr/>
          <p:nvPr/>
        </p:nvSpPr>
        <p:spPr>
          <a:xfrm>
            <a:off x="11267367" y="2863227"/>
            <a:ext cx="0" cy="1141730"/>
          </a:xfrm>
          <a:custGeom>
            <a:avLst/>
            <a:gdLst/>
            <a:ahLst/>
            <a:cxnLst/>
            <a:rect l="l" t="t" r="r" b="b"/>
            <a:pathLst>
              <a:path h="1712595">
                <a:moveTo>
                  <a:pt x="0" y="1712182"/>
                </a:moveTo>
                <a:lnTo>
                  <a:pt x="0" y="0"/>
                </a:lnTo>
              </a:path>
            </a:pathLst>
          </a:custGeom>
          <a:ln w="1142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9" name="bg object 19"/>
          <p:cNvSpPr/>
          <p:nvPr/>
        </p:nvSpPr>
        <p:spPr>
          <a:xfrm>
            <a:off x="11614552" y="6172200"/>
            <a:ext cx="577851" cy="685800"/>
          </a:xfrm>
          <a:custGeom>
            <a:avLst/>
            <a:gdLst/>
            <a:ahLst/>
            <a:cxnLst/>
            <a:rect l="l" t="t" r="r" b="b"/>
            <a:pathLst>
              <a:path w="866775" h="1028700">
                <a:moveTo>
                  <a:pt x="866172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866172" y="0"/>
                </a:lnTo>
                <a:lnTo>
                  <a:pt x="866172" y="1028700"/>
                </a:lnTo>
                <a:close/>
              </a:path>
            </a:pathLst>
          </a:custGeom>
          <a:solidFill>
            <a:srgbClr val="FFFFFF">
              <a:alpha val="13999"/>
            </a:srgbClr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0" name="bg object 20"/>
          <p:cNvSpPr/>
          <p:nvPr/>
        </p:nvSpPr>
        <p:spPr>
          <a:xfrm>
            <a:off x="685801" y="685801"/>
            <a:ext cx="2851151" cy="1066376"/>
          </a:xfrm>
          <a:custGeom>
            <a:avLst/>
            <a:gdLst/>
            <a:ahLst/>
            <a:cxnLst/>
            <a:rect l="l" t="t" r="r" b="b"/>
            <a:pathLst>
              <a:path w="4276725" h="1599564">
                <a:moveTo>
                  <a:pt x="4276453" y="1599033"/>
                </a:moveTo>
                <a:lnTo>
                  <a:pt x="0" y="1599033"/>
                </a:lnTo>
                <a:lnTo>
                  <a:pt x="0" y="0"/>
                </a:lnTo>
                <a:lnTo>
                  <a:pt x="4276453" y="0"/>
                </a:lnTo>
                <a:lnTo>
                  <a:pt x="4276453" y="1599033"/>
                </a:lnTo>
                <a:close/>
              </a:path>
            </a:pathLst>
          </a:custGeom>
          <a:solidFill>
            <a:srgbClr val="FFFFFF">
              <a:alpha val="13999"/>
            </a:srgbClr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459" y="984017"/>
            <a:ext cx="2622549" cy="4699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8889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2089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2692" y="25390"/>
            <a:ext cx="5073227" cy="397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6079" y="2504294"/>
            <a:ext cx="7257627" cy="2169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6BA47-CBC8-4C00-9ED1-12E02FC3942B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83667" y="6604284"/>
            <a:ext cx="309033" cy="385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4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45720">
              <a:lnSpc>
                <a:spcPts val="1488"/>
              </a:lnSpc>
            </a:pPr>
            <a:fld id="{81D60167-4931-47E6-BA6A-407CBD079E47}" type="slidenum">
              <a:rPr dirty="0"/>
              <a:pPr marL="45720">
                <a:lnSpc>
                  <a:spcPts val="1488"/>
                </a:lnSpc>
              </a:pPr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70" r:id="rId2"/>
    <p:sldLayoutId id="2147484173" r:id="rId3"/>
    <p:sldLayoutId id="2147484174" r:id="rId4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>
              <a:alpha val="30309"/>
            </a:srgbClr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938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1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125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4320">
        <a:defRPr>
          <a:latin typeface="+mn-lt"/>
          <a:ea typeface="+mn-ea"/>
          <a:cs typeface="+mn-cs"/>
        </a:defRPr>
      </a:lvl2pPr>
      <a:lvl3pPr marL="548640">
        <a:defRPr>
          <a:latin typeface="+mn-lt"/>
          <a:ea typeface="+mn-ea"/>
          <a:cs typeface="+mn-cs"/>
        </a:defRPr>
      </a:lvl3pPr>
      <a:lvl4pPr marL="822960">
        <a:defRPr>
          <a:latin typeface="+mn-lt"/>
          <a:ea typeface="+mn-ea"/>
          <a:cs typeface="+mn-cs"/>
        </a:defRPr>
      </a:lvl4pPr>
      <a:lvl5pPr marL="1097280">
        <a:defRPr>
          <a:latin typeface="+mn-lt"/>
          <a:ea typeface="+mn-ea"/>
          <a:cs typeface="+mn-cs"/>
        </a:defRPr>
      </a:lvl5pPr>
      <a:lvl6pPr marL="1371600">
        <a:defRPr>
          <a:latin typeface="+mn-lt"/>
          <a:ea typeface="+mn-ea"/>
          <a:cs typeface="+mn-cs"/>
        </a:defRPr>
      </a:lvl6pPr>
      <a:lvl7pPr marL="1645920">
        <a:defRPr>
          <a:latin typeface="+mn-lt"/>
          <a:ea typeface="+mn-ea"/>
          <a:cs typeface="+mn-cs"/>
        </a:defRPr>
      </a:lvl7pPr>
      <a:lvl8pPr marL="1920240">
        <a:defRPr>
          <a:latin typeface="+mn-lt"/>
          <a:ea typeface="+mn-ea"/>
          <a:cs typeface="+mn-cs"/>
        </a:defRPr>
      </a:lvl8pPr>
      <a:lvl9pPr marL="219456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4320">
        <a:defRPr>
          <a:latin typeface="+mn-lt"/>
          <a:ea typeface="+mn-ea"/>
          <a:cs typeface="+mn-cs"/>
        </a:defRPr>
      </a:lvl2pPr>
      <a:lvl3pPr marL="548640">
        <a:defRPr>
          <a:latin typeface="+mn-lt"/>
          <a:ea typeface="+mn-ea"/>
          <a:cs typeface="+mn-cs"/>
        </a:defRPr>
      </a:lvl3pPr>
      <a:lvl4pPr marL="822960">
        <a:defRPr>
          <a:latin typeface="+mn-lt"/>
          <a:ea typeface="+mn-ea"/>
          <a:cs typeface="+mn-cs"/>
        </a:defRPr>
      </a:lvl4pPr>
      <a:lvl5pPr marL="1097280">
        <a:defRPr>
          <a:latin typeface="+mn-lt"/>
          <a:ea typeface="+mn-ea"/>
          <a:cs typeface="+mn-cs"/>
        </a:defRPr>
      </a:lvl5pPr>
      <a:lvl6pPr marL="1371600">
        <a:defRPr>
          <a:latin typeface="+mn-lt"/>
          <a:ea typeface="+mn-ea"/>
          <a:cs typeface="+mn-cs"/>
        </a:defRPr>
      </a:lvl6pPr>
      <a:lvl7pPr marL="1645920">
        <a:defRPr>
          <a:latin typeface="+mn-lt"/>
          <a:ea typeface="+mn-ea"/>
          <a:cs typeface="+mn-cs"/>
        </a:defRPr>
      </a:lvl7pPr>
      <a:lvl8pPr marL="1920240">
        <a:defRPr>
          <a:latin typeface="+mn-lt"/>
          <a:ea typeface="+mn-ea"/>
          <a:cs typeface="+mn-cs"/>
        </a:defRPr>
      </a:lvl8pPr>
      <a:lvl9pPr marL="219456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93907-3171-D214-05BC-DBF134FF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6">
            <a:extLst>
              <a:ext uri="{FF2B5EF4-FFF2-40B4-BE49-F238E27FC236}">
                <a16:creationId xmlns:a16="http://schemas.microsoft.com/office/drawing/2014/main" id="{F4EC0861-CE34-BCA1-6D26-F9142A128672}"/>
              </a:ext>
            </a:extLst>
          </p:cNvPr>
          <p:cNvSpPr txBox="1">
            <a:spLocks/>
          </p:cNvSpPr>
          <p:nvPr/>
        </p:nvSpPr>
        <p:spPr>
          <a:xfrm>
            <a:off x="8478672" y="5209988"/>
            <a:ext cx="3130623" cy="2428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58613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  <a:cs typeface="+mn-cs"/>
              </a:defRPr>
            </a:lvl1pPr>
            <a:lvl2pPr marL="586130" algn="l" defTabSz="58613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  <a:cs typeface="+mn-cs"/>
              </a:defRPr>
            </a:lvl2pPr>
            <a:lvl3pPr marL="1172261" algn="l" defTabSz="58613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  <a:cs typeface="+mn-cs"/>
              </a:defRPr>
            </a:lvl3pPr>
            <a:lvl4pPr marL="1758391" algn="l" defTabSz="58613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  <a:cs typeface="+mn-cs"/>
              </a:defRPr>
            </a:lvl4pPr>
            <a:lvl5pPr marL="2344522" algn="l" defTabSz="58613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  <a:cs typeface="+mn-cs"/>
              </a:defRPr>
            </a:lvl5pPr>
            <a:lvl6pPr marL="2930652" algn="l" defTabSz="1172261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  <a:cs typeface="+mn-cs"/>
              </a:defRPr>
            </a:lvl6pPr>
            <a:lvl7pPr marL="3516782" algn="l" defTabSz="1172261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  <a:cs typeface="+mn-cs"/>
              </a:defRPr>
            </a:lvl7pPr>
            <a:lvl8pPr marL="4102913" algn="l" defTabSz="1172261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  <a:cs typeface="+mn-cs"/>
              </a:defRPr>
            </a:lvl8pPr>
            <a:lvl9pPr marL="4689043" algn="l" defTabSz="1172261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Geneva" pitchFamily="123" charset="-128"/>
                <a:cs typeface="+mn-cs"/>
              </a:defRPr>
            </a:lvl9pPr>
          </a:lstStyle>
          <a:p>
            <a:pPr algn="r" defTabSz="44440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cap="small" dirty="0">
                <a:solidFill>
                  <a:schemeClr val="bg1"/>
                </a:solidFill>
                <a:latin typeface="Calibri"/>
                <a:ea typeface="Verdana"/>
                <a:cs typeface="Calibri" panose="020F0502020204030204" pitchFamily="34" charset="0"/>
              </a:rPr>
              <a:t>12 de Maio de 2025</a:t>
            </a:r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F574D16F-C88E-0CEB-D7D6-EF9986967457}"/>
              </a:ext>
            </a:extLst>
          </p:cNvPr>
          <p:cNvSpPr txBox="1">
            <a:spLocks/>
          </p:cNvSpPr>
          <p:nvPr/>
        </p:nvSpPr>
        <p:spPr>
          <a:xfrm>
            <a:off x="1436465" y="2836356"/>
            <a:ext cx="9625982" cy="1529137"/>
          </a:xfrm>
          <a:prstGeom prst="rect">
            <a:avLst/>
          </a:prstGeom>
        </p:spPr>
        <p:txBody>
          <a:bodyPr vert="horz" wrap="square" lIns="0" tIns="5588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5080"/>
            <a:r>
              <a:rPr lang="pt-BR" sz="4300" b="1" cap="small" spc="-4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 </a:t>
            </a:r>
            <a:r>
              <a:rPr lang="pt-BR" sz="4300" b="1" cap="small" spc="-4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Another</a:t>
            </a:r>
            <a:r>
              <a:rPr lang="pt-BR" sz="4300" b="1" cap="small" spc="-4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4300" b="1" cap="small" spc="-4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</a:t>
            </a:r>
            <a:br>
              <a:rPr lang="pt-BR" sz="3334" b="1" cap="small" spc="-4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sz="2800" b="1" cap="small" spc="-4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080"/>
            <a:r>
              <a:rPr lang="pt-BR" sz="2800" i="1" cap="small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estrutura societária – aspectos jurídicos</a:t>
            </a:r>
          </a:p>
        </p:txBody>
      </p:sp>
      <p:pic>
        <p:nvPicPr>
          <p:cNvPr id="1026" name="Picture 2" descr="Consórcio Embracon - Consorcio embracon é bom">
            <a:extLst>
              <a:ext uri="{FF2B5EF4-FFF2-40B4-BE49-F238E27FC236}">
                <a16:creationId xmlns:a16="http://schemas.microsoft.com/office/drawing/2014/main" id="{8D96C4EF-9BC3-3CA1-9432-ECA36FE4E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997" y="339305"/>
            <a:ext cx="1179248" cy="74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265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0C545-E036-A999-CEF2-14F670262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18D9364-34C4-E6F3-E97E-84977513EBB8}"/>
              </a:ext>
            </a:extLst>
          </p:cNvPr>
          <p:cNvSpPr txBox="1">
            <a:spLocks/>
          </p:cNvSpPr>
          <p:nvPr/>
        </p:nvSpPr>
        <p:spPr>
          <a:xfrm>
            <a:off x="609602" y="382496"/>
            <a:ext cx="9906000" cy="447622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6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Fatos e Premissas</a:t>
            </a:r>
            <a:endParaRPr lang="pt-BR" sz="2600" b="1" cap="small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22FC90-B2F9-6248-19D7-7B4800B45F99}"/>
              </a:ext>
            </a:extLst>
          </p:cNvPr>
          <p:cNvSpPr txBox="1"/>
          <p:nvPr/>
        </p:nvSpPr>
        <p:spPr>
          <a:xfrm>
            <a:off x="345440" y="1065622"/>
            <a:ext cx="11369040" cy="4339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r>
              <a:rPr lang="pt-BR" sz="1200" dirty="0">
                <a:latin typeface="+mn-lt"/>
                <a:ea typeface="Geneva" charset="0"/>
              </a:rPr>
              <a:t>De acordo com as informações disponibilizadas, o Grupo Embracon e o Grupo CNP pretendem realizar uma combinação de determinados negócios </a:t>
            </a:r>
            <a:r>
              <a:rPr lang="pt-BR" sz="1200" dirty="0">
                <a:ea typeface="Geneva" charset="0"/>
              </a:rPr>
              <a:t>(“</a:t>
            </a:r>
            <a:r>
              <a:rPr lang="pt-BR" sz="1200" u="sng" dirty="0">
                <a:ea typeface="Geneva" charset="0"/>
              </a:rPr>
              <a:t>Operação</a:t>
            </a:r>
            <a:r>
              <a:rPr lang="pt-BR" sz="1200" dirty="0">
                <a:ea typeface="Geneva" charset="0"/>
              </a:rPr>
              <a:t>”), por meio da qual</a:t>
            </a:r>
            <a:r>
              <a:rPr lang="pt-BR" sz="1200" dirty="0">
                <a:latin typeface="+mn-lt"/>
                <a:ea typeface="Geneva" charset="0"/>
              </a:rPr>
              <a:t> </a:t>
            </a:r>
            <a:r>
              <a:rPr lang="pt-BR" sz="1200" dirty="0">
                <a:ea typeface="Geneva" charset="0"/>
              </a:rPr>
              <a:t>CNP e Grupo </a:t>
            </a:r>
            <a:r>
              <a:rPr lang="pt-BR" sz="1200" dirty="0" err="1">
                <a:ea typeface="Geneva" charset="0"/>
              </a:rPr>
              <a:t>Embracon</a:t>
            </a:r>
            <a:r>
              <a:rPr lang="pt-BR" sz="1200" dirty="0">
                <a:ea typeface="Geneva" charset="0"/>
              </a:rPr>
              <a:t> passarão a ser sócios de uma plataforma atuante no mercado de consórcios composta pela </a:t>
            </a:r>
            <a:r>
              <a:rPr lang="pt-BR" sz="1200" dirty="0" err="1">
                <a:ea typeface="Geneva" charset="0"/>
              </a:rPr>
              <a:t>Embracon</a:t>
            </a:r>
            <a:r>
              <a:rPr lang="pt-BR" sz="1200" dirty="0">
                <a:ea typeface="Geneva" charset="0"/>
              </a:rPr>
              <a:t> e CNP Consórcios (“</a:t>
            </a:r>
            <a:r>
              <a:rPr lang="pt-BR" sz="1200" u="sng" dirty="0">
                <a:ea typeface="Geneva" charset="0"/>
              </a:rPr>
              <a:t>Plataforma Consórcios</a:t>
            </a:r>
            <a:r>
              <a:rPr lang="pt-BR" sz="1200" dirty="0">
                <a:ea typeface="Geneva" charset="0"/>
              </a:rPr>
              <a:t>”). Adicionalmente, as partes acordaram desenvolver o setor de franquias, visando o fortalecimento e expansão da nova Plataforma Consórcios a ser formada pela combinação de negócios (“</a:t>
            </a:r>
            <a:r>
              <a:rPr lang="pt-BR" sz="1200" u="sng" dirty="0">
                <a:ea typeface="Geneva" charset="0"/>
              </a:rPr>
              <a:t>Plataforma Franquias</a:t>
            </a:r>
            <a:r>
              <a:rPr lang="pt-BR" sz="1200" dirty="0">
                <a:ea typeface="Geneva" charset="0"/>
              </a:rPr>
              <a:t>”). A</a:t>
            </a:r>
            <a:r>
              <a:rPr lang="pt-BR" sz="1200" dirty="0">
                <a:latin typeface="+mn-lt"/>
                <a:ea typeface="Geneva" charset="0"/>
              </a:rPr>
              <a:t> participação societária final na Plataforma Consórcio será dividida na proporção de </a:t>
            </a:r>
            <a:r>
              <a:rPr lang="pt-BR" sz="1200" u="sng" dirty="0">
                <a:latin typeface="+mn-lt"/>
                <a:ea typeface="Geneva" charset="0"/>
              </a:rPr>
              <a:t>60% para o Grupo Embracon e 40% para o Grupo CNP</a:t>
            </a:r>
            <a:r>
              <a:rPr lang="pt-BR" sz="1200" dirty="0">
                <a:latin typeface="+mn-lt"/>
                <a:ea typeface="Geneva" charset="0"/>
              </a:rPr>
              <a:t>. A participação societária final na Plataforma Franquias será dividida na proporção de </a:t>
            </a:r>
            <a:r>
              <a:rPr lang="pt-BR" sz="1200" u="sng" dirty="0">
                <a:latin typeface="+mn-lt"/>
                <a:ea typeface="Geneva" charset="0"/>
              </a:rPr>
              <a:t>75% para o Grupo </a:t>
            </a:r>
            <a:r>
              <a:rPr lang="pt-BR" sz="1200" u="sng" dirty="0" err="1">
                <a:latin typeface="+mn-lt"/>
                <a:ea typeface="Geneva" charset="0"/>
              </a:rPr>
              <a:t>Embracon</a:t>
            </a:r>
            <a:r>
              <a:rPr lang="pt-BR" sz="1200" u="sng" dirty="0">
                <a:latin typeface="+mn-lt"/>
                <a:ea typeface="Geneva" charset="0"/>
              </a:rPr>
              <a:t> e 25% para o Grupo CNP</a:t>
            </a:r>
            <a:r>
              <a:rPr lang="pt-BR" sz="1200" dirty="0">
                <a:latin typeface="+mn-lt"/>
                <a:ea typeface="Geneva" charset="0"/>
              </a:rPr>
              <a:t>, sujeito ao direito futuro da CNP de aumentar a participação na Plataforma Franquias para 40%</a:t>
            </a:r>
          </a:p>
          <a:p>
            <a:pPr marL="171450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endParaRPr lang="pt-BR" sz="1200" dirty="0">
              <a:ea typeface="Geneva" charset="0"/>
            </a:endParaRPr>
          </a:p>
          <a:p>
            <a:pPr marL="171450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r>
              <a:rPr lang="pt-BR" sz="1200" dirty="0">
                <a:latin typeface="+mn-lt"/>
                <a:ea typeface="Geneva" charset="0"/>
              </a:rPr>
              <a:t>A Operação seria realizada via </a:t>
            </a:r>
            <a:r>
              <a:rPr lang="pt-BR" sz="1200" b="1" dirty="0">
                <a:latin typeface="+mn-lt"/>
                <a:ea typeface="Geneva" charset="0"/>
              </a:rPr>
              <a:t>(i)</a:t>
            </a:r>
            <a:r>
              <a:rPr lang="pt-BR" sz="1200" dirty="0">
                <a:latin typeface="+mn-lt"/>
                <a:ea typeface="Geneva" charset="0"/>
              </a:rPr>
              <a:t> troca das participações da CNP Consórcio S.A. Administradora de Consórcios (“</a:t>
            </a:r>
            <a:r>
              <a:rPr lang="pt-BR" sz="1200" u="sng" dirty="0">
                <a:latin typeface="+mn-lt"/>
                <a:ea typeface="Geneva" charset="0"/>
              </a:rPr>
              <a:t>CNP Consórcio</a:t>
            </a:r>
            <a:r>
              <a:rPr lang="pt-BR" sz="1200" dirty="0">
                <a:latin typeface="+mn-lt"/>
                <a:ea typeface="Geneva" charset="0"/>
              </a:rPr>
              <a:t>”) e das </a:t>
            </a:r>
            <a:r>
              <a:rPr lang="pt-BR" sz="1200" i="1" dirty="0">
                <a:latin typeface="+mn-lt"/>
                <a:ea typeface="Geneva" charset="0"/>
              </a:rPr>
              <a:t>holdings</a:t>
            </a:r>
            <a:r>
              <a:rPr lang="pt-BR" sz="1200" dirty="0">
                <a:latin typeface="+mn-lt"/>
                <a:ea typeface="Geneva" charset="0"/>
              </a:rPr>
              <a:t> detentoras das ações de emissão da Embracon Administradora de Consórcio Ltda.  (“</a:t>
            </a:r>
            <a:r>
              <a:rPr lang="pt-BR" sz="1200" u="sng" dirty="0" err="1">
                <a:latin typeface="+mn-lt"/>
                <a:ea typeface="Geneva" charset="0"/>
              </a:rPr>
              <a:t>Embracon</a:t>
            </a:r>
            <a:r>
              <a:rPr lang="pt-BR" sz="1200" dirty="0">
                <a:latin typeface="+mn-lt"/>
                <a:ea typeface="Geneva" charset="0"/>
              </a:rPr>
              <a:t>”) e da </a:t>
            </a:r>
            <a:r>
              <a:rPr lang="pt-BR" sz="1200" dirty="0" err="1">
                <a:ea typeface="Geneva" charset="0"/>
              </a:rPr>
              <a:t>Embracon</a:t>
            </a:r>
            <a:r>
              <a:rPr lang="pt-BR" sz="1200" dirty="0">
                <a:ea typeface="Geneva" charset="0"/>
              </a:rPr>
              <a:t> Franchising</a:t>
            </a:r>
            <a:r>
              <a:rPr lang="pt-BR" sz="1200" dirty="0">
                <a:latin typeface="+mn-lt"/>
                <a:ea typeface="Geneva" charset="0"/>
              </a:rPr>
              <a:t> Ltda. (</a:t>
            </a:r>
            <a:r>
              <a:rPr lang="pt-BR" sz="1200" dirty="0">
                <a:ea typeface="Geneva" charset="0"/>
              </a:rPr>
              <a:t>“</a:t>
            </a:r>
            <a:r>
              <a:rPr lang="pt-BR" sz="1200" u="sng" dirty="0" err="1">
                <a:ea typeface="Geneva" charset="0"/>
              </a:rPr>
              <a:t>Embracon</a:t>
            </a:r>
            <a:r>
              <a:rPr lang="pt-BR" sz="1200" u="sng" dirty="0">
                <a:ea typeface="Geneva" charset="0"/>
              </a:rPr>
              <a:t> Franchising</a:t>
            </a:r>
            <a:r>
              <a:rPr lang="pt-BR" sz="1200" dirty="0">
                <a:ea typeface="Geneva" charset="0"/>
              </a:rPr>
              <a:t>”) </a:t>
            </a:r>
            <a:r>
              <a:rPr lang="pt-BR" sz="1200" dirty="0">
                <a:latin typeface="+mn-lt"/>
                <a:ea typeface="Geneva" charset="0"/>
              </a:rPr>
              <a:t>(tais </a:t>
            </a:r>
            <a:r>
              <a:rPr lang="pt-BR" sz="1200" i="1" dirty="0">
                <a:latin typeface="+mn-lt"/>
                <a:ea typeface="Geneva" charset="0"/>
              </a:rPr>
              <a:t>holdings</a:t>
            </a:r>
            <a:r>
              <a:rPr lang="pt-BR" sz="1200" dirty="0">
                <a:latin typeface="+mn-lt"/>
                <a:ea typeface="Geneva" charset="0"/>
              </a:rPr>
              <a:t>, a </a:t>
            </a:r>
            <a:r>
              <a:rPr lang="pt-BR" sz="1200" dirty="0" err="1"/>
              <a:t>Savian</a:t>
            </a:r>
            <a:r>
              <a:rPr lang="pt-BR" sz="1200" dirty="0"/>
              <a:t> de Participações e</a:t>
            </a:r>
            <a:r>
              <a:rPr lang="pt-BR" sz="1200" b="1" dirty="0"/>
              <a:t> </a:t>
            </a:r>
            <a:r>
              <a:rPr lang="pt-BR" sz="1200" dirty="0"/>
              <a:t>a Companhia JVFJ de Participações, as </a:t>
            </a:r>
            <a:r>
              <a:rPr lang="pt-BR" sz="1200" dirty="0">
                <a:latin typeface="+mn-lt"/>
                <a:ea typeface="Geneva" charset="0"/>
              </a:rPr>
              <a:t>“</a:t>
            </a:r>
            <a:r>
              <a:rPr lang="pt-BR" sz="1200" u="sng" dirty="0">
                <a:latin typeface="+mn-lt"/>
                <a:ea typeface="Geneva" charset="0"/>
              </a:rPr>
              <a:t>Holdings </a:t>
            </a:r>
            <a:r>
              <a:rPr lang="pt-BR" sz="1200" u="sng" dirty="0" err="1">
                <a:ea typeface="Geneva" charset="0"/>
              </a:rPr>
              <a:t>Embracon</a:t>
            </a:r>
            <a:r>
              <a:rPr lang="pt-BR" sz="1200" dirty="0">
                <a:ea typeface="Geneva" charset="0"/>
              </a:rPr>
              <a:t>”</a:t>
            </a:r>
            <a:r>
              <a:rPr lang="pt-BR" sz="1200" dirty="0">
                <a:latin typeface="+mn-lt"/>
                <a:ea typeface="Geneva" charset="0"/>
              </a:rPr>
              <a:t>); e </a:t>
            </a:r>
            <a:r>
              <a:rPr lang="pt-BR" sz="1200" b="1" dirty="0">
                <a:latin typeface="+mn-lt"/>
                <a:ea typeface="Geneva" charset="0"/>
              </a:rPr>
              <a:t>(ii) </a:t>
            </a:r>
            <a:r>
              <a:rPr lang="pt-BR" sz="1200" dirty="0">
                <a:latin typeface="+mn-lt"/>
                <a:ea typeface="Geneva" charset="0"/>
              </a:rPr>
              <a:t>pagamento em dinheiro pelo Grupo CNP ao Grupo Embracon</a:t>
            </a:r>
            <a:r>
              <a:rPr lang="pt-BR" sz="1200" dirty="0"/>
              <a:t>, a ser estruturado da seguinte forma:</a:t>
            </a:r>
          </a:p>
          <a:p>
            <a:pPr marL="171450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endParaRPr lang="pt-BR" sz="1200" dirty="0">
              <a:ea typeface="Geneva" charset="0"/>
            </a:endParaRPr>
          </a:p>
          <a:p>
            <a:pPr marL="628650" lvl="1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r>
              <a:rPr lang="pt-BR" sz="1200" dirty="0">
                <a:ea typeface="Geneva" charset="0"/>
              </a:rPr>
              <a:t>Parcela em dinheiro à vista na data de fechamento da transação; e</a:t>
            </a:r>
          </a:p>
          <a:p>
            <a:pPr marL="628650" lvl="1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endParaRPr lang="pt-BR" sz="1200" dirty="0">
              <a:ea typeface="Geneva" charset="0"/>
            </a:endParaRPr>
          </a:p>
          <a:p>
            <a:pPr marL="628650" lvl="1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r>
              <a:rPr lang="pt-BR" sz="1200" dirty="0">
                <a:ea typeface="Geneva" charset="0"/>
              </a:rPr>
              <a:t>Parcela contingente, atrelada ao desempenho operacional nos anos de 2026 a 2028.</a:t>
            </a:r>
          </a:p>
          <a:p>
            <a:pPr algn="just">
              <a:buClr>
                <a:srgbClr val="C00000"/>
              </a:buClr>
              <a:tabLst>
                <a:tab pos="263525" algn="l"/>
              </a:tabLst>
            </a:pPr>
            <a:endParaRPr lang="pt-BR" sz="1200" dirty="0">
              <a:latin typeface="+mn-lt"/>
              <a:ea typeface="Geneva" charset="0"/>
            </a:endParaRPr>
          </a:p>
          <a:p>
            <a:pPr marL="171450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r>
              <a:rPr lang="pt-BR" sz="1200" dirty="0">
                <a:latin typeface="+mn-lt"/>
                <a:ea typeface="Geneva" charset="0"/>
              </a:rPr>
              <a:t>Nesse contexto, esta apresentação tem como objetivo descrever a estrutura proposta para implementação da Operação.</a:t>
            </a:r>
          </a:p>
          <a:p>
            <a:pPr marL="171450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endParaRPr lang="pt-BR" sz="1200" dirty="0">
              <a:ea typeface="Geneva" charset="0"/>
            </a:endParaRPr>
          </a:p>
          <a:p>
            <a:pPr marL="171450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r>
              <a:rPr lang="pt-BR" sz="1200" dirty="0">
                <a:latin typeface="+mn-lt"/>
                <a:ea typeface="Geneva" charset="0"/>
              </a:rPr>
              <a:t>A disponibilização desta apresentação a terceiros (que não </a:t>
            </a:r>
            <a:r>
              <a:rPr lang="pt-BR" sz="1200" dirty="0">
                <a:ea typeface="Geneva" charset="0"/>
              </a:rPr>
              <a:t>o Grupo </a:t>
            </a:r>
            <a:r>
              <a:rPr lang="pt-BR" sz="1200" dirty="0" err="1">
                <a:ea typeface="Geneva" charset="0"/>
              </a:rPr>
              <a:t>Embracon</a:t>
            </a:r>
            <a:r>
              <a:rPr lang="pt-BR" sz="1200" dirty="0">
                <a:ea typeface="Geneva" charset="0"/>
              </a:rPr>
              <a:t>) </a:t>
            </a:r>
            <a:r>
              <a:rPr lang="pt-BR" sz="1200" dirty="0">
                <a:latin typeface="+mn-lt"/>
                <a:ea typeface="Geneva" charset="0"/>
              </a:rPr>
              <a:t>está condicionada à nossa prévia e expressa autorização e, caso tal autorização seja concedida, não será criado qualquer vínculo obrigacional entre o Stocche Forbes Advogados e referido terceiro.</a:t>
            </a:r>
          </a:p>
          <a:p>
            <a:pPr marL="171450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endParaRPr lang="pt-BR" sz="1200" dirty="0">
              <a:latin typeface="+mn-lt"/>
              <a:ea typeface="Geneva" charset="0"/>
            </a:endParaRPr>
          </a:p>
          <a:p>
            <a:pPr marL="171450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r>
              <a:rPr lang="pt-BR" sz="1200" dirty="0">
                <a:latin typeface="+mn-lt"/>
                <a:ea typeface="Geneva" charset="0"/>
              </a:rPr>
              <a:t>A apresentação foi elaborada com base na legislação vigente à época do estudo, conforme posicionamento atualizado da jurisprudência sobre a matéria, em consideração aos fatos e documentos a nós fornecidos. Eventuais alterações à legislação em vigor e à jurisprudência aplicáveis às matérias analisadas podem alterar o conteúdo.</a:t>
            </a:r>
            <a:endParaRPr lang="pt-BR" sz="1200" dirty="0">
              <a:latin typeface="+mn-lt"/>
              <a:cs typeface="Calibri" panose="020F0502020204030204" pitchFamily="34" charset="0"/>
            </a:endParaRPr>
          </a:p>
          <a:p>
            <a:pPr marL="171450" indent="-171450" algn="just">
              <a:buClr>
                <a:srgbClr val="C00000"/>
              </a:buClr>
              <a:buFont typeface="Wingdings" panose="05000000000000000000" pitchFamily="2" charset="2"/>
              <a:buChar char="§"/>
              <a:tabLst>
                <a:tab pos="263525" algn="l"/>
              </a:tabLst>
            </a:pPr>
            <a:endParaRPr lang="pt-BR" sz="1200" dirty="0">
              <a:ea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90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99751-1336-03E8-3B65-35165FF1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0547363-61EF-9E65-E256-55FFB1971ED3}"/>
              </a:ext>
            </a:extLst>
          </p:cNvPr>
          <p:cNvSpPr txBox="1">
            <a:spLocks/>
          </p:cNvSpPr>
          <p:nvPr/>
        </p:nvSpPr>
        <p:spPr>
          <a:xfrm>
            <a:off x="609602" y="382496"/>
            <a:ext cx="9906000" cy="447622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6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Grupos Societários</a:t>
            </a:r>
            <a:endParaRPr lang="pt-BR" sz="2600" b="1" cap="small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07370C2-6FEA-D9E8-1422-C7B82DBE0EE8}"/>
              </a:ext>
            </a:extLst>
          </p:cNvPr>
          <p:cNvGrpSpPr/>
          <p:nvPr/>
        </p:nvGrpSpPr>
        <p:grpSpPr>
          <a:xfrm>
            <a:off x="2057778" y="2304958"/>
            <a:ext cx="822308" cy="751993"/>
            <a:chOff x="1996622" y="1342429"/>
            <a:chExt cx="822308" cy="751993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7E326C8F-F93E-F842-45EA-B7B2986C1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CrisscrossEtching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39182" y="1342429"/>
              <a:ext cx="501329" cy="501329"/>
            </a:xfrm>
            <a:prstGeom prst="rect">
              <a:avLst/>
            </a:prstGeom>
            <a:ln>
              <a:noFill/>
            </a:ln>
          </p:spPr>
        </p:pic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EFAD20F-76B5-2700-3AF7-46902FA0C18F}"/>
                </a:ext>
              </a:extLst>
            </p:cNvPr>
            <p:cNvSpPr txBox="1"/>
            <p:nvPr/>
          </p:nvSpPr>
          <p:spPr>
            <a:xfrm>
              <a:off x="1996622" y="1848201"/>
              <a:ext cx="82230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 err="1"/>
                <a:t>PFs</a:t>
              </a:r>
              <a:r>
                <a:rPr lang="pt-BR" sz="1000" dirty="0"/>
                <a:t> (</a:t>
              </a:r>
              <a:r>
                <a:rPr lang="pt-BR" sz="1000" dirty="0" err="1"/>
                <a:t>Savian</a:t>
              </a:r>
              <a:r>
                <a:rPr lang="pt-BR" sz="1000" dirty="0"/>
                <a:t>)</a:t>
              </a:r>
            </a:p>
          </p:txBody>
        </p:sp>
      </p:grpSp>
      <p:sp>
        <p:nvSpPr>
          <p:cNvPr id="95" name="Retângulo 94">
            <a:extLst>
              <a:ext uri="{FF2B5EF4-FFF2-40B4-BE49-F238E27FC236}">
                <a16:creationId xmlns:a16="http://schemas.microsoft.com/office/drawing/2014/main" id="{277A7D28-4DC9-0F5E-597C-212F85CD7DB1}"/>
              </a:ext>
            </a:extLst>
          </p:cNvPr>
          <p:cNvSpPr/>
          <p:nvPr/>
        </p:nvSpPr>
        <p:spPr>
          <a:xfrm>
            <a:off x="8522257" y="1703246"/>
            <a:ext cx="1011905" cy="4616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00" b="1" dirty="0">
                <a:solidFill>
                  <a:schemeClr val="bg1"/>
                </a:solidFill>
              </a:rPr>
              <a:t>CNP </a:t>
            </a:r>
          </a:p>
          <a:p>
            <a:pPr algn="ctr"/>
            <a:r>
              <a:rPr lang="pt-BR" sz="1000" b="1" dirty="0" err="1">
                <a:solidFill>
                  <a:schemeClr val="bg1"/>
                </a:solidFill>
              </a:rPr>
              <a:t>Assurances</a:t>
            </a:r>
            <a:r>
              <a:rPr lang="pt-BR" sz="1000" b="1" dirty="0">
                <a:solidFill>
                  <a:schemeClr val="bg1"/>
                </a:solidFill>
              </a:rPr>
              <a:t> S/A</a:t>
            </a:r>
          </a:p>
        </p:txBody>
      </p:sp>
      <p:cxnSp>
        <p:nvCxnSpPr>
          <p:cNvPr id="96" name="Conector: Angulado 95">
            <a:extLst>
              <a:ext uri="{FF2B5EF4-FFF2-40B4-BE49-F238E27FC236}">
                <a16:creationId xmlns:a16="http://schemas.microsoft.com/office/drawing/2014/main" id="{05C639E2-5CEF-004F-B66F-D52A68AA8FFC}"/>
              </a:ext>
            </a:extLst>
          </p:cNvPr>
          <p:cNvCxnSpPr>
            <a:cxnSpLocks/>
            <a:stCxn id="95" idx="2"/>
            <a:endCxn id="98" idx="0"/>
          </p:cNvCxnSpPr>
          <p:nvPr/>
        </p:nvCxnSpPr>
        <p:spPr>
          <a:xfrm rot="5400000">
            <a:off x="7638896" y="2309899"/>
            <a:ext cx="1534302" cy="1244326"/>
          </a:xfrm>
          <a:prstGeom prst="bentConnector3">
            <a:avLst>
              <a:gd name="adj1" fmla="val 1927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Conector: Angulado 96">
            <a:extLst>
              <a:ext uri="{FF2B5EF4-FFF2-40B4-BE49-F238E27FC236}">
                <a16:creationId xmlns:a16="http://schemas.microsoft.com/office/drawing/2014/main" id="{635AC5D8-6C18-C0AF-678C-1B4A9D7368EC}"/>
              </a:ext>
            </a:extLst>
          </p:cNvPr>
          <p:cNvCxnSpPr>
            <a:cxnSpLocks/>
            <a:stCxn id="98" idx="2"/>
            <a:endCxn id="103" idx="0"/>
          </p:cNvCxnSpPr>
          <p:nvPr/>
        </p:nvCxnSpPr>
        <p:spPr>
          <a:xfrm rot="16200000" flipH="1">
            <a:off x="8053074" y="3891688"/>
            <a:ext cx="707358" cy="124573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Retângulo 97">
            <a:extLst>
              <a:ext uri="{FF2B5EF4-FFF2-40B4-BE49-F238E27FC236}">
                <a16:creationId xmlns:a16="http://schemas.microsoft.com/office/drawing/2014/main" id="{6653A110-7E02-0959-F69C-A929C784C017}"/>
              </a:ext>
            </a:extLst>
          </p:cNvPr>
          <p:cNvSpPr/>
          <p:nvPr/>
        </p:nvSpPr>
        <p:spPr>
          <a:xfrm>
            <a:off x="7314228" y="3699213"/>
            <a:ext cx="939312" cy="4616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00" b="1" dirty="0">
                <a:solidFill>
                  <a:schemeClr val="bg1"/>
                </a:solidFill>
              </a:rPr>
              <a:t>CNP </a:t>
            </a:r>
            <a:r>
              <a:rPr lang="pt-BR" sz="1000" b="1" dirty="0" err="1">
                <a:solidFill>
                  <a:schemeClr val="bg1"/>
                </a:solidFill>
              </a:rPr>
              <a:t>Assurances</a:t>
            </a:r>
            <a:r>
              <a:rPr lang="pt-BR" sz="1000" b="1" dirty="0">
                <a:solidFill>
                  <a:schemeClr val="bg1"/>
                </a:solidFill>
              </a:rPr>
              <a:t>  Latam</a:t>
            </a:r>
          </a:p>
        </p:txBody>
      </p:sp>
      <p:sp>
        <p:nvSpPr>
          <p:cNvPr id="99" name="Retângulo 98">
            <a:extLst>
              <a:ext uri="{FF2B5EF4-FFF2-40B4-BE49-F238E27FC236}">
                <a16:creationId xmlns:a16="http://schemas.microsoft.com/office/drawing/2014/main" id="{B263F3E2-0C1C-AF18-1B2B-F1A5D384FECB}"/>
              </a:ext>
            </a:extLst>
          </p:cNvPr>
          <p:cNvSpPr/>
          <p:nvPr/>
        </p:nvSpPr>
        <p:spPr>
          <a:xfrm>
            <a:off x="9984244" y="2772255"/>
            <a:ext cx="939312" cy="4616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00" b="1" dirty="0" err="1">
                <a:solidFill>
                  <a:schemeClr val="bg1"/>
                </a:solidFill>
              </a:rPr>
              <a:t>Sogestop</a:t>
            </a:r>
            <a:r>
              <a:rPr lang="pt-BR" sz="1000" b="1" dirty="0">
                <a:solidFill>
                  <a:schemeClr val="bg1"/>
                </a:solidFill>
              </a:rPr>
              <a:t> K</a:t>
            </a:r>
          </a:p>
        </p:txBody>
      </p:sp>
      <p:cxnSp>
        <p:nvCxnSpPr>
          <p:cNvPr id="100" name="Conector: Angulado 99">
            <a:extLst>
              <a:ext uri="{FF2B5EF4-FFF2-40B4-BE49-F238E27FC236}">
                <a16:creationId xmlns:a16="http://schemas.microsoft.com/office/drawing/2014/main" id="{7D36488F-1C92-65B2-CD8D-1EFC1B53105C}"/>
              </a:ext>
            </a:extLst>
          </p:cNvPr>
          <p:cNvCxnSpPr>
            <a:cxnSpLocks/>
            <a:stCxn id="95" idx="2"/>
            <a:endCxn id="99" idx="0"/>
          </p:cNvCxnSpPr>
          <p:nvPr/>
        </p:nvCxnSpPr>
        <p:spPr>
          <a:xfrm rot="16200000" flipH="1">
            <a:off x="9437383" y="1755738"/>
            <a:ext cx="607344" cy="1425690"/>
          </a:xfrm>
          <a:prstGeom prst="bentConnector3">
            <a:avLst>
              <a:gd name="adj1" fmla="val 48745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Retângulo 100">
            <a:extLst>
              <a:ext uri="{FF2B5EF4-FFF2-40B4-BE49-F238E27FC236}">
                <a16:creationId xmlns:a16="http://schemas.microsoft.com/office/drawing/2014/main" id="{64CE46B1-C845-26F1-8B17-6F93C12ED27A}"/>
              </a:ext>
            </a:extLst>
          </p:cNvPr>
          <p:cNvSpPr/>
          <p:nvPr/>
        </p:nvSpPr>
        <p:spPr>
          <a:xfrm>
            <a:off x="9984243" y="3699213"/>
            <a:ext cx="939312" cy="4616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00" b="1" dirty="0">
                <a:solidFill>
                  <a:schemeClr val="bg1"/>
                </a:solidFill>
              </a:rPr>
              <a:t>CNP </a:t>
            </a:r>
            <a:r>
              <a:rPr lang="pt-BR" sz="1000" b="1" dirty="0" err="1">
                <a:solidFill>
                  <a:schemeClr val="bg1"/>
                </a:solidFill>
              </a:rPr>
              <a:t>Assurances</a:t>
            </a:r>
            <a:r>
              <a:rPr lang="pt-BR" sz="1000" b="1" dirty="0">
                <a:solidFill>
                  <a:schemeClr val="bg1"/>
                </a:solidFill>
              </a:rPr>
              <a:t>  Par.</a:t>
            </a:r>
          </a:p>
        </p:txBody>
      </p:sp>
      <p:cxnSp>
        <p:nvCxnSpPr>
          <p:cNvPr id="102" name="Conector: Angulado 101">
            <a:extLst>
              <a:ext uri="{FF2B5EF4-FFF2-40B4-BE49-F238E27FC236}">
                <a16:creationId xmlns:a16="http://schemas.microsoft.com/office/drawing/2014/main" id="{50DAE301-7545-72AC-CCCA-578FB38DC2A7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 rot="5400000">
            <a:off x="10221254" y="3466566"/>
            <a:ext cx="465293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Retângulo 102">
            <a:extLst>
              <a:ext uri="{FF2B5EF4-FFF2-40B4-BE49-F238E27FC236}">
                <a16:creationId xmlns:a16="http://schemas.microsoft.com/office/drawing/2014/main" id="{F0EFB6B5-EA38-BFA5-5EFA-EA5270361AB6}"/>
              </a:ext>
            </a:extLst>
          </p:cNvPr>
          <p:cNvSpPr/>
          <p:nvPr/>
        </p:nvSpPr>
        <p:spPr>
          <a:xfrm>
            <a:off x="8559966" y="4868236"/>
            <a:ext cx="939312" cy="4616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00" b="1" dirty="0">
                <a:solidFill>
                  <a:schemeClr val="bg1"/>
                </a:solidFill>
              </a:rPr>
              <a:t>CNP Consórcio S/A</a:t>
            </a:r>
          </a:p>
        </p:txBody>
      </p:sp>
      <p:cxnSp>
        <p:nvCxnSpPr>
          <p:cNvPr id="104" name="Conector: Angulado 103">
            <a:extLst>
              <a:ext uri="{FF2B5EF4-FFF2-40B4-BE49-F238E27FC236}">
                <a16:creationId xmlns:a16="http://schemas.microsoft.com/office/drawing/2014/main" id="{39413B85-FF5C-C065-971E-B4E802C055A2}"/>
              </a:ext>
            </a:extLst>
          </p:cNvPr>
          <p:cNvCxnSpPr>
            <a:cxnSpLocks/>
            <a:stCxn id="95" idx="2"/>
            <a:endCxn id="103" idx="0"/>
          </p:cNvCxnSpPr>
          <p:nvPr/>
        </p:nvCxnSpPr>
        <p:spPr>
          <a:xfrm rot="16200000" flipH="1">
            <a:off x="7677254" y="3515867"/>
            <a:ext cx="2703325" cy="141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ector: Angulado 104">
            <a:extLst>
              <a:ext uri="{FF2B5EF4-FFF2-40B4-BE49-F238E27FC236}">
                <a16:creationId xmlns:a16="http://schemas.microsoft.com/office/drawing/2014/main" id="{9457FE14-E394-A56D-A9F8-11CE4E0B8F3F}"/>
              </a:ext>
            </a:extLst>
          </p:cNvPr>
          <p:cNvCxnSpPr>
            <a:cxnSpLocks/>
            <a:stCxn id="101" idx="2"/>
            <a:endCxn id="103" idx="0"/>
          </p:cNvCxnSpPr>
          <p:nvPr/>
        </p:nvCxnSpPr>
        <p:spPr>
          <a:xfrm rot="5400000">
            <a:off x="9388082" y="3802419"/>
            <a:ext cx="707358" cy="142427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tângulo 105">
            <a:extLst>
              <a:ext uri="{FF2B5EF4-FFF2-40B4-BE49-F238E27FC236}">
                <a16:creationId xmlns:a16="http://schemas.microsoft.com/office/drawing/2014/main" id="{3C5E9971-DC6B-58CD-703C-306E3320ABC9}"/>
              </a:ext>
            </a:extLst>
          </p:cNvPr>
          <p:cNvSpPr/>
          <p:nvPr/>
        </p:nvSpPr>
        <p:spPr>
          <a:xfrm>
            <a:off x="251012" y="1065623"/>
            <a:ext cx="5713367" cy="500348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170C168D-DA6F-3DBF-5E9B-F59780C8A625}"/>
              </a:ext>
            </a:extLst>
          </p:cNvPr>
          <p:cNvSpPr/>
          <p:nvPr/>
        </p:nvSpPr>
        <p:spPr>
          <a:xfrm>
            <a:off x="6312234" y="1065621"/>
            <a:ext cx="5628754" cy="500348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C89E0B09-A971-DE68-73D6-27787ABDFBC9}"/>
              </a:ext>
            </a:extLst>
          </p:cNvPr>
          <p:cNvSpPr txBox="1"/>
          <p:nvPr/>
        </p:nvSpPr>
        <p:spPr>
          <a:xfrm>
            <a:off x="251012" y="1065621"/>
            <a:ext cx="1394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cap="small" dirty="0"/>
              <a:t>EMBRACON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2D36319A-15BD-40F0-7D4D-B4972B6BE9E8}"/>
              </a:ext>
            </a:extLst>
          </p:cNvPr>
          <p:cNvSpPr txBox="1"/>
          <p:nvPr/>
        </p:nvSpPr>
        <p:spPr>
          <a:xfrm>
            <a:off x="6312234" y="1065621"/>
            <a:ext cx="1127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cap="small" dirty="0"/>
              <a:t>CNP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EC5CD68C-61D9-F54B-3B5F-D8A9F2DE9391}"/>
              </a:ext>
            </a:extLst>
          </p:cNvPr>
          <p:cNvSpPr txBox="1"/>
          <p:nvPr/>
        </p:nvSpPr>
        <p:spPr>
          <a:xfrm>
            <a:off x="8866736" y="4317373"/>
            <a:ext cx="69570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50,75%</a:t>
            </a:r>
          </a:p>
        </p:txBody>
      </p: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753007EF-4778-725A-33EC-CF31F5850998}"/>
              </a:ext>
            </a:extLst>
          </p:cNvPr>
          <p:cNvSpPr txBox="1"/>
          <p:nvPr/>
        </p:nvSpPr>
        <p:spPr>
          <a:xfrm>
            <a:off x="10389339" y="4333858"/>
            <a:ext cx="51191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48,25%</a:t>
            </a: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FB52C308-C2C9-D29C-6BD8-7A413E269613}"/>
              </a:ext>
            </a:extLst>
          </p:cNvPr>
          <p:cNvSpPr txBox="1"/>
          <p:nvPr/>
        </p:nvSpPr>
        <p:spPr>
          <a:xfrm>
            <a:off x="7510440" y="4333858"/>
            <a:ext cx="31610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1%</a:t>
            </a: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4F8617FD-A9CA-BEE2-EB6A-1A0AE3BDB76B}"/>
              </a:ext>
            </a:extLst>
          </p:cNvPr>
          <p:cNvSpPr txBox="1"/>
          <p:nvPr/>
        </p:nvSpPr>
        <p:spPr>
          <a:xfrm>
            <a:off x="10415801" y="3517530"/>
            <a:ext cx="416511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100%</a:t>
            </a:r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DD235995-D09C-217B-BC59-72C75DABBC83}"/>
              </a:ext>
            </a:extLst>
          </p:cNvPr>
          <p:cNvSpPr txBox="1"/>
          <p:nvPr/>
        </p:nvSpPr>
        <p:spPr>
          <a:xfrm>
            <a:off x="9935023" y="2280048"/>
            <a:ext cx="69570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100%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98EEE61D-F87B-327A-35CB-078EB30213A8}"/>
              </a:ext>
            </a:extLst>
          </p:cNvPr>
          <p:cNvSpPr txBox="1"/>
          <p:nvPr/>
        </p:nvSpPr>
        <p:spPr>
          <a:xfrm>
            <a:off x="7613401" y="2283386"/>
            <a:ext cx="69570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100%</a:t>
            </a:r>
          </a:p>
        </p:txBody>
      </p:sp>
      <p:sp>
        <p:nvSpPr>
          <p:cNvPr id="122" name="CaixaDeTexto 4">
            <a:extLst>
              <a:ext uri="{FF2B5EF4-FFF2-40B4-BE49-F238E27FC236}">
                <a16:creationId xmlns:a16="http://schemas.microsoft.com/office/drawing/2014/main" id="{DFEF852D-8351-C27A-4118-AA4214682121}"/>
              </a:ext>
            </a:extLst>
          </p:cNvPr>
          <p:cNvSpPr txBox="1"/>
          <p:nvPr/>
        </p:nvSpPr>
        <p:spPr>
          <a:xfrm>
            <a:off x="190133" y="6142051"/>
            <a:ext cx="97448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/>
              <a:t>Nota</a:t>
            </a:r>
            <a:r>
              <a:rPr lang="pt-BR" sz="1000" dirty="0"/>
              <a:t>: Para fins desta apresentação, apresentamos uma versão simplificada dos organogramas. Para a versão completa, vide os “</a:t>
            </a:r>
            <a:r>
              <a:rPr lang="pt-BR" sz="1000" b="1" dirty="0"/>
              <a:t>Anexos I e II</a:t>
            </a:r>
            <a:r>
              <a:rPr lang="pt-BR" sz="1000" dirty="0"/>
              <a:t>”.</a:t>
            </a:r>
            <a:endParaRPr lang="pt-B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71BD811-B054-DAE6-2FD2-7219D2AE077E}"/>
              </a:ext>
            </a:extLst>
          </p:cNvPr>
          <p:cNvCxnSpPr/>
          <p:nvPr/>
        </p:nvCxnSpPr>
        <p:spPr>
          <a:xfrm>
            <a:off x="6312234" y="3390900"/>
            <a:ext cx="5628754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47CD98EA-C359-51F3-8B83-89C468BB9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0177" y="2955826"/>
            <a:ext cx="288000" cy="28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8F1A6BE-0D07-BDC5-B6C1-B49D1C49A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0177" y="3546935"/>
            <a:ext cx="288000" cy="288000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69848497-8D9A-8C68-17D5-D339BBBD35E6}"/>
              </a:ext>
            </a:extLst>
          </p:cNvPr>
          <p:cNvGrpSpPr/>
          <p:nvPr/>
        </p:nvGrpSpPr>
        <p:grpSpPr>
          <a:xfrm>
            <a:off x="1645920" y="3329212"/>
            <a:ext cx="2560824" cy="1344222"/>
            <a:chOff x="459390" y="2148845"/>
            <a:chExt cx="2591435" cy="1228186"/>
          </a:xfrm>
        </p:grpSpPr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A35EB23E-C856-F902-97DD-D3C44DE0E35F}"/>
                </a:ext>
              </a:extLst>
            </p:cNvPr>
            <p:cNvSpPr/>
            <p:nvPr/>
          </p:nvSpPr>
          <p:spPr>
            <a:xfrm>
              <a:off x="2237543" y="2945738"/>
              <a:ext cx="813282" cy="43129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Embracon</a:t>
              </a:r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5748488D-85A9-D0E5-B841-CA051F4997DE}"/>
                </a:ext>
              </a:extLst>
            </p:cNvPr>
            <p:cNvSpPr/>
            <p:nvPr/>
          </p:nvSpPr>
          <p:spPr>
            <a:xfrm>
              <a:off x="459390" y="2945738"/>
              <a:ext cx="813282" cy="431293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Embracon Franchising</a:t>
              </a: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9C933DA2-1A06-3B95-9453-7D5AC0B41355}"/>
                </a:ext>
              </a:extLst>
            </p:cNvPr>
            <p:cNvSpPr/>
            <p:nvPr/>
          </p:nvSpPr>
          <p:spPr>
            <a:xfrm>
              <a:off x="958234" y="2148845"/>
              <a:ext cx="711978" cy="43129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Savian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180183AC-5608-E000-FD11-D07369BDBC33}"/>
                </a:ext>
              </a:extLst>
            </p:cNvPr>
            <p:cNvSpPr/>
            <p:nvPr/>
          </p:nvSpPr>
          <p:spPr>
            <a:xfrm>
              <a:off x="1987734" y="2148845"/>
              <a:ext cx="711978" cy="43129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JVFJ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cxnSp>
          <p:nvCxnSpPr>
            <p:cNvPr id="31" name="Conector: Angulado 30">
              <a:extLst>
                <a:ext uri="{FF2B5EF4-FFF2-40B4-BE49-F238E27FC236}">
                  <a16:creationId xmlns:a16="http://schemas.microsoft.com/office/drawing/2014/main" id="{6615609E-8BC9-C61E-45D2-E5D9E3FFB371}"/>
                </a:ext>
              </a:extLst>
            </p:cNvPr>
            <p:cNvCxnSpPr>
              <a:cxnSpLocks/>
              <a:stCxn id="27" idx="2"/>
              <a:endCxn id="25" idx="0"/>
            </p:cNvCxnSpPr>
            <p:nvPr/>
          </p:nvCxnSpPr>
          <p:spPr>
            <a:xfrm rot="5400000">
              <a:off x="1422077" y="2024092"/>
              <a:ext cx="365600" cy="1477692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: Angulado 31">
              <a:extLst>
                <a:ext uri="{FF2B5EF4-FFF2-40B4-BE49-F238E27FC236}">
                  <a16:creationId xmlns:a16="http://schemas.microsoft.com/office/drawing/2014/main" id="{4CECBE70-41F8-890C-0E66-AAC939DFE3BE}"/>
                </a:ext>
              </a:extLst>
            </p:cNvPr>
            <p:cNvCxnSpPr>
              <a:cxnSpLocks/>
              <a:stCxn id="27" idx="2"/>
              <a:endCxn id="24" idx="0"/>
            </p:cNvCxnSpPr>
            <p:nvPr/>
          </p:nvCxnSpPr>
          <p:spPr>
            <a:xfrm rot="16200000" flipH="1">
              <a:off x="2311153" y="2612707"/>
              <a:ext cx="365600" cy="300461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: Angulado 32">
              <a:extLst>
                <a:ext uri="{FF2B5EF4-FFF2-40B4-BE49-F238E27FC236}">
                  <a16:creationId xmlns:a16="http://schemas.microsoft.com/office/drawing/2014/main" id="{FF3E2F8C-289D-0552-1F9A-9BE42980D150}"/>
                </a:ext>
              </a:extLst>
            </p:cNvPr>
            <p:cNvCxnSpPr>
              <a:cxnSpLocks/>
              <a:stCxn id="26" idx="2"/>
              <a:endCxn id="24" idx="0"/>
            </p:cNvCxnSpPr>
            <p:nvPr/>
          </p:nvCxnSpPr>
          <p:spPr>
            <a:xfrm rot="16200000" flipH="1">
              <a:off x="1796403" y="2097957"/>
              <a:ext cx="365600" cy="1329961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: Angulado 33">
              <a:extLst>
                <a:ext uri="{FF2B5EF4-FFF2-40B4-BE49-F238E27FC236}">
                  <a16:creationId xmlns:a16="http://schemas.microsoft.com/office/drawing/2014/main" id="{3331E034-19E0-B006-B525-18B0CDC2C1A2}"/>
                </a:ext>
              </a:extLst>
            </p:cNvPr>
            <p:cNvCxnSpPr>
              <a:cxnSpLocks/>
              <a:stCxn id="26" idx="2"/>
              <a:endCxn id="25" idx="0"/>
            </p:cNvCxnSpPr>
            <p:nvPr/>
          </p:nvCxnSpPr>
          <p:spPr>
            <a:xfrm rot="5400000">
              <a:off x="907327" y="2538842"/>
              <a:ext cx="365600" cy="448192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E6149935-5E8E-2DCF-1E6B-1E78753639EB}"/>
              </a:ext>
            </a:extLst>
          </p:cNvPr>
          <p:cNvCxnSpPr>
            <a:cxnSpLocks/>
          </p:cNvCxnSpPr>
          <p:nvPr/>
        </p:nvCxnSpPr>
        <p:spPr>
          <a:xfrm rot="5400000">
            <a:off x="2351310" y="3193080"/>
            <a:ext cx="266643" cy="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3FD3D706-3753-12E8-6147-319C5D773270}"/>
              </a:ext>
            </a:extLst>
          </p:cNvPr>
          <p:cNvCxnSpPr>
            <a:cxnSpLocks/>
          </p:cNvCxnSpPr>
          <p:nvPr/>
        </p:nvCxnSpPr>
        <p:spPr>
          <a:xfrm rot="5400000">
            <a:off x="3374670" y="3212533"/>
            <a:ext cx="266643" cy="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5226F8FB-1974-73F0-CCEF-D5116B52FF10}"/>
              </a:ext>
            </a:extLst>
          </p:cNvPr>
          <p:cNvGrpSpPr/>
          <p:nvPr/>
        </p:nvGrpSpPr>
        <p:grpSpPr>
          <a:xfrm>
            <a:off x="3141818" y="2327219"/>
            <a:ext cx="695708" cy="751993"/>
            <a:chOff x="2059922" y="1342429"/>
            <a:chExt cx="695708" cy="751993"/>
          </a:xfrm>
        </p:grpSpPr>
        <p:pic>
          <p:nvPicPr>
            <p:cNvPr id="49" name="Imagem 48">
              <a:extLst>
                <a:ext uri="{FF2B5EF4-FFF2-40B4-BE49-F238E27FC236}">
                  <a16:creationId xmlns:a16="http://schemas.microsoft.com/office/drawing/2014/main" id="{90B4E9FD-8344-7678-7048-BCB16B8D0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CrisscrossEtching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39182" y="1342429"/>
              <a:ext cx="501329" cy="501329"/>
            </a:xfrm>
            <a:prstGeom prst="rect">
              <a:avLst/>
            </a:prstGeom>
            <a:ln>
              <a:noFill/>
            </a:ln>
          </p:spPr>
        </p:pic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F98DFEC8-F3BB-FA3C-B24C-F949459D951B}"/>
                </a:ext>
              </a:extLst>
            </p:cNvPr>
            <p:cNvSpPr txBox="1"/>
            <p:nvPr/>
          </p:nvSpPr>
          <p:spPr>
            <a:xfrm>
              <a:off x="2059922" y="1848201"/>
              <a:ext cx="69570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 err="1"/>
                <a:t>PFs</a:t>
              </a:r>
              <a:r>
                <a:rPr lang="pt-BR" sz="1000" dirty="0"/>
                <a:t> (Silva)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5829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5F51-0903-63DA-83EB-BC1217A1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ixaDeTexto 36">
            <a:extLst>
              <a:ext uri="{FF2B5EF4-FFF2-40B4-BE49-F238E27FC236}">
                <a16:creationId xmlns:a16="http://schemas.microsoft.com/office/drawing/2014/main" id="{745D3D16-03FE-3601-0CA3-0B15E7F7E5BD}"/>
              </a:ext>
            </a:extLst>
          </p:cNvPr>
          <p:cNvSpPr txBox="1"/>
          <p:nvPr/>
        </p:nvSpPr>
        <p:spPr>
          <a:xfrm>
            <a:off x="9535217" y="2883015"/>
            <a:ext cx="69570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50%</a:t>
            </a:r>
          </a:p>
        </p:txBody>
      </p:sp>
      <p:grpSp>
        <p:nvGrpSpPr>
          <p:cNvPr id="106" name="Agrupar 105">
            <a:extLst>
              <a:ext uri="{FF2B5EF4-FFF2-40B4-BE49-F238E27FC236}">
                <a16:creationId xmlns:a16="http://schemas.microsoft.com/office/drawing/2014/main" id="{06F7D404-370F-DD2E-6B9F-BD28B9ACF43E}"/>
              </a:ext>
            </a:extLst>
          </p:cNvPr>
          <p:cNvGrpSpPr/>
          <p:nvPr/>
        </p:nvGrpSpPr>
        <p:grpSpPr>
          <a:xfrm>
            <a:off x="8251030" y="1349817"/>
            <a:ext cx="2507034" cy="2421815"/>
            <a:chOff x="513822" y="1164271"/>
            <a:chExt cx="2537003" cy="2212760"/>
          </a:xfrm>
        </p:grpSpPr>
        <p:grpSp>
          <p:nvGrpSpPr>
            <p:cNvPr id="107" name="Agrupar 106">
              <a:extLst>
                <a:ext uri="{FF2B5EF4-FFF2-40B4-BE49-F238E27FC236}">
                  <a16:creationId xmlns:a16="http://schemas.microsoft.com/office/drawing/2014/main" id="{90A55016-20E9-0BFE-451A-93405151A8F4}"/>
                </a:ext>
              </a:extLst>
            </p:cNvPr>
            <p:cNvGrpSpPr/>
            <p:nvPr/>
          </p:nvGrpSpPr>
          <p:grpSpPr>
            <a:xfrm>
              <a:off x="1515110" y="1164271"/>
              <a:ext cx="602363" cy="702522"/>
              <a:chOff x="2059922" y="1342429"/>
              <a:chExt cx="695708" cy="751993"/>
            </a:xfrm>
          </p:grpSpPr>
          <p:pic>
            <p:nvPicPr>
              <p:cNvPr id="118" name="Imagem 117">
                <a:extLst>
                  <a:ext uri="{FF2B5EF4-FFF2-40B4-BE49-F238E27FC236}">
                    <a16:creationId xmlns:a16="http://schemas.microsoft.com/office/drawing/2014/main" id="{733FC29D-B077-15D5-1E51-B5A10E5028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39182" y="1342429"/>
                <a:ext cx="501329" cy="50132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19" name="CaixaDeTexto 118">
                <a:extLst>
                  <a:ext uri="{FF2B5EF4-FFF2-40B4-BE49-F238E27FC236}">
                    <a16:creationId xmlns:a16="http://schemas.microsoft.com/office/drawing/2014/main" id="{9DF60EF4-B85B-F798-8A2A-4C515A6CD70A}"/>
                  </a:ext>
                </a:extLst>
              </p:cNvPr>
              <p:cNvSpPr txBox="1"/>
              <p:nvPr/>
            </p:nvSpPr>
            <p:spPr>
              <a:xfrm>
                <a:off x="2059922" y="1848201"/>
                <a:ext cx="69570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PFs</a:t>
                </a:r>
              </a:p>
            </p:txBody>
          </p:sp>
        </p:grpSp>
        <p:sp>
          <p:nvSpPr>
            <p:cNvPr id="108" name="Retângulo 107">
              <a:extLst>
                <a:ext uri="{FF2B5EF4-FFF2-40B4-BE49-F238E27FC236}">
                  <a16:creationId xmlns:a16="http://schemas.microsoft.com/office/drawing/2014/main" id="{98BDAEE5-4981-10EC-1C92-C51626490B9A}"/>
                </a:ext>
              </a:extLst>
            </p:cNvPr>
            <p:cNvSpPr/>
            <p:nvPr/>
          </p:nvSpPr>
          <p:spPr>
            <a:xfrm>
              <a:off x="2237543" y="2945738"/>
              <a:ext cx="813282" cy="43129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Embracon</a:t>
              </a:r>
            </a:p>
          </p:txBody>
        </p:sp>
        <p:sp>
          <p:nvSpPr>
            <p:cNvPr id="109" name="Retângulo 108">
              <a:extLst>
                <a:ext uri="{FF2B5EF4-FFF2-40B4-BE49-F238E27FC236}">
                  <a16:creationId xmlns:a16="http://schemas.microsoft.com/office/drawing/2014/main" id="{F39F5096-9197-DA90-7DB1-4618D9A85676}"/>
                </a:ext>
              </a:extLst>
            </p:cNvPr>
            <p:cNvSpPr/>
            <p:nvPr/>
          </p:nvSpPr>
          <p:spPr>
            <a:xfrm>
              <a:off x="513822" y="2945738"/>
              <a:ext cx="813282" cy="431293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Embracon Franchising</a:t>
              </a:r>
            </a:p>
          </p:txBody>
        </p:sp>
        <p:sp>
          <p:nvSpPr>
            <p:cNvPr id="110" name="Retângulo 109">
              <a:extLst>
                <a:ext uri="{FF2B5EF4-FFF2-40B4-BE49-F238E27FC236}">
                  <a16:creationId xmlns:a16="http://schemas.microsoft.com/office/drawing/2014/main" id="{BD5B34EE-2D96-7EED-7AFE-FFE8A3B37456}"/>
                </a:ext>
              </a:extLst>
            </p:cNvPr>
            <p:cNvSpPr/>
            <p:nvPr/>
          </p:nvSpPr>
          <p:spPr>
            <a:xfrm>
              <a:off x="958234" y="2114034"/>
              <a:ext cx="711978" cy="43129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Savian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sp>
          <p:nvSpPr>
            <p:cNvPr id="111" name="Retângulo 110">
              <a:extLst>
                <a:ext uri="{FF2B5EF4-FFF2-40B4-BE49-F238E27FC236}">
                  <a16:creationId xmlns:a16="http://schemas.microsoft.com/office/drawing/2014/main" id="{3A5655DE-B329-80EA-5F31-C16130193DB3}"/>
                </a:ext>
              </a:extLst>
            </p:cNvPr>
            <p:cNvSpPr/>
            <p:nvPr/>
          </p:nvSpPr>
          <p:spPr>
            <a:xfrm>
              <a:off x="1987734" y="2114034"/>
              <a:ext cx="711978" cy="43129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JVFJ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cxnSp>
          <p:nvCxnSpPr>
            <p:cNvPr id="112" name="Conector: Angulado 111">
              <a:extLst>
                <a:ext uri="{FF2B5EF4-FFF2-40B4-BE49-F238E27FC236}">
                  <a16:creationId xmlns:a16="http://schemas.microsoft.com/office/drawing/2014/main" id="{5DD2F2A3-6115-CB43-3388-B67A7B27BA72}"/>
                </a:ext>
              </a:extLst>
            </p:cNvPr>
            <p:cNvCxnSpPr>
              <a:cxnSpLocks/>
              <a:stCxn id="119" idx="2"/>
              <a:endCxn id="111" idx="0"/>
            </p:cNvCxnSpPr>
            <p:nvPr/>
          </p:nvCxnSpPr>
          <p:spPr>
            <a:xfrm rot="16200000" flipH="1">
              <a:off x="1956387" y="1726697"/>
              <a:ext cx="247241" cy="527432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: Angulado 112">
              <a:extLst>
                <a:ext uri="{FF2B5EF4-FFF2-40B4-BE49-F238E27FC236}">
                  <a16:creationId xmlns:a16="http://schemas.microsoft.com/office/drawing/2014/main" id="{7921F291-14AC-6289-F46F-57A4AD61126B}"/>
                </a:ext>
              </a:extLst>
            </p:cNvPr>
            <p:cNvCxnSpPr>
              <a:cxnSpLocks/>
              <a:stCxn id="119" idx="2"/>
              <a:endCxn id="110" idx="0"/>
            </p:cNvCxnSpPr>
            <p:nvPr/>
          </p:nvCxnSpPr>
          <p:spPr>
            <a:xfrm rot="5400000">
              <a:off x="1441636" y="1739379"/>
              <a:ext cx="247241" cy="50206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ector: Angulado 114">
              <a:extLst>
                <a:ext uri="{FF2B5EF4-FFF2-40B4-BE49-F238E27FC236}">
                  <a16:creationId xmlns:a16="http://schemas.microsoft.com/office/drawing/2014/main" id="{D67E3527-434A-B929-74A7-B25BB9A68D9B}"/>
                </a:ext>
              </a:extLst>
            </p:cNvPr>
            <p:cNvCxnSpPr>
              <a:cxnSpLocks/>
              <a:stCxn id="111" idx="2"/>
              <a:endCxn id="108" idx="0"/>
            </p:cNvCxnSpPr>
            <p:nvPr/>
          </p:nvCxnSpPr>
          <p:spPr>
            <a:xfrm rot="16200000" flipH="1">
              <a:off x="2293749" y="2595302"/>
              <a:ext cx="400411" cy="300461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ector: Angulado 116">
              <a:extLst>
                <a:ext uri="{FF2B5EF4-FFF2-40B4-BE49-F238E27FC236}">
                  <a16:creationId xmlns:a16="http://schemas.microsoft.com/office/drawing/2014/main" id="{6971D265-0841-6C17-7F9B-ABDE108F88BA}"/>
                </a:ext>
              </a:extLst>
            </p:cNvPr>
            <p:cNvCxnSpPr>
              <a:cxnSpLocks/>
              <a:stCxn id="110" idx="2"/>
              <a:endCxn id="109" idx="0"/>
            </p:cNvCxnSpPr>
            <p:nvPr/>
          </p:nvCxnSpPr>
          <p:spPr>
            <a:xfrm rot="5400000">
              <a:off x="917138" y="2548652"/>
              <a:ext cx="400411" cy="39375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object 3">
            <a:extLst>
              <a:ext uri="{FF2B5EF4-FFF2-40B4-BE49-F238E27FC236}">
                <a16:creationId xmlns:a16="http://schemas.microsoft.com/office/drawing/2014/main" id="{EC04E337-BCB6-3108-C4A7-E77B80808DB7}"/>
              </a:ext>
            </a:extLst>
          </p:cNvPr>
          <p:cNvSpPr txBox="1">
            <a:spLocks/>
          </p:cNvSpPr>
          <p:nvPr/>
        </p:nvSpPr>
        <p:spPr>
          <a:xfrm>
            <a:off x="609602" y="382496"/>
            <a:ext cx="9906000" cy="447622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6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Passo 1: Incorporação da CNP Consórcio pela Embracon</a:t>
            </a:r>
            <a:endParaRPr lang="pt-BR" sz="2600" b="1" cap="small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280602F-9790-4D41-CA4D-9C021B357C98}"/>
              </a:ext>
            </a:extLst>
          </p:cNvPr>
          <p:cNvSpPr/>
          <p:nvPr/>
        </p:nvSpPr>
        <p:spPr>
          <a:xfrm>
            <a:off x="4875181" y="1065623"/>
            <a:ext cx="7040299" cy="5212629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4" name="CaixaDeTexto 1">
            <a:extLst>
              <a:ext uri="{FF2B5EF4-FFF2-40B4-BE49-F238E27FC236}">
                <a16:creationId xmlns:a16="http://schemas.microsoft.com/office/drawing/2014/main" id="{F785B087-A044-A15D-C266-D95CE488B9F4}"/>
              </a:ext>
            </a:extLst>
          </p:cNvPr>
          <p:cNvSpPr txBox="1"/>
          <p:nvPr/>
        </p:nvSpPr>
        <p:spPr>
          <a:xfrm>
            <a:off x="412376" y="4619202"/>
            <a:ext cx="1150310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E10600"/>
              </a:buClr>
            </a:pPr>
            <a:r>
              <a:rPr lang="pt-BR" sz="1200" b="1" u="sng" cap="small" dirty="0">
                <a:solidFill>
                  <a:srgbClr val="EB0600"/>
                </a:solidFill>
              </a:rPr>
              <a:t>Descrição</a:t>
            </a:r>
          </a:p>
          <a:p>
            <a:pPr marL="180975" indent="-180975" algn="just">
              <a:spcAft>
                <a:spcPts val="600"/>
              </a:spcAft>
              <a:buClr>
                <a:srgbClr val="E10600"/>
              </a:buClr>
              <a:buFont typeface="Wingdings" panose="05000000000000000000" pitchFamily="2" charset="2"/>
              <a:buChar char="§"/>
            </a:pPr>
            <a:r>
              <a:rPr lang="pt-BR" sz="1200" b="1" dirty="0"/>
              <a:t>Incorporação de sociedade:</a:t>
            </a:r>
            <a:r>
              <a:rPr lang="pt-BR" sz="1200" dirty="0"/>
              <a:t> Embracon </a:t>
            </a:r>
            <a:r>
              <a:rPr lang="pt-BR" sz="1200" b="1" dirty="0"/>
              <a:t>incorpora a CNP Consórcio</a:t>
            </a:r>
            <a:r>
              <a:rPr lang="pt-BR" sz="1200" dirty="0"/>
              <a:t>. Como resultado da operação, o Grupo CNP (antigo acionista da CNP Consórcio) recebe, em substituição, ações da Embracon. Este passo resulta na </a:t>
            </a:r>
            <a:r>
              <a:rPr lang="pt-BR" sz="1200" b="1" dirty="0"/>
              <a:t>(i)</a:t>
            </a:r>
            <a:r>
              <a:rPr lang="pt-BR" sz="1200" dirty="0"/>
              <a:t> extinção da personalidade jurídica da CNP Consórcio; </a:t>
            </a:r>
            <a:r>
              <a:rPr lang="pt-BR" sz="1200" b="1" dirty="0"/>
              <a:t>(</a:t>
            </a:r>
            <a:r>
              <a:rPr lang="pt-BR" sz="1200" b="1" dirty="0" err="1"/>
              <a:t>ii</a:t>
            </a:r>
            <a:r>
              <a:rPr lang="pt-BR" sz="1200" b="1" dirty="0"/>
              <a:t>) </a:t>
            </a:r>
            <a:r>
              <a:rPr lang="pt-BR" sz="1200" dirty="0"/>
              <a:t>consolidação do patrimônio da CNP Consórcio no patrimônio da sociedade incorporadora (Embracon), os quais passarão a compor um único patrimônio; e </a:t>
            </a:r>
            <a:r>
              <a:rPr lang="pt-BR" sz="1200" b="1" dirty="0"/>
              <a:t>(</a:t>
            </a:r>
            <a:r>
              <a:rPr lang="pt-BR" sz="1200" b="1" dirty="0" err="1"/>
              <a:t>iii</a:t>
            </a:r>
            <a:r>
              <a:rPr lang="pt-BR" sz="1200" b="1" dirty="0"/>
              <a:t>) </a:t>
            </a:r>
            <a:r>
              <a:rPr lang="pt-BR" sz="1200" dirty="0"/>
              <a:t>sucessão pela Embracon de todos os direitos e obrigações relativos à CNP Consórcio. Mediante essa operação, a CNP passa a deter 20% do capital social da </a:t>
            </a:r>
            <a:r>
              <a:rPr lang="pt-BR" sz="1200" dirty="0" err="1"/>
              <a:t>Embracon</a:t>
            </a:r>
            <a:r>
              <a:rPr lang="pt-BR" sz="1200" dirty="0"/>
              <a:t>.</a:t>
            </a:r>
          </a:p>
          <a:p>
            <a:pPr marL="180975" indent="-180975" algn="just">
              <a:spcAft>
                <a:spcPts val="600"/>
              </a:spcAft>
              <a:buClr>
                <a:srgbClr val="E10600"/>
              </a:buClr>
              <a:buFont typeface="Wingdings" panose="05000000000000000000" pitchFamily="2" charset="2"/>
              <a:buChar char="§"/>
            </a:pPr>
            <a:r>
              <a:rPr lang="pt-BR" sz="1200" b="1" dirty="0"/>
              <a:t>*</a:t>
            </a:r>
            <a:r>
              <a:rPr lang="pt-BR" sz="1200" dirty="0"/>
              <a:t>Eventual incorporação de ações (e não de sociedade) a ser avaliada considerando aspectos jurídicos aplicáveis. Caso seja adotada a incorporação de ações, a CNP Consórcio não será extinta, tornando-se subsidiária integral da Embracon.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800C3-918B-90B3-8F21-7C93E9B464FC}"/>
              </a:ext>
            </a:extLst>
          </p:cNvPr>
          <p:cNvSpPr/>
          <p:nvPr/>
        </p:nvSpPr>
        <p:spPr>
          <a:xfrm>
            <a:off x="207391" y="1065622"/>
            <a:ext cx="4553145" cy="5212630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A3B1159-D087-8FA1-31E8-BF36F43EC78F}"/>
              </a:ext>
            </a:extLst>
          </p:cNvPr>
          <p:cNvSpPr txBox="1"/>
          <p:nvPr/>
        </p:nvSpPr>
        <p:spPr>
          <a:xfrm>
            <a:off x="541981" y="1087537"/>
            <a:ext cx="179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cap="small" dirty="0"/>
              <a:t>Estrutura Inicial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3913AD8-E08E-4D3D-63F2-247ED57E07D6}"/>
              </a:ext>
            </a:extLst>
          </p:cNvPr>
          <p:cNvGrpSpPr/>
          <p:nvPr/>
        </p:nvGrpSpPr>
        <p:grpSpPr>
          <a:xfrm>
            <a:off x="87436" y="1380243"/>
            <a:ext cx="2560824" cy="2421815"/>
            <a:chOff x="459390" y="1164271"/>
            <a:chExt cx="2591435" cy="2212760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5BFD0147-2DB4-F7FF-CD8E-980369F516DA}"/>
                </a:ext>
              </a:extLst>
            </p:cNvPr>
            <p:cNvGrpSpPr/>
            <p:nvPr/>
          </p:nvGrpSpPr>
          <p:grpSpPr>
            <a:xfrm>
              <a:off x="1515110" y="1164271"/>
              <a:ext cx="602363" cy="702522"/>
              <a:chOff x="2059922" y="1342429"/>
              <a:chExt cx="695708" cy="751993"/>
            </a:xfrm>
          </p:grpSpPr>
          <p:pic>
            <p:nvPicPr>
              <p:cNvPr id="25" name="Imagem 24">
                <a:extLst>
                  <a:ext uri="{FF2B5EF4-FFF2-40B4-BE49-F238E27FC236}">
                    <a16:creationId xmlns:a16="http://schemas.microsoft.com/office/drawing/2014/main" id="{513DB310-89D6-D955-3306-9ABFA9E30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39182" y="1342429"/>
                <a:ext cx="501329" cy="50132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0A9D29C1-27F5-861A-5117-8843D6A50AF8}"/>
                  </a:ext>
                </a:extLst>
              </p:cNvPr>
              <p:cNvSpPr txBox="1"/>
              <p:nvPr/>
            </p:nvSpPr>
            <p:spPr>
              <a:xfrm>
                <a:off x="2059922" y="1848201"/>
                <a:ext cx="69570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PFs</a:t>
                </a:r>
              </a:p>
            </p:txBody>
          </p:sp>
        </p:grp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24B0B980-652D-7D9F-8895-6775700F37F7}"/>
                </a:ext>
              </a:extLst>
            </p:cNvPr>
            <p:cNvSpPr/>
            <p:nvPr/>
          </p:nvSpPr>
          <p:spPr>
            <a:xfrm>
              <a:off x="2237543" y="2945738"/>
              <a:ext cx="813282" cy="43129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Embracon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FEA2B42F-033D-2F3C-4449-C917EB1E9F4D}"/>
                </a:ext>
              </a:extLst>
            </p:cNvPr>
            <p:cNvSpPr/>
            <p:nvPr/>
          </p:nvSpPr>
          <p:spPr>
            <a:xfrm>
              <a:off x="459390" y="2945738"/>
              <a:ext cx="813282" cy="431293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Embracon Franchising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935D4564-F364-CA8C-701E-CFF2F6A19A02}"/>
                </a:ext>
              </a:extLst>
            </p:cNvPr>
            <p:cNvSpPr/>
            <p:nvPr/>
          </p:nvSpPr>
          <p:spPr>
            <a:xfrm>
              <a:off x="958234" y="2148845"/>
              <a:ext cx="711978" cy="43129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Savian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4679C46A-4041-A5FE-BDF8-249F409901D9}"/>
                </a:ext>
              </a:extLst>
            </p:cNvPr>
            <p:cNvSpPr/>
            <p:nvPr/>
          </p:nvSpPr>
          <p:spPr>
            <a:xfrm>
              <a:off x="1987734" y="2148845"/>
              <a:ext cx="711978" cy="43129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JVFJ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cxnSp>
          <p:nvCxnSpPr>
            <p:cNvPr id="18" name="Conector: Angulado 17">
              <a:extLst>
                <a:ext uri="{FF2B5EF4-FFF2-40B4-BE49-F238E27FC236}">
                  <a16:creationId xmlns:a16="http://schemas.microsoft.com/office/drawing/2014/main" id="{3D821A88-643D-2CE2-429F-E2D204865FC0}"/>
                </a:ext>
              </a:extLst>
            </p:cNvPr>
            <p:cNvCxnSpPr>
              <a:cxnSpLocks/>
              <a:stCxn id="26" idx="2"/>
              <a:endCxn id="16" idx="0"/>
            </p:cNvCxnSpPr>
            <p:nvPr/>
          </p:nvCxnSpPr>
          <p:spPr>
            <a:xfrm rot="16200000" flipH="1">
              <a:off x="1938981" y="1744103"/>
              <a:ext cx="282052" cy="527431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: Angulado 18">
              <a:extLst>
                <a:ext uri="{FF2B5EF4-FFF2-40B4-BE49-F238E27FC236}">
                  <a16:creationId xmlns:a16="http://schemas.microsoft.com/office/drawing/2014/main" id="{48ED8ED2-3544-CA5B-DA09-416B22F9C930}"/>
                </a:ext>
              </a:extLst>
            </p:cNvPr>
            <p:cNvCxnSpPr>
              <a:cxnSpLocks/>
              <a:stCxn id="26" idx="2"/>
              <a:endCxn id="13" idx="0"/>
            </p:cNvCxnSpPr>
            <p:nvPr/>
          </p:nvCxnSpPr>
          <p:spPr>
            <a:xfrm rot="5400000">
              <a:off x="1424232" y="1756785"/>
              <a:ext cx="282052" cy="50206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: Angulado 19">
              <a:extLst>
                <a:ext uri="{FF2B5EF4-FFF2-40B4-BE49-F238E27FC236}">
                  <a16:creationId xmlns:a16="http://schemas.microsoft.com/office/drawing/2014/main" id="{FCD1D95B-1E83-4479-432A-508FE31A76EF}"/>
                </a:ext>
              </a:extLst>
            </p:cNvPr>
            <p:cNvCxnSpPr>
              <a:cxnSpLocks/>
              <a:stCxn id="16" idx="2"/>
              <a:endCxn id="11" idx="0"/>
            </p:cNvCxnSpPr>
            <p:nvPr/>
          </p:nvCxnSpPr>
          <p:spPr>
            <a:xfrm rot="5400000">
              <a:off x="1422077" y="2024092"/>
              <a:ext cx="365600" cy="1477692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: Angulado 20">
              <a:extLst>
                <a:ext uri="{FF2B5EF4-FFF2-40B4-BE49-F238E27FC236}">
                  <a16:creationId xmlns:a16="http://schemas.microsoft.com/office/drawing/2014/main" id="{C0C6B6D9-3303-CB2C-9B52-A669856E0A3C}"/>
                </a:ext>
              </a:extLst>
            </p:cNvPr>
            <p:cNvCxnSpPr>
              <a:cxnSpLocks/>
              <a:stCxn id="16" idx="2"/>
              <a:endCxn id="10" idx="0"/>
            </p:cNvCxnSpPr>
            <p:nvPr/>
          </p:nvCxnSpPr>
          <p:spPr>
            <a:xfrm rot="16200000" flipH="1">
              <a:off x="2311153" y="2612707"/>
              <a:ext cx="365600" cy="300461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: Angulado 22">
              <a:extLst>
                <a:ext uri="{FF2B5EF4-FFF2-40B4-BE49-F238E27FC236}">
                  <a16:creationId xmlns:a16="http://schemas.microsoft.com/office/drawing/2014/main" id="{8CCBCD22-7714-1AA0-2490-89691DE083AC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 rot="16200000" flipH="1">
              <a:off x="1796403" y="2097957"/>
              <a:ext cx="365600" cy="1329961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: Angulado 23">
              <a:extLst>
                <a:ext uri="{FF2B5EF4-FFF2-40B4-BE49-F238E27FC236}">
                  <a16:creationId xmlns:a16="http://schemas.microsoft.com/office/drawing/2014/main" id="{5BEEF9A8-E50A-58DF-B7EB-C2B78BB974D7}"/>
                </a:ext>
              </a:extLst>
            </p:cNvPr>
            <p:cNvCxnSpPr>
              <a:cxnSpLocks/>
              <a:stCxn id="13" idx="2"/>
              <a:endCxn id="11" idx="0"/>
            </p:cNvCxnSpPr>
            <p:nvPr/>
          </p:nvCxnSpPr>
          <p:spPr>
            <a:xfrm rot="5400000">
              <a:off x="907327" y="2538842"/>
              <a:ext cx="365600" cy="448192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48C69AEE-7A4D-C608-4558-1CCEA8B65D4F}"/>
              </a:ext>
            </a:extLst>
          </p:cNvPr>
          <p:cNvGrpSpPr/>
          <p:nvPr/>
        </p:nvGrpSpPr>
        <p:grpSpPr>
          <a:xfrm>
            <a:off x="2531254" y="1194677"/>
            <a:ext cx="1091712" cy="1853938"/>
            <a:chOff x="3377434" y="1450827"/>
            <a:chExt cx="1091712" cy="1853938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BD53DF15-3896-62C4-ACF0-05C58193A1D8}"/>
                </a:ext>
              </a:extLst>
            </p:cNvPr>
            <p:cNvSpPr/>
            <p:nvPr/>
          </p:nvSpPr>
          <p:spPr>
            <a:xfrm>
              <a:off x="3529372" y="2843100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CNP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Consórcio</a:t>
              </a:r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CFF99253-218C-E59C-6220-C570F6A79CAE}"/>
                </a:ext>
              </a:extLst>
            </p:cNvPr>
            <p:cNvSpPr/>
            <p:nvPr/>
          </p:nvSpPr>
          <p:spPr>
            <a:xfrm>
              <a:off x="3377434" y="1450827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Grupo CNP</a:t>
              </a:r>
            </a:p>
          </p:txBody>
        </p:sp>
        <p:cxnSp>
          <p:nvCxnSpPr>
            <p:cNvPr id="28" name="Conector: Angulado 27">
              <a:extLst>
                <a:ext uri="{FF2B5EF4-FFF2-40B4-BE49-F238E27FC236}">
                  <a16:creationId xmlns:a16="http://schemas.microsoft.com/office/drawing/2014/main" id="{D76492B1-CBE9-3A9C-7461-10FA67DCB23C}"/>
                </a:ext>
              </a:extLst>
            </p:cNvPr>
            <p:cNvCxnSpPr>
              <a:cxnSpLocks/>
              <a:stCxn id="36" idx="2"/>
              <a:endCxn id="5" idx="0"/>
            </p:cNvCxnSpPr>
            <p:nvPr/>
          </p:nvCxnSpPr>
          <p:spPr>
            <a:xfrm rot="5400000">
              <a:off x="3610155" y="2453765"/>
              <a:ext cx="778208" cy="46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8DBBD7FF-87FF-ED09-8A64-6F2331469985}"/>
                </a:ext>
              </a:extLst>
            </p:cNvPr>
            <p:cNvSpPr/>
            <p:nvPr/>
          </p:nvSpPr>
          <p:spPr>
            <a:xfrm>
              <a:off x="3529834" y="1603227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Grupo CNP</a:t>
              </a:r>
            </a:p>
          </p:txBody>
        </p:sp>
      </p:grp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E14557BF-B4A3-E184-0B5E-F73E68BD29B2}"/>
              </a:ext>
            </a:extLst>
          </p:cNvPr>
          <p:cNvSpPr txBox="1"/>
          <p:nvPr/>
        </p:nvSpPr>
        <p:spPr>
          <a:xfrm>
            <a:off x="8130852" y="1093086"/>
            <a:ext cx="1285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cap="small" dirty="0"/>
              <a:t>Estrutura Final</a:t>
            </a:r>
          </a:p>
        </p:txBody>
      </p:sp>
      <p:sp>
        <p:nvSpPr>
          <p:cNvPr id="91" name="Retângulo 90">
            <a:extLst>
              <a:ext uri="{FF2B5EF4-FFF2-40B4-BE49-F238E27FC236}">
                <a16:creationId xmlns:a16="http://schemas.microsoft.com/office/drawing/2014/main" id="{2B3A541F-D5CC-F44B-F910-87FC39595F7A}"/>
              </a:ext>
            </a:extLst>
          </p:cNvPr>
          <p:cNvSpPr/>
          <p:nvPr/>
        </p:nvSpPr>
        <p:spPr>
          <a:xfrm>
            <a:off x="10520404" y="3638087"/>
            <a:ext cx="461504" cy="28157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</a:rPr>
              <a:t>CNP </a:t>
            </a: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Consórcio</a:t>
            </a:r>
          </a:p>
        </p:txBody>
      </p:sp>
      <p:sp>
        <p:nvSpPr>
          <p:cNvPr id="97" name="Retângulo 96">
            <a:extLst>
              <a:ext uri="{FF2B5EF4-FFF2-40B4-BE49-F238E27FC236}">
                <a16:creationId xmlns:a16="http://schemas.microsoft.com/office/drawing/2014/main" id="{59B7D736-1DBC-0ADC-3063-32E818591580}"/>
              </a:ext>
            </a:extLst>
          </p:cNvPr>
          <p:cNvSpPr/>
          <p:nvPr/>
        </p:nvSpPr>
        <p:spPr>
          <a:xfrm>
            <a:off x="11013012" y="2179174"/>
            <a:ext cx="939312" cy="4616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00" b="1" dirty="0">
                <a:solidFill>
                  <a:schemeClr val="bg1"/>
                </a:solidFill>
              </a:rPr>
              <a:t>Grupo CNP</a:t>
            </a:r>
          </a:p>
        </p:txBody>
      </p:sp>
      <p:cxnSp>
        <p:nvCxnSpPr>
          <p:cNvPr id="98" name="Conector: Angulado 97">
            <a:extLst>
              <a:ext uri="{FF2B5EF4-FFF2-40B4-BE49-F238E27FC236}">
                <a16:creationId xmlns:a16="http://schemas.microsoft.com/office/drawing/2014/main" id="{7FF54683-1C2A-6699-250F-BCC1F5EF426B}"/>
              </a:ext>
            </a:extLst>
          </p:cNvPr>
          <p:cNvCxnSpPr>
            <a:cxnSpLocks/>
          </p:cNvCxnSpPr>
          <p:nvPr/>
        </p:nvCxnSpPr>
        <p:spPr>
          <a:xfrm rot="5400000">
            <a:off x="10933199" y="2373026"/>
            <a:ext cx="492027" cy="1345152"/>
          </a:xfrm>
          <a:prstGeom prst="bentConnector3">
            <a:avLst>
              <a:gd name="adj1" fmla="val 57613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Retângulo 98">
            <a:extLst>
              <a:ext uri="{FF2B5EF4-FFF2-40B4-BE49-F238E27FC236}">
                <a16:creationId xmlns:a16="http://schemas.microsoft.com/office/drawing/2014/main" id="{FA90DB10-FE94-7BEC-7507-B6043478DC56}"/>
              </a:ext>
            </a:extLst>
          </p:cNvPr>
          <p:cNvSpPr/>
          <p:nvPr/>
        </p:nvSpPr>
        <p:spPr>
          <a:xfrm>
            <a:off x="11165412" y="2331574"/>
            <a:ext cx="939312" cy="4616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00" b="1" dirty="0">
                <a:solidFill>
                  <a:schemeClr val="bg1"/>
                </a:solidFill>
              </a:rPr>
              <a:t>Grupo CNP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33C4E9D-0328-9CB9-23EA-5963C7A8D170}"/>
              </a:ext>
            </a:extLst>
          </p:cNvPr>
          <p:cNvSpPr txBox="1"/>
          <p:nvPr/>
        </p:nvSpPr>
        <p:spPr>
          <a:xfrm>
            <a:off x="9858676" y="2879909"/>
            <a:ext cx="69570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40%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4D9861E-01A7-0D1F-E814-573660E46291}"/>
              </a:ext>
            </a:extLst>
          </p:cNvPr>
          <p:cNvSpPr txBox="1"/>
          <p:nvPr/>
        </p:nvSpPr>
        <p:spPr>
          <a:xfrm>
            <a:off x="10317304" y="2894616"/>
            <a:ext cx="69570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20%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A95FAB08-DCDD-CDA3-E248-CD7976CF4E1A}"/>
              </a:ext>
            </a:extLst>
          </p:cNvPr>
          <p:cNvSpPr txBox="1"/>
          <p:nvPr/>
        </p:nvSpPr>
        <p:spPr>
          <a:xfrm>
            <a:off x="3971604" y="1065622"/>
            <a:ext cx="2357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cap="small" dirty="0"/>
              <a:t>Incorporação da CNP Consórcio</a:t>
            </a:r>
          </a:p>
        </p:txBody>
      </p: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1217BC97-80BA-2CF9-ABB9-9E4E6724BC35}"/>
              </a:ext>
            </a:extLst>
          </p:cNvPr>
          <p:cNvGrpSpPr/>
          <p:nvPr/>
        </p:nvGrpSpPr>
        <p:grpSpPr>
          <a:xfrm>
            <a:off x="6694101" y="1939452"/>
            <a:ext cx="1091712" cy="1853938"/>
            <a:chOff x="7134270" y="2023272"/>
            <a:chExt cx="1091712" cy="1853938"/>
          </a:xfrm>
        </p:grpSpPr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CEEB0138-0C48-DF91-629F-3A5686A2C9DE}"/>
                </a:ext>
              </a:extLst>
            </p:cNvPr>
            <p:cNvSpPr/>
            <p:nvPr/>
          </p:nvSpPr>
          <p:spPr>
            <a:xfrm>
              <a:off x="7286208" y="3415545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CNP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Consórcio</a:t>
              </a:r>
            </a:p>
          </p:txBody>
        </p:sp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9D864A01-F01E-B379-ACAD-292172AA2FCB}"/>
                </a:ext>
              </a:extLst>
            </p:cNvPr>
            <p:cNvSpPr/>
            <p:nvPr/>
          </p:nvSpPr>
          <p:spPr>
            <a:xfrm>
              <a:off x="7134270" y="2023272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Grupo CNP</a:t>
              </a:r>
            </a:p>
          </p:txBody>
        </p:sp>
        <p:cxnSp>
          <p:nvCxnSpPr>
            <p:cNvPr id="55" name="Conector: Angulado 54">
              <a:extLst>
                <a:ext uri="{FF2B5EF4-FFF2-40B4-BE49-F238E27FC236}">
                  <a16:creationId xmlns:a16="http://schemas.microsoft.com/office/drawing/2014/main" id="{2752BA77-AB38-ED32-B4C2-300AAC78D336}"/>
                </a:ext>
              </a:extLst>
            </p:cNvPr>
            <p:cNvCxnSpPr>
              <a:cxnSpLocks/>
              <a:stCxn id="56" idx="2"/>
              <a:endCxn id="53" idx="0"/>
            </p:cNvCxnSpPr>
            <p:nvPr/>
          </p:nvCxnSpPr>
          <p:spPr>
            <a:xfrm rot="5400000">
              <a:off x="7366991" y="3026210"/>
              <a:ext cx="778208" cy="46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Retângulo 55">
              <a:extLst>
                <a:ext uri="{FF2B5EF4-FFF2-40B4-BE49-F238E27FC236}">
                  <a16:creationId xmlns:a16="http://schemas.microsoft.com/office/drawing/2014/main" id="{23CA5DE5-9984-EFDC-6D47-3DD1AF3371BF}"/>
                </a:ext>
              </a:extLst>
            </p:cNvPr>
            <p:cNvSpPr/>
            <p:nvPr/>
          </p:nvSpPr>
          <p:spPr>
            <a:xfrm>
              <a:off x="7286670" y="2175672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Grupo CNP</a:t>
              </a:r>
            </a:p>
          </p:txBody>
        </p:sp>
      </p:grpSp>
      <p:sp>
        <p:nvSpPr>
          <p:cNvPr id="57" name="Seta: Curva para a Esquerda 56">
            <a:extLst>
              <a:ext uri="{FF2B5EF4-FFF2-40B4-BE49-F238E27FC236}">
                <a16:creationId xmlns:a16="http://schemas.microsoft.com/office/drawing/2014/main" id="{D4A75EE4-5890-1A2A-DACB-0AEE9BBC8A2C}"/>
              </a:ext>
            </a:extLst>
          </p:cNvPr>
          <p:cNvSpPr/>
          <p:nvPr/>
        </p:nvSpPr>
        <p:spPr>
          <a:xfrm rot="16200000" flipH="1">
            <a:off x="6585666" y="3105432"/>
            <a:ext cx="355602" cy="1824953"/>
          </a:xfrm>
          <a:prstGeom prst="curvedLeftArrow">
            <a:avLst>
              <a:gd name="adj1" fmla="val 5601"/>
              <a:gd name="adj2" fmla="val 38082"/>
              <a:gd name="adj3" fmla="val 19933"/>
            </a:avLst>
          </a:prstGeom>
          <a:solidFill>
            <a:srgbClr val="EA0600"/>
          </a:solidFill>
          <a:ln w="12700">
            <a:solidFill>
              <a:srgbClr val="EA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7D91CAE-7F75-58BB-52D5-F07DD15E05F6}"/>
              </a:ext>
            </a:extLst>
          </p:cNvPr>
          <p:cNvSpPr txBox="1"/>
          <p:nvPr/>
        </p:nvSpPr>
        <p:spPr>
          <a:xfrm>
            <a:off x="6134024" y="3888141"/>
            <a:ext cx="1253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rgbClr val="E20613"/>
                </a:solidFill>
              </a:rPr>
              <a:t>Incorporação</a:t>
            </a:r>
          </a:p>
        </p:txBody>
      </p: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71CD0178-9AA2-C691-575D-F363E7258B19}"/>
              </a:ext>
            </a:extLst>
          </p:cNvPr>
          <p:cNvGrpSpPr/>
          <p:nvPr/>
        </p:nvGrpSpPr>
        <p:grpSpPr>
          <a:xfrm>
            <a:off x="3955005" y="1400417"/>
            <a:ext cx="2560824" cy="2421815"/>
            <a:chOff x="459390" y="1164271"/>
            <a:chExt cx="2591435" cy="2212760"/>
          </a:xfrm>
        </p:grpSpPr>
        <p:grpSp>
          <p:nvGrpSpPr>
            <p:cNvPr id="76" name="Agrupar 75">
              <a:extLst>
                <a:ext uri="{FF2B5EF4-FFF2-40B4-BE49-F238E27FC236}">
                  <a16:creationId xmlns:a16="http://schemas.microsoft.com/office/drawing/2014/main" id="{87A8891D-5B6D-B31D-06AB-15EB0302D212}"/>
                </a:ext>
              </a:extLst>
            </p:cNvPr>
            <p:cNvGrpSpPr/>
            <p:nvPr/>
          </p:nvGrpSpPr>
          <p:grpSpPr>
            <a:xfrm>
              <a:off x="1515110" y="1164271"/>
              <a:ext cx="602363" cy="702522"/>
              <a:chOff x="2059922" y="1342429"/>
              <a:chExt cx="695708" cy="751993"/>
            </a:xfrm>
          </p:grpSpPr>
          <p:pic>
            <p:nvPicPr>
              <p:cNvPr id="87" name="Imagem 86">
                <a:extLst>
                  <a:ext uri="{FF2B5EF4-FFF2-40B4-BE49-F238E27FC236}">
                    <a16:creationId xmlns:a16="http://schemas.microsoft.com/office/drawing/2014/main" id="{12C3A6EE-5805-2C4D-F211-FE458656BC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39182" y="1342429"/>
                <a:ext cx="501329" cy="50132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53356669-2D51-BC6A-88A4-1A58F78254BE}"/>
                  </a:ext>
                </a:extLst>
              </p:cNvPr>
              <p:cNvSpPr txBox="1"/>
              <p:nvPr/>
            </p:nvSpPr>
            <p:spPr>
              <a:xfrm>
                <a:off x="2059922" y="1848201"/>
                <a:ext cx="69570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PFs</a:t>
                </a:r>
              </a:p>
            </p:txBody>
          </p:sp>
        </p:grpSp>
        <p:sp>
          <p:nvSpPr>
            <p:cNvPr id="77" name="Retângulo 76">
              <a:extLst>
                <a:ext uri="{FF2B5EF4-FFF2-40B4-BE49-F238E27FC236}">
                  <a16:creationId xmlns:a16="http://schemas.microsoft.com/office/drawing/2014/main" id="{2AA6FCA9-92FC-E031-BAC7-DE2370ECED48}"/>
                </a:ext>
              </a:extLst>
            </p:cNvPr>
            <p:cNvSpPr/>
            <p:nvPr/>
          </p:nvSpPr>
          <p:spPr>
            <a:xfrm>
              <a:off x="2237543" y="2945738"/>
              <a:ext cx="813282" cy="43129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Embracon</a:t>
              </a:r>
            </a:p>
          </p:txBody>
        </p:sp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E2C9C7FC-6E9E-25D7-062B-F162E83278C1}"/>
                </a:ext>
              </a:extLst>
            </p:cNvPr>
            <p:cNvSpPr/>
            <p:nvPr/>
          </p:nvSpPr>
          <p:spPr>
            <a:xfrm>
              <a:off x="459390" y="2945738"/>
              <a:ext cx="813282" cy="431293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Embracon Franchising</a:t>
              </a:r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82FF7FDA-1212-6DFC-1CB6-373DEC2CFE4D}"/>
                </a:ext>
              </a:extLst>
            </p:cNvPr>
            <p:cNvSpPr/>
            <p:nvPr/>
          </p:nvSpPr>
          <p:spPr>
            <a:xfrm>
              <a:off x="958234" y="2148845"/>
              <a:ext cx="711978" cy="43129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Savian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D24DAF2B-5BDF-0ED1-1262-6F2A1B62ECFB}"/>
                </a:ext>
              </a:extLst>
            </p:cNvPr>
            <p:cNvSpPr/>
            <p:nvPr/>
          </p:nvSpPr>
          <p:spPr>
            <a:xfrm>
              <a:off x="1987734" y="2148845"/>
              <a:ext cx="711978" cy="43129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JVFJ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cxnSp>
          <p:nvCxnSpPr>
            <p:cNvPr id="81" name="Conector: Angulado 80">
              <a:extLst>
                <a:ext uri="{FF2B5EF4-FFF2-40B4-BE49-F238E27FC236}">
                  <a16:creationId xmlns:a16="http://schemas.microsoft.com/office/drawing/2014/main" id="{749A598C-DF17-8BE1-AB55-CA523E34855B}"/>
                </a:ext>
              </a:extLst>
            </p:cNvPr>
            <p:cNvCxnSpPr>
              <a:cxnSpLocks/>
              <a:stCxn id="88" idx="2"/>
              <a:endCxn id="80" idx="0"/>
            </p:cNvCxnSpPr>
            <p:nvPr/>
          </p:nvCxnSpPr>
          <p:spPr>
            <a:xfrm rot="16200000" flipH="1">
              <a:off x="1938981" y="1744103"/>
              <a:ext cx="282052" cy="527431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: Angulado 81">
              <a:extLst>
                <a:ext uri="{FF2B5EF4-FFF2-40B4-BE49-F238E27FC236}">
                  <a16:creationId xmlns:a16="http://schemas.microsoft.com/office/drawing/2014/main" id="{BB27BF97-3B04-729E-55E5-572ECD5E4916}"/>
                </a:ext>
              </a:extLst>
            </p:cNvPr>
            <p:cNvCxnSpPr>
              <a:cxnSpLocks/>
              <a:stCxn id="88" idx="2"/>
              <a:endCxn id="79" idx="0"/>
            </p:cNvCxnSpPr>
            <p:nvPr/>
          </p:nvCxnSpPr>
          <p:spPr>
            <a:xfrm rot="5400000">
              <a:off x="1424232" y="1756785"/>
              <a:ext cx="282052" cy="50206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: Angulado 82">
              <a:extLst>
                <a:ext uri="{FF2B5EF4-FFF2-40B4-BE49-F238E27FC236}">
                  <a16:creationId xmlns:a16="http://schemas.microsoft.com/office/drawing/2014/main" id="{EACC4E06-0E58-64AE-1422-D742E4BE226F}"/>
                </a:ext>
              </a:extLst>
            </p:cNvPr>
            <p:cNvCxnSpPr>
              <a:cxnSpLocks/>
              <a:stCxn id="80" idx="2"/>
              <a:endCxn id="78" idx="0"/>
            </p:cNvCxnSpPr>
            <p:nvPr/>
          </p:nvCxnSpPr>
          <p:spPr>
            <a:xfrm rot="5400000">
              <a:off x="1422077" y="2024092"/>
              <a:ext cx="365600" cy="1477692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: Angulado 83">
              <a:extLst>
                <a:ext uri="{FF2B5EF4-FFF2-40B4-BE49-F238E27FC236}">
                  <a16:creationId xmlns:a16="http://schemas.microsoft.com/office/drawing/2014/main" id="{DD154B6B-EFD4-804C-035B-DDF6152627C2}"/>
                </a:ext>
              </a:extLst>
            </p:cNvPr>
            <p:cNvCxnSpPr>
              <a:cxnSpLocks/>
              <a:stCxn id="80" idx="2"/>
              <a:endCxn id="77" idx="0"/>
            </p:cNvCxnSpPr>
            <p:nvPr/>
          </p:nvCxnSpPr>
          <p:spPr>
            <a:xfrm rot="16200000" flipH="1">
              <a:off x="2311153" y="2612707"/>
              <a:ext cx="365600" cy="300461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: Angulado 84">
              <a:extLst>
                <a:ext uri="{FF2B5EF4-FFF2-40B4-BE49-F238E27FC236}">
                  <a16:creationId xmlns:a16="http://schemas.microsoft.com/office/drawing/2014/main" id="{E4D9D5E4-E7D4-1E84-B33D-F9B75FF02BE2}"/>
                </a:ext>
              </a:extLst>
            </p:cNvPr>
            <p:cNvCxnSpPr>
              <a:cxnSpLocks/>
              <a:stCxn id="79" idx="2"/>
              <a:endCxn id="77" idx="0"/>
            </p:cNvCxnSpPr>
            <p:nvPr/>
          </p:nvCxnSpPr>
          <p:spPr>
            <a:xfrm rot="16200000" flipH="1">
              <a:off x="1796403" y="2097957"/>
              <a:ext cx="365600" cy="1329961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: Angulado 85">
              <a:extLst>
                <a:ext uri="{FF2B5EF4-FFF2-40B4-BE49-F238E27FC236}">
                  <a16:creationId xmlns:a16="http://schemas.microsoft.com/office/drawing/2014/main" id="{1FB66147-F7F1-01EF-E3FC-D13123EE73C8}"/>
                </a:ext>
              </a:extLst>
            </p:cNvPr>
            <p:cNvCxnSpPr>
              <a:cxnSpLocks/>
              <a:stCxn id="79" idx="2"/>
              <a:endCxn id="78" idx="0"/>
            </p:cNvCxnSpPr>
            <p:nvPr/>
          </p:nvCxnSpPr>
          <p:spPr>
            <a:xfrm rot="5400000">
              <a:off x="907327" y="2538842"/>
              <a:ext cx="365600" cy="448192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824785-C6F8-4740-86C6-1604FDBB9CB4}"/>
              </a:ext>
            </a:extLst>
          </p:cNvPr>
          <p:cNvSpPr txBox="1"/>
          <p:nvPr/>
        </p:nvSpPr>
        <p:spPr>
          <a:xfrm>
            <a:off x="8482502" y="2861249"/>
            <a:ext cx="69570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50%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338420B-4AF2-9B03-E5AA-1D6C5A513D10}"/>
              </a:ext>
            </a:extLst>
          </p:cNvPr>
          <p:cNvCxnSpPr/>
          <p:nvPr/>
        </p:nvCxnSpPr>
        <p:spPr>
          <a:xfrm>
            <a:off x="9308305" y="2879909"/>
            <a:ext cx="0" cy="656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3FE9F233-B11B-08F1-4F1C-A33ABD097F05}"/>
              </a:ext>
            </a:extLst>
          </p:cNvPr>
          <p:cNvCxnSpPr>
            <a:endCxn id="108" idx="1"/>
          </p:cNvCxnSpPr>
          <p:nvPr/>
        </p:nvCxnSpPr>
        <p:spPr>
          <a:xfrm flipV="1">
            <a:off x="9308305" y="3535612"/>
            <a:ext cx="646084" cy="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E9CB401-174C-6A1B-D668-5F5963F847E3}"/>
              </a:ext>
            </a:extLst>
          </p:cNvPr>
          <p:cNvSpPr txBox="1"/>
          <p:nvPr/>
        </p:nvSpPr>
        <p:spPr>
          <a:xfrm>
            <a:off x="9073443" y="2873685"/>
            <a:ext cx="69570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40%</a:t>
            </a: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7A6053EB-166D-03A6-706C-B8D1508056F7}"/>
              </a:ext>
            </a:extLst>
          </p:cNvPr>
          <p:cNvCxnSpPr/>
          <p:nvPr/>
        </p:nvCxnSpPr>
        <p:spPr>
          <a:xfrm>
            <a:off x="9769151" y="2861249"/>
            <a:ext cx="0" cy="48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4728E892-46A6-E9BA-E8FE-D2E0ED5C7C3F}"/>
              </a:ext>
            </a:extLst>
          </p:cNvPr>
          <p:cNvCxnSpPr/>
          <p:nvPr/>
        </p:nvCxnSpPr>
        <p:spPr>
          <a:xfrm flipH="1">
            <a:off x="9054705" y="3350191"/>
            <a:ext cx="7144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09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A35E2-779B-606D-2C50-50ABF54A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8FAA80DE-EE2D-E6F6-EE97-9B715404F277}"/>
              </a:ext>
            </a:extLst>
          </p:cNvPr>
          <p:cNvCxnSpPr>
            <a:cxnSpLocks/>
          </p:cNvCxnSpPr>
          <p:nvPr/>
        </p:nvCxnSpPr>
        <p:spPr>
          <a:xfrm>
            <a:off x="10234405" y="3117087"/>
            <a:ext cx="0" cy="230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AEC7633B-4A81-5AD6-E058-FD89A3604C9A}"/>
              </a:ext>
            </a:extLst>
          </p:cNvPr>
          <p:cNvCxnSpPr/>
          <p:nvPr/>
        </p:nvCxnSpPr>
        <p:spPr>
          <a:xfrm flipH="1">
            <a:off x="9139030" y="3505431"/>
            <a:ext cx="6301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8A764593-FDC3-3290-2737-1F5DE2D70398}"/>
              </a:ext>
            </a:extLst>
          </p:cNvPr>
          <p:cNvGrpSpPr/>
          <p:nvPr/>
        </p:nvGrpSpPr>
        <p:grpSpPr>
          <a:xfrm>
            <a:off x="4252211" y="1428636"/>
            <a:ext cx="3553054" cy="2337011"/>
            <a:chOff x="175383" y="1472546"/>
            <a:chExt cx="3553054" cy="2337011"/>
          </a:xfrm>
        </p:grpSpPr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2EEAF6A8-6D2D-977A-5BEC-4383AC595A7F}"/>
                </a:ext>
              </a:extLst>
            </p:cNvPr>
            <p:cNvSpPr/>
            <p:nvPr/>
          </p:nvSpPr>
          <p:spPr>
            <a:xfrm>
              <a:off x="1443538" y="3347892"/>
              <a:ext cx="939312" cy="46166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Embracon</a:t>
              </a:r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4B7BA864-7D73-CF70-6AD1-556B52152721}"/>
                </a:ext>
              </a:extLst>
            </p:cNvPr>
            <p:cNvSpPr/>
            <p:nvPr/>
          </p:nvSpPr>
          <p:spPr>
            <a:xfrm>
              <a:off x="175383" y="2437916"/>
              <a:ext cx="822310" cy="46166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Savian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8E59834E-F331-5EE4-11FD-7C7382BB4282}"/>
                </a:ext>
              </a:extLst>
            </p:cNvPr>
            <p:cNvSpPr/>
            <p:nvPr/>
          </p:nvSpPr>
          <p:spPr>
            <a:xfrm>
              <a:off x="1264138" y="2437916"/>
              <a:ext cx="822310" cy="46166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JVFJ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D4D697DA-5E6D-968B-F771-B9F6DBF46316}"/>
                </a:ext>
              </a:extLst>
            </p:cNvPr>
            <p:cNvSpPr/>
            <p:nvPr/>
          </p:nvSpPr>
          <p:spPr>
            <a:xfrm>
              <a:off x="2636725" y="2266930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Grupo CNP</a:t>
              </a:r>
            </a:p>
          </p:txBody>
        </p:sp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B10A4766-E27F-7404-70DD-673F9FE80574}"/>
                </a:ext>
              </a:extLst>
            </p:cNvPr>
            <p:cNvSpPr/>
            <p:nvPr/>
          </p:nvSpPr>
          <p:spPr>
            <a:xfrm>
              <a:off x="2789125" y="2439950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Grupo CNP</a:t>
              </a:r>
            </a:p>
          </p:txBody>
        </p: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id="{FDE668C5-4506-EAE8-8E02-8100CEF881FB}"/>
                </a:ext>
              </a:extLst>
            </p:cNvPr>
            <p:cNvGrpSpPr/>
            <p:nvPr/>
          </p:nvGrpSpPr>
          <p:grpSpPr>
            <a:xfrm>
              <a:off x="770507" y="1472546"/>
              <a:ext cx="695708" cy="751993"/>
              <a:chOff x="2059922" y="1342429"/>
              <a:chExt cx="695708" cy="751993"/>
            </a:xfrm>
          </p:grpSpPr>
          <p:pic>
            <p:nvPicPr>
              <p:cNvPr id="68" name="Imagem 67">
                <a:extLst>
                  <a:ext uri="{FF2B5EF4-FFF2-40B4-BE49-F238E27FC236}">
                    <a16:creationId xmlns:a16="http://schemas.microsoft.com/office/drawing/2014/main" id="{725E5DBA-3929-A5F6-2CDF-326F82FE95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39182" y="1342429"/>
                <a:ext cx="501329" cy="50132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A7E0BC33-EE8D-BDDC-C384-308A50DEBCEC}"/>
                  </a:ext>
                </a:extLst>
              </p:cNvPr>
              <p:cNvSpPr txBox="1"/>
              <p:nvPr/>
            </p:nvSpPr>
            <p:spPr>
              <a:xfrm>
                <a:off x="2059922" y="1848201"/>
                <a:ext cx="69570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PFs</a:t>
                </a:r>
              </a:p>
            </p:txBody>
          </p:sp>
        </p:grpSp>
        <p:cxnSp>
          <p:nvCxnSpPr>
            <p:cNvPr id="58" name="Conector: Angulado 57">
              <a:extLst>
                <a:ext uri="{FF2B5EF4-FFF2-40B4-BE49-F238E27FC236}">
                  <a16:creationId xmlns:a16="http://schemas.microsoft.com/office/drawing/2014/main" id="{9A3FBC11-1076-7243-8F1D-846EEC3185FB}"/>
                </a:ext>
              </a:extLst>
            </p:cNvPr>
            <p:cNvCxnSpPr>
              <a:cxnSpLocks/>
              <a:stCxn id="69" idx="2"/>
              <a:endCxn id="51" idx="0"/>
            </p:cNvCxnSpPr>
            <p:nvPr/>
          </p:nvCxnSpPr>
          <p:spPr>
            <a:xfrm rot="5400000">
              <a:off x="745762" y="2065316"/>
              <a:ext cx="213377" cy="53182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ector: Angulado 58">
              <a:extLst>
                <a:ext uri="{FF2B5EF4-FFF2-40B4-BE49-F238E27FC236}">
                  <a16:creationId xmlns:a16="http://schemas.microsoft.com/office/drawing/2014/main" id="{1BCF2537-47AE-FC8F-FEB4-49D1515BC70A}"/>
                </a:ext>
              </a:extLst>
            </p:cNvPr>
            <p:cNvCxnSpPr>
              <a:cxnSpLocks/>
              <a:stCxn id="69" idx="2"/>
              <a:endCxn id="52" idx="0"/>
            </p:cNvCxnSpPr>
            <p:nvPr/>
          </p:nvCxnSpPr>
          <p:spPr>
            <a:xfrm rot="16200000" flipH="1">
              <a:off x="1290139" y="2052761"/>
              <a:ext cx="213377" cy="55693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object 3">
            <a:extLst>
              <a:ext uri="{FF2B5EF4-FFF2-40B4-BE49-F238E27FC236}">
                <a16:creationId xmlns:a16="http://schemas.microsoft.com/office/drawing/2014/main" id="{B0BEBE3F-0B81-0D67-518C-AE5B5BC214C8}"/>
              </a:ext>
            </a:extLst>
          </p:cNvPr>
          <p:cNvSpPr txBox="1">
            <a:spLocks/>
          </p:cNvSpPr>
          <p:nvPr/>
        </p:nvSpPr>
        <p:spPr>
          <a:xfrm>
            <a:off x="609601" y="382496"/>
            <a:ext cx="10603265" cy="437298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6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Passo 2: Venda de parte das Holdings </a:t>
            </a:r>
            <a:r>
              <a:rPr lang="pt-BR" sz="2600" b="1" cap="small" dirty="0" err="1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Embracon</a:t>
            </a:r>
            <a:endParaRPr lang="pt-BR" sz="2600" b="1" cap="small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aixaDeTexto 1">
            <a:extLst>
              <a:ext uri="{FF2B5EF4-FFF2-40B4-BE49-F238E27FC236}">
                <a16:creationId xmlns:a16="http://schemas.microsoft.com/office/drawing/2014/main" id="{F02B7DAF-78D9-471B-A4F0-C5F0C19A2B69}"/>
              </a:ext>
            </a:extLst>
          </p:cNvPr>
          <p:cNvSpPr txBox="1"/>
          <p:nvPr/>
        </p:nvSpPr>
        <p:spPr>
          <a:xfrm>
            <a:off x="391167" y="4676145"/>
            <a:ext cx="1145516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E10600"/>
              </a:buClr>
            </a:pPr>
            <a:r>
              <a:rPr lang="pt-BR" sz="1200" b="1" u="sng" cap="small" dirty="0">
                <a:solidFill>
                  <a:srgbClr val="EA0600"/>
                </a:solidFill>
              </a:rPr>
              <a:t>Descrição</a:t>
            </a:r>
          </a:p>
          <a:p>
            <a:pPr marL="171450" indent="-171450" algn="just">
              <a:spcAft>
                <a:spcPts val="600"/>
              </a:spcAft>
              <a:buClr>
                <a:srgbClr val="E10600"/>
              </a:buClr>
              <a:buFont typeface="Arial" panose="020B0604020202020204" pitchFamily="34" charset="0"/>
              <a:buChar char="•"/>
            </a:pPr>
            <a:r>
              <a:rPr lang="pt-BR" sz="1200" b="1" dirty="0"/>
              <a:t>Alienação de parte das Holdings Embracon:</a:t>
            </a:r>
            <a:r>
              <a:rPr lang="pt-BR" sz="1200" dirty="0"/>
              <a:t> Os sócios das Holdings </a:t>
            </a:r>
            <a:r>
              <a:rPr lang="pt-BR" sz="1200" dirty="0" err="1"/>
              <a:t>Embracon</a:t>
            </a:r>
            <a:r>
              <a:rPr lang="pt-BR" sz="1200" dirty="0"/>
              <a:t> (“</a:t>
            </a:r>
            <a:r>
              <a:rPr lang="pt-BR" sz="1200" u="sng" dirty="0"/>
              <a:t>Sócios </a:t>
            </a:r>
            <a:r>
              <a:rPr lang="pt-BR" sz="1200" u="sng" dirty="0" err="1"/>
              <a:t>Embracon</a:t>
            </a:r>
            <a:r>
              <a:rPr lang="pt-BR" sz="1200" dirty="0"/>
              <a:t>”) </a:t>
            </a:r>
            <a:r>
              <a:rPr lang="pt-BR" sz="1200" b="1" dirty="0"/>
              <a:t>alienam</a:t>
            </a:r>
            <a:r>
              <a:rPr lang="pt-BR" sz="1200" dirty="0"/>
              <a:t> diretamente sua participação proporcional nas Holdings </a:t>
            </a:r>
            <a:r>
              <a:rPr lang="pt-BR" sz="1200" dirty="0" err="1"/>
              <a:t>Embracon</a:t>
            </a:r>
            <a:r>
              <a:rPr lang="pt-BR" sz="1200" dirty="0"/>
              <a:t> para o Grupo CNP. Como resultado, o Grupo CNP aumenta sua participação na </a:t>
            </a:r>
            <a:r>
              <a:rPr lang="pt-BR" sz="1200" dirty="0" err="1"/>
              <a:t>Embracon</a:t>
            </a:r>
            <a:r>
              <a:rPr lang="pt-BR" sz="1200" dirty="0"/>
              <a:t> (detida após passo 1) e passa a deter, direta e indiretamente, 40% da Embracon, enquanto os Sócios Embracon permanecem com 60%. Adicionalmente, a CNP passa a deter, indiretamente, 25% das ações da </a:t>
            </a:r>
            <a:r>
              <a:rPr lang="pt-BR" sz="1200" dirty="0" err="1"/>
              <a:t>Embracon</a:t>
            </a:r>
            <a:r>
              <a:rPr lang="pt-BR" sz="1200" dirty="0"/>
              <a:t> Franchising.</a:t>
            </a:r>
          </a:p>
          <a:p>
            <a:pPr marL="171450" indent="-171450" algn="just">
              <a:spcAft>
                <a:spcPts val="600"/>
              </a:spcAft>
              <a:buClr>
                <a:srgbClr val="E10600"/>
              </a:buClr>
              <a:buFont typeface="Arial" panose="020B0604020202020204" pitchFamily="34" charset="0"/>
              <a:buChar char="•"/>
            </a:pPr>
            <a:r>
              <a:rPr lang="pt-BR" sz="1200" b="1" dirty="0"/>
              <a:t>*A CNP </a:t>
            </a:r>
            <a:r>
              <a:rPr lang="pt-BR" sz="1200" dirty="0"/>
              <a:t>terá o direito, sujeito a determinadas condições, de elevar sua participação na </a:t>
            </a:r>
            <a:r>
              <a:rPr lang="pt-BR" sz="1200" dirty="0" err="1"/>
              <a:t>Embracon</a:t>
            </a:r>
            <a:r>
              <a:rPr lang="pt-BR" sz="1200" dirty="0"/>
              <a:t> </a:t>
            </a:r>
            <a:r>
              <a:rPr lang="pt-BR" sz="1200" dirty="0" err="1"/>
              <a:t>Franchasing</a:t>
            </a:r>
            <a:r>
              <a:rPr lang="pt-BR" sz="1200" dirty="0"/>
              <a:t> dos 25% atuais para 40%, mediante instrumentos a serem negociados entre as Partes.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7DD800A-429E-1E5C-21DC-DC542FC96DEC}"/>
              </a:ext>
            </a:extLst>
          </p:cNvPr>
          <p:cNvSpPr/>
          <p:nvPr/>
        </p:nvSpPr>
        <p:spPr>
          <a:xfrm>
            <a:off x="4875181" y="1065623"/>
            <a:ext cx="7040299" cy="5212629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9132CBAF-8DC4-6A69-5A14-729E54BB2594}"/>
              </a:ext>
            </a:extLst>
          </p:cNvPr>
          <p:cNvSpPr txBox="1"/>
          <p:nvPr/>
        </p:nvSpPr>
        <p:spPr>
          <a:xfrm>
            <a:off x="241383" y="1072725"/>
            <a:ext cx="2141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cap="small" dirty="0"/>
              <a:t>Estrutura inicial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3D8D8C58-6688-CC1D-D0C4-D967D67BBF80}"/>
              </a:ext>
            </a:extLst>
          </p:cNvPr>
          <p:cNvSpPr/>
          <p:nvPr/>
        </p:nvSpPr>
        <p:spPr>
          <a:xfrm>
            <a:off x="207391" y="1065622"/>
            <a:ext cx="4553145" cy="5212630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96" name="Seta: Curva para a Esquerda 95">
            <a:extLst>
              <a:ext uri="{FF2B5EF4-FFF2-40B4-BE49-F238E27FC236}">
                <a16:creationId xmlns:a16="http://schemas.microsoft.com/office/drawing/2014/main" id="{56EA5F76-2999-96DE-736E-CF9F2EAD7161}"/>
              </a:ext>
            </a:extLst>
          </p:cNvPr>
          <p:cNvSpPr/>
          <p:nvPr/>
        </p:nvSpPr>
        <p:spPr>
          <a:xfrm rot="16200000">
            <a:off x="6217993" y="1008433"/>
            <a:ext cx="354301" cy="1768740"/>
          </a:xfrm>
          <a:prstGeom prst="curvedLeftArrow">
            <a:avLst>
              <a:gd name="adj1" fmla="val 7569"/>
              <a:gd name="adj2" fmla="val 27911"/>
              <a:gd name="adj3" fmla="val 26654"/>
            </a:avLst>
          </a:prstGeom>
          <a:solidFill>
            <a:srgbClr val="EA0600"/>
          </a:solidFill>
          <a:ln w="12700">
            <a:solidFill>
              <a:srgbClr val="EA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5A362ECF-0FF8-53A5-0DFE-52DE90DF258A}"/>
              </a:ext>
            </a:extLst>
          </p:cNvPr>
          <p:cNvSpPr txBox="1"/>
          <p:nvPr/>
        </p:nvSpPr>
        <p:spPr>
          <a:xfrm>
            <a:off x="6265922" y="1385099"/>
            <a:ext cx="1614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rgbClr val="E20613"/>
                </a:solidFill>
              </a:rPr>
              <a:t>Alienação de parte das ações das Holdings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F3F83F1A-2ABF-412F-86A9-FF7DEEBFEAA6}"/>
              </a:ext>
            </a:extLst>
          </p:cNvPr>
          <p:cNvSpPr txBox="1"/>
          <p:nvPr/>
        </p:nvSpPr>
        <p:spPr>
          <a:xfrm>
            <a:off x="4011624" y="1011170"/>
            <a:ext cx="1795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u="sng" cap="small" dirty="0"/>
              <a:t>Step i</a:t>
            </a:r>
            <a:r>
              <a:rPr lang="pt-BR" sz="1200" b="1" cap="small" dirty="0"/>
              <a:t> - Alienação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1372E6D-2937-739C-E3F8-D4C7D8580D00}"/>
              </a:ext>
            </a:extLst>
          </p:cNvPr>
          <p:cNvSpPr txBox="1"/>
          <p:nvPr/>
        </p:nvSpPr>
        <p:spPr>
          <a:xfrm>
            <a:off x="8302361" y="1088618"/>
            <a:ext cx="1614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cap="small" dirty="0"/>
              <a:t>Estrutura Final</a:t>
            </a:r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1437E5C4-FD9E-56D1-DC33-E0C26076DDEF}"/>
              </a:ext>
            </a:extLst>
          </p:cNvPr>
          <p:cNvGrpSpPr/>
          <p:nvPr/>
        </p:nvGrpSpPr>
        <p:grpSpPr>
          <a:xfrm>
            <a:off x="219833" y="1472546"/>
            <a:ext cx="3553054" cy="2337011"/>
            <a:chOff x="175383" y="1472546"/>
            <a:chExt cx="3553054" cy="2337011"/>
          </a:xfrm>
        </p:grpSpPr>
        <p:cxnSp>
          <p:nvCxnSpPr>
            <p:cNvPr id="83" name="Conector: Angulado 82">
              <a:extLst>
                <a:ext uri="{FF2B5EF4-FFF2-40B4-BE49-F238E27FC236}">
                  <a16:creationId xmlns:a16="http://schemas.microsoft.com/office/drawing/2014/main" id="{A37FE88D-450A-FC62-3CA0-14322D6F3F40}"/>
                </a:ext>
              </a:extLst>
            </p:cNvPr>
            <p:cNvCxnSpPr>
              <a:cxnSpLocks/>
              <a:stCxn id="82" idx="2"/>
              <a:endCxn id="66" idx="0"/>
            </p:cNvCxnSpPr>
            <p:nvPr/>
          </p:nvCxnSpPr>
          <p:spPr>
            <a:xfrm rot="16200000" flipH="1">
              <a:off x="1570088" y="3004785"/>
              <a:ext cx="448311" cy="23790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Retângulo 65">
              <a:extLst>
                <a:ext uri="{FF2B5EF4-FFF2-40B4-BE49-F238E27FC236}">
                  <a16:creationId xmlns:a16="http://schemas.microsoft.com/office/drawing/2014/main" id="{DFFDC33A-D123-E59F-EB99-289FD7D05FF7}"/>
                </a:ext>
              </a:extLst>
            </p:cNvPr>
            <p:cNvSpPr/>
            <p:nvPr/>
          </p:nvSpPr>
          <p:spPr>
            <a:xfrm>
              <a:off x="1443538" y="3347892"/>
              <a:ext cx="939312" cy="46166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Embracon</a:t>
              </a:r>
            </a:p>
          </p:txBody>
        </p:sp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7C83739F-C73B-B7A9-7FD5-93BA62072295}"/>
                </a:ext>
              </a:extLst>
            </p:cNvPr>
            <p:cNvSpPr/>
            <p:nvPr/>
          </p:nvSpPr>
          <p:spPr>
            <a:xfrm>
              <a:off x="175383" y="2437916"/>
              <a:ext cx="822310" cy="46166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Savian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68D2F445-40F4-786D-7280-07B33931F7B9}"/>
                </a:ext>
              </a:extLst>
            </p:cNvPr>
            <p:cNvSpPr/>
            <p:nvPr/>
          </p:nvSpPr>
          <p:spPr>
            <a:xfrm>
              <a:off x="1264138" y="2437916"/>
              <a:ext cx="822310" cy="46166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JVFJ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DB734280-957E-FA3D-232C-9821FCB70C4B}"/>
                </a:ext>
              </a:extLst>
            </p:cNvPr>
            <p:cNvSpPr/>
            <p:nvPr/>
          </p:nvSpPr>
          <p:spPr>
            <a:xfrm>
              <a:off x="2636725" y="2266930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Grupo CNP</a:t>
              </a:r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id="{4452481A-9BAC-185B-5395-E42081F762A6}"/>
                </a:ext>
              </a:extLst>
            </p:cNvPr>
            <p:cNvSpPr/>
            <p:nvPr/>
          </p:nvSpPr>
          <p:spPr>
            <a:xfrm>
              <a:off x="2789125" y="2437260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Grupo CNP</a:t>
              </a:r>
            </a:p>
          </p:txBody>
        </p:sp>
        <p:grpSp>
          <p:nvGrpSpPr>
            <p:cNvPr id="88" name="Agrupar 87">
              <a:extLst>
                <a:ext uri="{FF2B5EF4-FFF2-40B4-BE49-F238E27FC236}">
                  <a16:creationId xmlns:a16="http://schemas.microsoft.com/office/drawing/2014/main" id="{FA660D1D-75A5-4810-A295-6B4493E2AF32}"/>
                </a:ext>
              </a:extLst>
            </p:cNvPr>
            <p:cNvGrpSpPr/>
            <p:nvPr/>
          </p:nvGrpSpPr>
          <p:grpSpPr>
            <a:xfrm>
              <a:off x="770507" y="1472546"/>
              <a:ext cx="695708" cy="751993"/>
              <a:chOff x="2059922" y="1342429"/>
              <a:chExt cx="695708" cy="751993"/>
            </a:xfrm>
          </p:grpSpPr>
          <p:pic>
            <p:nvPicPr>
              <p:cNvPr id="89" name="Imagem 88">
                <a:extLst>
                  <a:ext uri="{FF2B5EF4-FFF2-40B4-BE49-F238E27FC236}">
                    <a16:creationId xmlns:a16="http://schemas.microsoft.com/office/drawing/2014/main" id="{FAE9B969-1A9D-C6F5-3A49-691951407D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39182" y="1342429"/>
                <a:ext cx="501329" cy="50132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0" name="CaixaDeTexto 89">
                <a:extLst>
                  <a:ext uri="{FF2B5EF4-FFF2-40B4-BE49-F238E27FC236}">
                    <a16:creationId xmlns:a16="http://schemas.microsoft.com/office/drawing/2014/main" id="{A96BDE0C-8863-2E92-BBF6-9B51B5420370}"/>
                  </a:ext>
                </a:extLst>
              </p:cNvPr>
              <p:cNvSpPr txBox="1"/>
              <p:nvPr/>
            </p:nvSpPr>
            <p:spPr>
              <a:xfrm>
                <a:off x="2059922" y="1848201"/>
                <a:ext cx="69570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PFs</a:t>
                </a:r>
              </a:p>
            </p:txBody>
          </p:sp>
        </p:grpSp>
        <p:cxnSp>
          <p:nvCxnSpPr>
            <p:cNvPr id="91" name="Conector: Angulado 90">
              <a:extLst>
                <a:ext uri="{FF2B5EF4-FFF2-40B4-BE49-F238E27FC236}">
                  <a16:creationId xmlns:a16="http://schemas.microsoft.com/office/drawing/2014/main" id="{4959732D-B065-B214-9A05-35D2F0C6F00F}"/>
                </a:ext>
              </a:extLst>
            </p:cNvPr>
            <p:cNvCxnSpPr>
              <a:cxnSpLocks/>
              <a:stCxn id="90" idx="2"/>
              <a:endCxn id="81" idx="0"/>
            </p:cNvCxnSpPr>
            <p:nvPr/>
          </p:nvCxnSpPr>
          <p:spPr>
            <a:xfrm rot="5400000">
              <a:off x="745762" y="2065316"/>
              <a:ext cx="213377" cy="53182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Conector: Angulado 91">
              <a:extLst>
                <a:ext uri="{FF2B5EF4-FFF2-40B4-BE49-F238E27FC236}">
                  <a16:creationId xmlns:a16="http://schemas.microsoft.com/office/drawing/2014/main" id="{1D9002C5-64D2-EDB8-5836-86A8045366ED}"/>
                </a:ext>
              </a:extLst>
            </p:cNvPr>
            <p:cNvCxnSpPr>
              <a:cxnSpLocks/>
              <a:stCxn id="90" idx="2"/>
              <a:endCxn id="82" idx="0"/>
            </p:cNvCxnSpPr>
            <p:nvPr/>
          </p:nvCxnSpPr>
          <p:spPr>
            <a:xfrm rot="16200000" flipH="1">
              <a:off x="1290139" y="2052761"/>
              <a:ext cx="213377" cy="55693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ector: Angulado 41">
              <a:extLst>
                <a:ext uri="{FF2B5EF4-FFF2-40B4-BE49-F238E27FC236}">
                  <a16:creationId xmlns:a16="http://schemas.microsoft.com/office/drawing/2014/main" id="{52648FE9-EAA7-8BE7-39F6-B15057BD3A8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596455" y="2450615"/>
              <a:ext cx="448967" cy="1345587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: Angulado 43">
              <a:extLst>
                <a:ext uri="{FF2B5EF4-FFF2-40B4-BE49-F238E27FC236}">
                  <a16:creationId xmlns:a16="http://schemas.microsoft.com/office/drawing/2014/main" id="{7227D1E2-CE4D-C617-C1B2-079653F99A6A}"/>
                </a:ext>
              </a:extLst>
            </p:cNvPr>
            <p:cNvCxnSpPr>
              <a:stCxn id="81" idx="2"/>
              <a:endCxn id="66" idx="0"/>
            </p:cNvCxnSpPr>
            <p:nvPr/>
          </p:nvCxnSpPr>
          <p:spPr>
            <a:xfrm rot="16200000" flipH="1">
              <a:off x="1025711" y="2460408"/>
              <a:ext cx="448311" cy="1326656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Conector: Angulado 71">
            <a:extLst>
              <a:ext uri="{FF2B5EF4-FFF2-40B4-BE49-F238E27FC236}">
                <a16:creationId xmlns:a16="http://schemas.microsoft.com/office/drawing/2014/main" id="{D0A2C545-5ADB-1B13-3575-A52D34EFE9AA}"/>
              </a:ext>
            </a:extLst>
          </p:cNvPr>
          <p:cNvCxnSpPr>
            <a:cxnSpLocks/>
          </p:cNvCxnSpPr>
          <p:nvPr/>
        </p:nvCxnSpPr>
        <p:spPr>
          <a:xfrm rot="5400000">
            <a:off x="6668278" y="2408050"/>
            <a:ext cx="446277" cy="1345587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: Angulado 73">
            <a:extLst>
              <a:ext uri="{FF2B5EF4-FFF2-40B4-BE49-F238E27FC236}">
                <a16:creationId xmlns:a16="http://schemas.microsoft.com/office/drawing/2014/main" id="{EE89DA21-1037-F9CF-6996-8FC7ECE5E201}"/>
              </a:ext>
            </a:extLst>
          </p:cNvPr>
          <p:cNvCxnSpPr>
            <a:stCxn id="52" idx="2"/>
            <a:endCxn id="50" idx="0"/>
          </p:cNvCxnSpPr>
          <p:nvPr/>
        </p:nvCxnSpPr>
        <p:spPr>
          <a:xfrm rot="16200000" flipH="1">
            <a:off x="5646916" y="2960875"/>
            <a:ext cx="448311" cy="237901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Angulado 75">
            <a:extLst>
              <a:ext uri="{FF2B5EF4-FFF2-40B4-BE49-F238E27FC236}">
                <a16:creationId xmlns:a16="http://schemas.microsoft.com/office/drawing/2014/main" id="{14BD7E37-6659-A600-3E1A-39E4A6AE364E}"/>
              </a:ext>
            </a:extLst>
          </p:cNvPr>
          <p:cNvCxnSpPr>
            <a:stCxn id="51" idx="2"/>
            <a:endCxn id="50" idx="0"/>
          </p:cNvCxnSpPr>
          <p:nvPr/>
        </p:nvCxnSpPr>
        <p:spPr>
          <a:xfrm rot="16200000" flipH="1">
            <a:off x="5102539" y="2416498"/>
            <a:ext cx="448311" cy="1326656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Agrupar 5">
            <a:extLst>
              <a:ext uri="{FF2B5EF4-FFF2-40B4-BE49-F238E27FC236}">
                <a16:creationId xmlns:a16="http://schemas.microsoft.com/office/drawing/2014/main" id="{036D3F37-A576-AF73-F7D1-93B5B75E703E}"/>
              </a:ext>
            </a:extLst>
          </p:cNvPr>
          <p:cNvGrpSpPr/>
          <p:nvPr/>
        </p:nvGrpSpPr>
        <p:grpSpPr>
          <a:xfrm>
            <a:off x="8402169" y="1420228"/>
            <a:ext cx="3245385" cy="2367491"/>
            <a:chOff x="-250573" y="1442066"/>
            <a:chExt cx="3245385" cy="2367491"/>
          </a:xfrm>
        </p:grpSpPr>
        <p:cxnSp>
          <p:nvCxnSpPr>
            <p:cNvPr id="8" name="Conector: Angulado 7">
              <a:extLst>
                <a:ext uri="{FF2B5EF4-FFF2-40B4-BE49-F238E27FC236}">
                  <a16:creationId xmlns:a16="http://schemas.microsoft.com/office/drawing/2014/main" id="{B5E548D2-3822-D8BD-69F1-5CA22CF63247}"/>
                </a:ext>
              </a:extLst>
            </p:cNvPr>
            <p:cNvCxnSpPr>
              <a:cxnSpLocks/>
              <a:stCxn id="24" idx="2"/>
              <a:endCxn id="22" idx="0"/>
            </p:cNvCxnSpPr>
            <p:nvPr/>
          </p:nvCxnSpPr>
          <p:spPr>
            <a:xfrm rot="16200000" flipH="1">
              <a:off x="1570088" y="3004785"/>
              <a:ext cx="448311" cy="23790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D0736D3F-AED2-2E46-0C36-E70F0EDC51C7}"/>
                </a:ext>
              </a:extLst>
            </p:cNvPr>
            <p:cNvSpPr/>
            <p:nvPr/>
          </p:nvSpPr>
          <p:spPr>
            <a:xfrm>
              <a:off x="1443538" y="3347892"/>
              <a:ext cx="939312" cy="46166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Embracon</a:t>
              </a: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C811930C-D8F2-2198-7FD1-D7C981DE6624}"/>
                </a:ext>
              </a:extLst>
            </p:cNvPr>
            <p:cNvSpPr/>
            <p:nvPr/>
          </p:nvSpPr>
          <p:spPr>
            <a:xfrm>
              <a:off x="175383" y="2437916"/>
              <a:ext cx="822310" cy="46166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Savian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221B152C-AB0D-C607-A707-9C2802520171}"/>
                </a:ext>
              </a:extLst>
            </p:cNvPr>
            <p:cNvSpPr/>
            <p:nvPr/>
          </p:nvSpPr>
          <p:spPr>
            <a:xfrm>
              <a:off x="1264138" y="2437916"/>
              <a:ext cx="822310" cy="46166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JVFJ </a:t>
              </a:r>
            </a:p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Par.</a:t>
              </a:r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A9B94263-1224-CC87-6122-BA90FD89EE33}"/>
                </a:ext>
              </a:extLst>
            </p:cNvPr>
            <p:cNvSpPr/>
            <p:nvPr/>
          </p:nvSpPr>
          <p:spPr>
            <a:xfrm>
              <a:off x="1903100" y="1550261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Grupo CNP</a:t>
              </a: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E636D220-76A2-980A-1181-01BC56A387E1}"/>
                </a:ext>
              </a:extLst>
            </p:cNvPr>
            <p:cNvSpPr/>
            <p:nvPr/>
          </p:nvSpPr>
          <p:spPr>
            <a:xfrm>
              <a:off x="2055500" y="1720591"/>
              <a:ext cx="939312" cy="461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Grupo CNP</a:t>
              </a:r>
            </a:p>
          </p:txBody>
        </p: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2C925556-7044-5FAA-7F64-E13448B7F67B}"/>
                </a:ext>
              </a:extLst>
            </p:cNvPr>
            <p:cNvGrpSpPr/>
            <p:nvPr/>
          </p:nvGrpSpPr>
          <p:grpSpPr>
            <a:xfrm>
              <a:off x="-250573" y="1442066"/>
              <a:ext cx="695708" cy="751993"/>
              <a:chOff x="1038842" y="1311949"/>
              <a:chExt cx="695708" cy="751993"/>
            </a:xfrm>
          </p:grpSpPr>
          <p:pic>
            <p:nvPicPr>
              <p:cNvPr id="34" name="Imagem 33">
                <a:extLst>
                  <a:ext uri="{FF2B5EF4-FFF2-40B4-BE49-F238E27FC236}">
                    <a16:creationId xmlns:a16="http://schemas.microsoft.com/office/drawing/2014/main" id="{177E88D5-11CD-19FB-E408-3526F1395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18102" y="1311949"/>
                <a:ext cx="501329" cy="50132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8716BAFE-A53A-CBDE-6395-EF241D66BD4D}"/>
                  </a:ext>
                </a:extLst>
              </p:cNvPr>
              <p:cNvSpPr txBox="1"/>
              <p:nvPr/>
            </p:nvSpPr>
            <p:spPr>
              <a:xfrm>
                <a:off x="1038842" y="1817721"/>
                <a:ext cx="69570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PFs</a:t>
                </a:r>
              </a:p>
            </p:txBody>
          </p:sp>
        </p:grpSp>
        <p:cxnSp>
          <p:nvCxnSpPr>
            <p:cNvPr id="28" name="Conector: Angulado 27">
              <a:extLst>
                <a:ext uri="{FF2B5EF4-FFF2-40B4-BE49-F238E27FC236}">
                  <a16:creationId xmlns:a16="http://schemas.microsoft.com/office/drawing/2014/main" id="{B3ECE07F-8EC1-8E6E-FCCE-3149151BE8BD}"/>
                </a:ext>
              </a:extLst>
            </p:cNvPr>
            <p:cNvCxnSpPr>
              <a:cxnSpLocks/>
              <a:stCxn id="35" idx="2"/>
              <a:endCxn id="23" idx="0"/>
            </p:cNvCxnSpPr>
            <p:nvPr/>
          </p:nvCxnSpPr>
          <p:spPr>
            <a:xfrm rot="16200000" flipH="1">
              <a:off x="219981" y="2071358"/>
              <a:ext cx="243857" cy="48925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ector: Angulado 28">
              <a:extLst>
                <a:ext uri="{FF2B5EF4-FFF2-40B4-BE49-F238E27FC236}">
                  <a16:creationId xmlns:a16="http://schemas.microsoft.com/office/drawing/2014/main" id="{631DB9CB-76C6-351C-94A7-96B0F923C088}"/>
                </a:ext>
              </a:extLst>
            </p:cNvPr>
            <p:cNvCxnSpPr>
              <a:cxnSpLocks/>
              <a:stCxn id="35" idx="2"/>
              <a:endCxn id="24" idx="0"/>
            </p:cNvCxnSpPr>
            <p:nvPr/>
          </p:nvCxnSpPr>
          <p:spPr>
            <a:xfrm rot="16200000" flipH="1">
              <a:off x="764359" y="1526981"/>
              <a:ext cx="243857" cy="157801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9C87847D-7BA0-8E51-E076-92108BCB6D57}"/>
              </a:ext>
            </a:extLst>
          </p:cNvPr>
          <p:cNvCxnSpPr>
            <a:stCxn id="26" idx="2"/>
            <a:endCxn id="24" idx="0"/>
          </p:cNvCxnSpPr>
          <p:nvPr/>
        </p:nvCxnSpPr>
        <p:spPr>
          <a:xfrm rot="5400000">
            <a:off x="10625137" y="1863317"/>
            <a:ext cx="255660" cy="849863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451697EA-649E-E0E9-F746-7F16DD263BDF}"/>
              </a:ext>
            </a:extLst>
          </p:cNvPr>
          <p:cNvCxnSpPr>
            <a:stCxn id="26" idx="2"/>
            <a:endCxn id="23" idx="0"/>
          </p:cNvCxnSpPr>
          <p:nvPr/>
        </p:nvCxnSpPr>
        <p:spPr>
          <a:xfrm rot="5400000">
            <a:off x="10080759" y="1318939"/>
            <a:ext cx="255660" cy="1938618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FE914241-FC6F-5A38-9CF3-41ACD33DB93A}"/>
              </a:ext>
            </a:extLst>
          </p:cNvPr>
          <p:cNvCxnSpPr>
            <a:cxnSpLocks/>
            <a:stCxn id="26" idx="3"/>
          </p:cNvCxnSpPr>
          <p:nvPr/>
        </p:nvCxnSpPr>
        <p:spPr>
          <a:xfrm flipH="1">
            <a:off x="10775486" y="1929586"/>
            <a:ext cx="872068" cy="1396468"/>
          </a:xfrm>
          <a:prstGeom prst="bentConnector4">
            <a:avLst>
              <a:gd name="adj1" fmla="val -40413"/>
              <a:gd name="adj2" fmla="val 83843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3B67E12C-BD21-4AB5-0D0D-6653F1706CE0}"/>
              </a:ext>
            </a:extLst>
          </p:cNvPr>
          <p:cNvSpPr txBox="1"/>
          <p:nvPr/>
        </p:nvSpPr>
        <p:spPr>
          <a:xfrm>
            <a:off x="10892815" y="2861825"/>
            <a:ext cx="44182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20%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E7AAAF8E-E9DB-061B-64FD-AC09F8119DD9}"/>
              </a:ext>
            </a:extLst>
          </p:cNvPr>
          <p:cNvSpPr/>
          <p:nvPr/>
        </p:nvSpPr>
        <p:spPr>
          <a:xfrm>
            <a:off x="10415867" y="3023295"/>
            <a:ext cx="516399" cy="187584"/>
          </a:xfrm>
          <a:prstGeom prst="ellipse">
            <a:avLst/>
          </a:prstGeom>
          <a:noFill/>
          <a:ln>
            <a:solidFill>
              <a:srgbClr val="EA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F3CD4165-58BF-C0F1-1D6A-DF312D4A7D90}"/>
              </a:ext>
            </a:extLst>
          </p:cNvPr>
          <p:cNvSpPr/>
          <p:nvPr/>
        </p:nvSpPr>
        <p:spPr>
          <a:xfrm>
            <a:off x="10240206" y="2218502"/>
            <a:ext cx="175661" cy="151292"/>
          </a:xfrm>
          <a:prstGeom prst="ellipse">
            <a:avLst/>
          </a:prstGeom>
          <a:noFill/>
          <a:ln>
            <a:solidFill>
              <a:srgbClr val="EA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D722C686-5920-1C3A-3A74-B492A85D3E12}"/>
              </a:ext>
            </a:extLst>
          </p:cNvPr>
          <p:cNvSpPr/>
          <p:nvPr/>
        </p:nvSpPr>
        <p:spPr>
          <a:xfrm>
            <a:off x="9151450" y="2218502"/>
            <a:ext cx="175661" cy="151292"/>
          </a:xfrm>
          <a:prstGeom prst="ellipse">
            <a:avLst/>
          </a:prstGeom>
          <a:noFill/>
          <a:ln>
            <a:solidFill>
              <a:srgbClr val="EA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817E336-D84B-877C-A044-3C032D38EF64}"/>
              </a:ext>
            </a:extLst>
          </p:cNvPr>
          <p:cNvSpPr txBox="1"/>
          <p:nvPr/>
        </p:nvSpPr>
        <p:spPr>
          <a:xfrm>
            <a:off x="11212867" y="3182265"/>
            <a:ext cx="1025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rgbClr val="E20613"/>
                </a:solidFill>
              </a:rPr>
              <a:t>Acordos de Acionistas entre Sócios Embracon e CNP</a:t>
            </a:r>
          </a:p>
        </p:txBody>
      </p:sp>
      <p:cxnSp>
        <p:nvCxnSpPr>
          <p:cNvPr id="84" name="Conector: Curvo 83">
            <a:extLst>
              <a:ext uri="{FF2B5EF4-FFF2-40B4-BE49-F238E27FC236}">
                <a16:creationId xmlns:a16="http://schemas.microsoft.com/office/drawing/2014/main" id="{1BEFB837-1D08-1327-D6BB-E648460C64F3}"/>
              </a:ext>
            </a:extLst>
          </p:cNvPr>
          <p:cNvCxnSpPr>
            <a:cxnSpLocks/>
            <a:stCxn id="70" idx="6"/>
            <a:endCxn id="75" idx="1"/>
          </p:cNvCxnSpPr>
          <p:nvPr/>
        </p:nvCxnSpPr>
        <p:spPr>
          <a:xfrm>
            <a:off x="10932266" y="3117087"/>
            <a:ext cx="280601" cy="388344"/>
          </a:xfrm>
          <a:prstGeom prst="curvedConnector3">
            <a:avLst>
              <a:gd name="adj1" fmla="val 50000"/>
            </a:avLst>
          </a:prstGeom>
          <a:ln>
            <a:solidFill>
              <a:srgbClr val="EA0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: Curvo 97">
            <a:extLst>
              <a:ext uri="{FF2B5EF4-FFF2-40B4-BE49-F238E27FC236}">
                <a16:creationId xmlns:a16="http://schemas.microsoft.com/office/drawing/2014/main" id="{B46B139E-1133-BAEA-BAB6-E676F5354137}"/>
              </a:ext>
            </a:extLst>
          </p:cNvPr>
          <p:cNvCxnSpPr>
            <a:cxnSpLocks/>
            <a:stCxn id="71" idx="6"/>
            <a:endCxn id="75" idx="0"/>
          </p:cNvCxnSpPr>
          <p:nvPr/>
        </p:nvCxnSpPr>
        <p:spPr>
          <a:xfrm>
            <a:off x="10415867" y="2294148"/>
            <a:ext cx="1309946" cy="888117"/>
          </a:xfrm>
          <a:prstGeom prst="curvedConnector2">
            <a:avLst/>
          </a:prstGeom>
          <a:ln>
            <a:solidFill>
              <a:srgbClr val="EA0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: Curvo 99">
            <a:extLst>
              <a:ext uri="{FF2B5EF4-FFF2-40B4-BE49-F238E27FC236}">
                <a16:creationId xmlns:a16="http://schemas.microsoft.com/office/drawing/2014/main" id="{31B59F9E-A9B6-4013-9F0E-2025DA84310A}"/>
              </a:ext>
            </a:extLst>
          </p:cNvPr>
          <p:cNvCxnSpPr>
            <a:cxnSpLocks/>
            <a:stCxn id="73" idx="5"/>
            <a:endCxn id="75" idx="0"/>
          </p:cNvCxnSpPr>
          <p:nvPr/>
        </p:nvCxnSpPr>
        <p:spPr>
          <a:xfrm rot="16200000" flipH="1">
            <a:off x="10096286" y="1552737"/>
            <a:ext cx="834627" cy="2424427"/>
          </a:xfrm>
          <a:prstGeom prst="curvedConnector3">
            <a:avLst>
              <a:gd name="adj1" fmla="val 50000"/>
            </a:avLst>
          </a:prstGeom>
          <a:ln>
            <a:solidFill>
              <a:srgbClr val="EA0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22069585-827C-82DD-2369-10F5FD330988}"/>
              </a:ext>
            </a:extLst>
          </p:cNvPr>
          <p:cNvSpPr/>
          <p:nvPr/>
        </p:nvSpPr>
        <p:spPr>
          <a:xfrm>
            <a:off x="74639" y="3353829"/>
            <a:ext cx="813282" cy="431293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00" b="1" dirty="0">
                <a:solidFill>
                  <a:schemeClr val="bg1"/>
                </a:solidFill>
              </a:rPr>
              <a:t>Embracon Franchising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40421D2-D80C-271A-A3DC-CAEDCC540335}"/>
              </a:ext>
            </a:extLst>
          </p:cNvPr>
          <p:cNvSpPr/>
          <p:nvPr/>
        </p:nvSpPr>
        <p:spPr>
          <a:xfrm>
            <a:off x="4113313" y="3307673"/>
            <a:ext cx="813282" cy="431293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00" b="1" dirty="0">
                <a:solidFill>
                  <a:schemeClr val="bg1"/>
                </a:solidFill>
              </a:rPr>
              <a:t>Embracon Franchising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92C197F-0E40-9681-DED9-95CF6AA2618E}"/>
              </a:ext>
            </a:extLst>
          </p:cNvPr>
          <p:cNvSpPr/>
          <p:nvPr/>
        </p:nvSpPr>
        <p:spPr>
          <a:xfrm>
            <a:off x="8680409" y="3323546"/>
            <a:ext cx="813282" cy="431293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000" b="1" dirty="0">
                <a:solidFill>
                  <a:schemeClr val="bg1"/>
                </a:solidFill>
              </a:rPr>
              <a:t>Embracon Franchising</a:t>
            </a:r>
          </a:p>
        </p:txBody>
      </p: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D054FD0C-616B-3597-7158-12D12F25993E}"/>
              </a:ext>
            </a:extLst>
          </p:cNvPr>
          <p:cNvCxnSpPr>
            <a:cxnSpLocks/>
            <a:stCxn id="81" idx="2"/>
            <a:endCxn id="4" idx="0"/>
          </p:cNvCxnSpPr>
          <p:nvPr/>
        </p:nvCxnSpPr>
        <p:spPr>
          <a:xfrm rot="5400000">
            <a:off x="329010" y="3051851"/>
            <a:ext cx="454248" cy="14970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: Angulado 61">
            <a:extLst>
              <a:ext uri="{FF2B5EF4-FFF2-40B4-BE49-F238E27FC236}">
                <a16:creationId xmlns:a16="http://schemas.microsoft.com/office/drawing/2014/main" id="{D70808BA-4853-BD07-C64B-0F760E9D866C}"/>
              </a:ext>
            </a:extLst>
          </p:cNvPr>
          <p:cNvCxnSpPr>
            <a:cxnSpLocks/>
            <a:stCxn id="82" idx="2"/>
            <a:endCxn id="4" idx="0"/>
          </p:cNvCxnSpPr>
          <p:nvPr/>
        </p:nvCxnSpPr>
        <p:spPr>
          <a:xfrm rot="5400000">
            <a:off x="873388" y="2507474"/>
            <a:ext cx="454248" cy="123846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: Angulado 77">
            <a:extLst>
              <a:ext uri="{FF2B5EF4-FFF2-40B4-BE49-F238E27FC236}">
                <a16:creationId xmlns:a16="http://schemas.microsoft.com/office/drawing/2014/main" id="{E06AFBBF-6BB1-8A16-CD82-6CD4E23CE31C}"/>
              </a:ext>
            </a:extLst>
          </p:cNvPr>
          <p:cNvCxnSpPr>
            <a:cxnSpLocks/>
            <a:stCxn id="51" idx="2"/>
            <a:endCxn id="7" idx="0"/>
          </p:cNvCxnSpPr>
          <p:nvPr/>
        </p:nvCxnSpPr>
        <p:spPr>
          <a:xfrm rot="5400000">
            <a:off x="4365659" y="3009966"/>
            <a:ext cx="452002" cy="14341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: Angulado 85">
            <a:extLst>
              <a:ext uri="{FF2B5EF4-FFF2-40B4-BE49-F238E27FC236}">
                <a16:creationId xmlns:a16="http://schemas.microsoft.com/office/drawing/2014/main" id="{D33BA449-BAFE-DDC6-9C5F-107AB6A92039}"/>
              </a:ext>
            </a:extLst>
          </p:cNvPr>
          <p:cNvCxnSpPr>
            <a:cxnSpLocks/>
            <a:stCxn id="52" idx="2"/>
            <a:endCxn id="7" idx="0"/>
          </p:cNvCxnSpPr>
          <p:nvPr/>
        </p:nvCxnSpPr>
        <p:spPr>
          <a:xfrm rot="5400000">
            <a:off x="4910037" y="2465589"/>
            <a:ext cx="452002" cy="12321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: Angulado 98">
            <a:extLst>
              <a:ext uri="{FF2B5EF4-FFF2-40B4-BE49-F238E27FC236}">
                <a16:creationId xmlns:a16="http://schemas.microsoft.com/office/drawing/2014/main" id="{01A4A864-6FFE-0598-C2EA-241E44B940AB}"/>
              </a:ext>
            </a:extLst>
          </p:cNvPr>
          <p:cNvCxnSpPr>
            <a:cxnSpLocks/>
          </p:cNvCxnSpPr>
          <p:nvPr/>
        </p:nvCxnSpPr>
        <p:spPr>
          <a:xfrm rot="5400000">
            <a:off x="8781642" y="3024529"/>
            <a:ext cx="445803" cy="15223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F49F2D-EEFB-9933-3F56-D665F7E240FF}"/>
              </a:ext>
            </a:extLst>
          </p:cNvPr>
          <p:cNvSpPr txBox="1"/>
          <p:nvPr/>
        </p:nvSpPr>
        <p:spPr>
          <a:xfrm>
            <a:off x="10234405" y="2858088"/>
            <a:ext cx="44182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40%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A6D747F-8CA9-8092-11A4-AEA83F541A25}"/>
              </a:ext>
            </a:extLst>
          </p:cNvPr>
          <p:cNvSpPr txBox="1"/>
          <p:nvPr/>
        </p:nvSpPr>
        <p:spPr>
          <a:xfrm>
            <a:off x="8747136" y="2858088"/>
            <a:ext cx="44182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50%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D063DDF-4FCD-71A3-060F-1407BD2A10F3}"/>
              </a:ext>
            </a:extLst>
          </p:cNvPr>
          <p:cNvSpPr/>
          <p:nvPr/>
        </p:nvSpPr>
        <p:spPr>
          <a:xfrm>
            <a:off x="10798311" y="3638087"/>
            <a:ext cx="461504" cy="28157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</a:rPr>
              <a:t>CNP </a:t>
            </a: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Consórcio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EF9C0A9-14CE-5608-3C94-63B213B76834}"/>
              </a:ext>
            </a:extLst>
          </p:cNvPr>
          <p:cNvSpPr/>
          <p:nvPr/>
        </p:nvSpPr>
        <p:spPr>
          <a:xfrm>
            <a:off x="6244236" y="3629122"/>
            <a:ext cx="461504" cy="28157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</a:rPr>
              <a:t>CNP </a:t>
            </a: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Consórcio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DCB1D04-45DB-664F-D44C-6EBE83B81526}"/>
              </a:ext>
            </a:extLst>
          </p:cNvPr>
          <p:cNvSpPr/>
          <p:nvPr/>
        </p:nvSpPr>
        <p:spPr>
          <a:xfrm>
            <a:off x="2201155" y="3673947"/>
            <a:ext cx="461504" cy="28157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</a:rPr>
              <a:t>CNP </a:t>
            </a: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Consórcio</a:t>
            </a:r>
          </a:p>
        </p:txBody>
      </p:sp>
      <p:sp>
        <p:nvSpPr>
          <p:cNvPr id="13" name="CaixaDeTexto 62">
            <a:extLst>
              <a:ext uri="{FF2B5EF4-FFF2-40B4-BE49-F238E27FC236}">
                <a16:creationId xmlns:a16="http://schemas.microsoft.com/office/drawing/2014/main" id="{4F2B3D17-7654-8B25-3909-FF4B137F4CC7}"/>
              </a:ext>
            </a:extLst>
          </p:cNvPr>
          <p:cNvSpPr txBox="1"/>
          <p:nvPr/>
        </p:nvSpPr>
        <p:spPr>
          <a:xfrm>
            <a:off x="10364906" y="2094363"/>
            <a:ext cx="44182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25%</a:t>
            </a:r>
          </a:p>
        </p:txBody>
      </p:sp>
      <p:sp>
        <p:nvSpPr>
          <p:cNvPr id="17" name="CaixaDeTexto 62">
            <a:extLst>
              <a:ext uri="{FF2B5EF4-FFF2-40B4-BE49-F238E27FC236}">
                <a16:creationId xmlns:a16="http://schemas.microsoft.com/office/drawing/2014/main" id="{120A99F5-0865-DB40-DB96-D0C56ADAEF55}"/>
              </a:ext>
            </a:extLst>
          </p:cNvPr>
          <p:cNvSpPr txBox="1"/>
          <p:nvPr/>
        </p:nvSpPr>
        <p:spPr>
          <a:xfrm>
            <a:off x="8750730" y="2085987"/>
            <a:ext cx="44182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75%</a:t>
            </a:r>
          </a:p>
        </p:txBody>
      </p: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66090243-0004-5C80-8AB1-BDE823D82AA6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 flipV="1">
            <a:off x="9769152" y="2646911"/>
            <a:ext cx="147729" cy="85852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3BED18D-5EC6-DE1E-9DBF-C5FB93D75B1D}"/>
              </a:ext>
            </a:extLst>
          </p:cNvPr>
          <p:cNvSpPr txBox="1"/>
          <p:nvPr/>
        </p:nvSpPr>
        <p:spPr>
          <a:xfrm>
            <a:off x="9459382" y="3281071"/>
            <a:ext cx="44182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50%</a:t>
            </a:r>
          </a:p>
        </p:txBody>
      </p:sp>
      <p:cxnSp>
        <p:nvCxnSpPr>
          <p:cNvPr id="94" name="Conector reto 93">
            <a:extLst>
              <a:ext uri="{FF2B5EF4-FFF2-40B4-BE49-F238E27FC236}">
                <a16:creationId xmlns:a16="http://schemas.microsoft.com/office/drawing/2014/main" id="{156E62BA-0DD9-C583-5F2B-9666F56E59C0}"/>
              </a:ext>
            </a:extLst>
          </p:cNvPr>
          <p:cNvCxnSpPr/>
          <p:nvPr/>
        </p:nvCxnSpPr>
        <p:spPr>
          <a:xfrm>
            <a:off x="9459382" y="2877742"/>
            <a:ext cx="0" cy="2393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to 100">
            <a:extLst>
              <a:ext uri="{FF2B5EF4-FFF2-40B4-BE49-F238E27FC236}">
                <a16:creationId xmlns:a16="http://schemas.microsoft.com/office/drawing/2014/main" id="{CAA04E0F-B237-CD1C-1346-62FABF9837CD}"/>
              </a:ext>
            </a:extLst>
          </p:cNvPr>
          <p:cNvCxnSpPr/>
          <p:nvPr/>
        </p:nvCxnSpPr>
        <p:spPr>
          <a:xfrm>
            <a:off x="9459382" y="3117087"/>
            <a:ext cx="7750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D8685CB3-C782-E70C-F58E-42A0BAA85882}"/>
              </a:ext>
            </a:extLst>
          </p:cNvPr>
          <p:cNvSpPr txBox="1"/>
          <p:nvPr/>
        </p:nvSpPr>
        <p:spPr>
          <a:xfrm>
            <a:off x="9388433" y="2907850"/>
            <a:ext cx="44182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/>
              <a:t>40%</a:t>
            </a:r>
          </a:p>
        </p:txBody>
      </p:sp>
    </p:spTree>
    <p:extLst>
      <p:ext uri="{BB962C8B-B14F-4D97-AF65-F5344CB8AC3E}">
        <p14:creationId xmlns:p14="http://schemas.microsoft.com/office/powerpoint/2010/main" val="2694045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6DE13-59C6-3636-E261-ABBA02F2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7BCF0C4-6A29-32DB-F80A-71FD36FCA4E1}"/>
              </a:ext>
            </a:extLst>
          </p:cNvPr>
          <p:cNvSpPr txBox="1">
            <a:spLocks/>
          </p:cNvSpPr>
          <p:nvPr/>
        </p:nvSpPr>
        <p:spPr>
          <a:xfrm>
            <a:off x="609601" y="382496"/>
            <a:ext cx="10586741" cy="437298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6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Possibilidade de migração pela CNP para participação exclusiva na </a:t>
            </a:r>
            <a:r>
              <a:rPr lang="pt-BR" sz="2600" b="1" cap="small" dirty="0" err="1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Embracon</a:t>
            </a:r>
            <a:endParaRPr lang="pt-BR" sz="2600" b="1" cap="small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aixaDeTexto 1">
            <a:extLst>
              <a:ext uri="{FF2B5EF4-FFF2-40B4-BE49-F238E27FC236}">
                <a16:creationId xmlns:a16="http://schemas.microsoft.com/office/drawing/2014/main" id="{82705B3D-CC2D-EE44-E163-AC14FED3D855}"/>
              </a:ext>
            </a:extLst>
          </p:cNvPr>
          <p:cNvSpPr txBox="1"/>
          <p:nvPr/>
        </p:nvSpPr>
        <p:spPr>
          <a:xfrm>
            <a:off x="0" y="1245632"/>
            <a:ext cx="12070080" cy="5037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E10600"/>
              </a:buClr>
            </a:pPr>
            <a:r>
              <a:rPr lang="pt-BR" sz="1200" b="1" u="sng" cap="small" dirty="0">
                <a:solidFill>
                  <a:srgbClr val="EA0600"/>
                </a:solidFill>
              </a:rPr>
              <a:t>Descrição</a:t>
            </a:r>
          </a:p>
          <a:p>
            <a:pPr marL="171450" indent="-171450" algn="just">
              <a:spcAft>
                <a:spcPts val="600"/>
              </a:spcAft>
              <a:buClr>
                <a:srgbClr val="E10600"/>
              </a:buClr>
              <a:buFont typeface="Arial" panose="020B0604020202020204" pitchFamily="34" charset="0"/>
              <a:buChar char="•"/>
            </a:pPr>
            <a:r>
              <a:rPr lang="pt-BR" sz="1200" dirty="0"/>
              <a:t>Caso o Grupo CNP não pretenda mais participar das decisões e negócios a serem desenvolvidos pelas Holdings </a:t>
            </a:r>
            <a:r>
              <a:rPr lang="pt-BR" sz="1200" dirty="0" err="1"/>
              <a:t>Embracon</a:t>
            </a:r>
            <a:r>
              <a:rPr lang="pt-BR" sz="1200" dirty="0"/>
              <a:t>, o Grupo CNP terá, a seu exclusivo critério, a prerrogativa de, a qualquer momento após o 1º aniversário do fechamento da Operação, optar por realizar uma reestruturação societária para passar a deter participação exclusivamente na </a:t>
            </a:r>
            <a:r>
              <a:rPr lang="pt-BR" sz="1200" dirty="0" err="1"/>
              <a:t>Embracon</a:t>
            </a:r>
            <a:r>
              <a:rPr lang="pt-BR" sz="1200" dirty="0"/>
              <a:t>.</a:t>
            </a:r>
          </a:p>
          <a:p>
            <a:pPr marL="171450" indent="-171450" algn="just">
              <a:spcAft>
                <a:spcPts val="600"/>
              </a:spcAft>
              <a:buClr>
                <a:srgbClr val="E10600"/>
              </a:buClr>
              <a:buFont typeface="Arial" panose="020B0604020202020204" pitchFamily="34" charset="0"/>
              <a:buChar char="•"/>
            </a:pPr>
            <a:endParaRPr lang="pt-BR" sz="1200" dirty="0"/>
          </a:p>
          <a:p>
            <a:pPr marL="342900" lvl="0" indent="-342900" algn="just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pt-BR" sz="1200" b="1" cap="small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Mecanismos para implementação</a:t>
            </a:r>
            <a:r>
              <a:rPr lang="pt-BR" sz="1200" b="1" i="1" cap="small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:</a:t>
            </a:r>
          </a:p>
          <a:p>
            <a:pPr marL="742950" lvl="1" indent="-285750" algn="just">
              <a:spcAft>
                <a:spcPts val="200"/>
              </a:spcAft>
              <a:buFont typeface="Courier New" panose="02070309020205020404" pitchFamily="49" charset="0"/>
              <a:buChar char="o"/>
            </a:pP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Visando permitir que o Grupo CNP possa exigir a implementação da saída das Holdings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Embracon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e migração para participação exclusiva na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Embracon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, seria possível a adoção de determinados mecanismos contratuais que vinculem o Grupo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Embracon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, conforme exemplificado abaixo:</a:t>
            </a:r>
          </a:p>
          <a:p>
            <a:pPr marL="742950" lvl="1" indent="-285750" algn="just">
              <a:spcAft>
                <a:spcPts val="200"/>
              </a:spcAft>
              <a:buFont typeface="Courier New" panose="02070309020205020404" pitchFamily="49" charset="0"/>
              <a:buChar char="o"/>
            </a:pPr>
            <a:endParaRPr lang="pt-BR" sz="1200" dirty="0">
              <a:effectLst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742950" lvl="1" indent="-285750" algn="just">
              <a:spcAft>
                <a:spcPts val="200"/>
              </a:spcAft>
              <a:buFont typeface="Courier New" panose="02070309020205020404" pitchFamily="49" charset="0"/>
              <a:buChar char="o"/>
            </a:pPr>
            <a:r>
              <a:rPr lang="pt-BR" sz="1200" b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Reunião Prévia / Compromisso de Voto </a:t>
            </a:r>
          </a:p>
          <a:p>
            <a:pPr marL="1143000" lvl="2" indent="-228600" algn="just">
              <a:spcAft>
                <a:spcPts val="200"/>
              </a:spcAft>
              <a:buFont typeface="Wingdings" panose="05000000000000000000" pitchFamily="2" charset="2"/>
              <a:buChar char=""/>
            </a:pP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Se a CNP exercer sua prerrogativa e exigir a ocorrência da reestruturação para investir exclusivamente na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Embracon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, serão realizadas reuniões prévias nos níveis das Holdings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Embracon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e da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Embracon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(nas quais a CNP deterá participação direta). </a:t>
            </a:r>
          </a:p>
          <a:p>
            <a:pPr marL="1143000" lvl="2" indent="-228600">
              <a:spcAft>
                <a:spcPts val="200"/>
              </a:spcAft>
              <a:buFont typeface="Wingdings" panose="05000000000000000000" pitchFamily="2" charset="2"/>
              <a:buChar char=""/>
            </a:pP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No âmbito de tais reuniões prévias, sem prejuízo de outras deliberações a serem ali discutidas, os Sócios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Embracon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acompanharão o voto da CNP aprovando a orientação de voto a ser observada pelos Sócios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Embracon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e pelas Holdings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Embracon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, respectivamente, nas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AGEs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das Holdings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Embracon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e da </a:t>
            </a:r>
            <a:r>
              <a:rPr lang="pt-BR" sz="1200" dirty="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Embracon</a:t>
            </a:r>
            <a:r>
              <a:rPr lang="pt-BR" sz="1200" dirty="0">
                <a:ea typeface="Times New Roman" panose="02020603050405020304" pitchFamily="18" charset="0"/>
                <a:cs typeface="Aptos" panose="020B0004020202020204" pitchFamily="34" charset="0"/>
              </a:rPr>
              <a:t> deliberando a reestruturação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</a:p>
          <a:p>
            <a:pPr marL="1143000" lvl="2" indent="-228600">
              <a:spcAft>
                <a:spcPts val="200"/>
              </a:spcAft>
              <a:buFont typeface="Wingdings" panose="05000000000000000000" pitchFamily="2" charset="2"/>
              <a:buChar char=""/>
            </a:pPr>
            <a:r>
              <a:rPr lang="pt-BR" sz="1200" dirty="0">
                <a:ea typeface="Aptos" panose="020B0004020202020204" pitchFamily="34" charset="0"/>
                <a:cs typeface="Aptos" panose="020B0004020202020204" pitchFamily="34" charset="0"/>
              </a:rPr>
              <a:t>A CNP terá o direito de indicar o presidente das </a:t>
            </a:r>
            <a:r>
              <a:rPr lang="pt-BR" sz="1200" dirty="0" err="1">
                <a:ea typeface="Aptos" panose="020B0004020202020204" pitchFamily="34" charset="0"/>
                <a:cs typeface="Aptos" panose="020B0004020202020204" pitchFamily="34" charset="0"/>
              </a:rPr>
              <a:t>AGEs</a:t>
            </a:r>
            <a:r>
              <a:rPr lang="pt-BR" sz="1200" dirty="0">
                <a:ea typeface="Aptos" panose="020B0004020202020204" pitchFamily="34" charset="0"/>
                <a:cs typeface="Aptos" panose="020B0004020202020204" pitchFamily="34" charset="0"/>
              </a:rPr>
              <a:t> acima mencionadas.</a:t>
            </a:r>
          </a:p>
          <a:p>
            <a:pPr marL="1143000" lvl="2" indent="-228600" algn="just">
              <a:spcAft>
                <a:spcPts val="200"/>
              </a:spcAft>
              <a:buFont typeface="Wingdings" panose="05000000000000000000" pitchFamily="2" charset="2"/>
              <a:buChar char=""/>
            </a:pP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Os temas societários acima serão realizados à luz das seguintes disposições legais:</a:t>
            </a:r>
            <a:endParaRPr lang="pt-BR" sz="12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lvl="3" indent="-228600" algn="just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Art. 118 da LSA: “</a:t>
            </a:r>
            <a:r>
              <a:rPr lang="pt-BR" sz="1200" b="1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Os acordos de acionistas</a:t>
            </a:r>
            <a:r>
              <a:rPr lang="pt-BR" sz="1200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, sobre a compra e venda de suas ações, preferência para adquiri-las, </a:t>
            </a:r>
            <a:r>
              <a:rPr lang="pt-BR" sz="1200" b="1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exercício do direito a voto</a:t>
            </a:r>
            <a:r>
              <a:rPr lang="pt-BR" sz="1200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, ou do poder de controle </a:t>
            </a:r>
            <a:r>
              <a:rPr lang="pt-BR" sz="1200" b="1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deverão ser observados pela companhia</a:t>
            </a:r>
            <a:r>
              <a:rPr lang="pt-BR" sz="1200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quando arquivados na sua sede.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”</a:t>
            </a:r>
            <a:endParaRPr lang="pt-BR" sz="12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lvl="3" indent="-228600" algn="just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Art. 118, § 8</a:t>
            </a:r>
            <a:r>
              <a:rPr lang="pt-BR" sz="1200" baseline="300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: “</a:t>
            </a:r>
            <a:r>
              <a:rPr lang="pt-BR" sz="1200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O </a:t>
            </a:r>
            <a:r>
              <a:rPr lang="pt-BR" sz="1200" b="1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presidente</a:t>
            </a:r>
            <a:r>
              <a:rPr lang="pt-BR" sz="1200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da assembleia ou do órgão colegiado de deliberação da companhia </a:t>
            </a:r>
            <a:r>
              <a:rPr lang="pt-BR" sz="1200" b="1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não computará o voto proferido com infração de acordo de acionistas</a:t>
            </a:r>
            <a:r>
              <a:rPr lang="pt-BR" sz="1200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devidamente arquivado.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”</a:t>
            </a:r>
            <a:endParaRPr lang="pt-BR" sz="12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lvl="3" indent="-228600" algn="just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Art. 118, § 9</a:t>
            </a:r>
            <a:r>
              <a:rPr lang="pt-BR" sz="1200" baseline="300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o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: “</a:t>
            </a:r>
            <a:r>
              <a:rPr lang="pt-BR" sz="1200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O </a:t>
            </a:r>
            <a:r>
              <a:rPr lang="pt-BR" sz="1200" b="1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não comparecimento</a:t>
            </a:r>
            <a:r>
              <a:rPr lang="pt-BR" sz="1200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à assembleia ou às reuniões dos órgãos de administração da companhia, bem como as </a:t>
            </a:r>
            <a:r>
              <a:rPr lang="pt-BR" sz="1200" b="1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abstenções de voto</a:t>
            </a:r>
            <a:r>
              <a:rPr lang="pt-BR" sz="1200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de qualquer parte de acordo de acionistas ou de membros do conselho de administração eleitos nos termos de acordo de acionistas, </a:t>
            </a:r>
            <a:r>
              <a:rPr lang="pt-BR" sz="1200" b="1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assegura à parte prejudicada o direito de votar</a:t>
            </a:r>
            <a:r>
              <a:rPr lang="pt-BR" sz="1200" i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com as ações pertencentes ao acionista ausente ou omisso e, no caso de membro do conselho de administração, pelo conselheiro eleito com os votos da parte prejudicada.</a:t>
            </a:r>
            <a:r>
              <a:rPr lang="pt-BR" sz="12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”</a:t>
            </a:r>
            <a:endParaRPr lang="pt-BR" sz="12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 algn="just">
              <a:spcAft>
                <a:spcPts val="600"/>
              </a:spcAft>
              <a:buClr>
                <a:srgbClr val="E10600"/>
              </a:buClr>
              <a:buFont typeface="Arial" panose="020B0604020202020204" pitchFamily="34" charset="0"/>
              <a:buChar char="•"/>
            </a:pPr>
            <a:endParaRPr lang="pt-BR" sz="12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4776A3E-279A-E934-49C3-0071FB0D7AD4}"/>
              </a:ext>
            </a:extLst>
          </p:cNvPr>
          <p:cNvSpPr/>
          <p:nvPr/>
        </p:nvSpPr>
        <p:spPr>
          <a:xfrm>
            <a:off x="4875181" y="1065623"/>
            <a:ext cx="7040299" cy="5212629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7116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4EA67-2838-4D3D-439B-542FA0DF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4F40F43-0D73-F3AC-FFE8-ED8BB7FD27C7}"/>
              </a:ext>
            </a:extLst>
          </p:cNvPr>
          <p:cNvSpPr/>
          <p:nvPr/>
        </p:nvSpPr>
        <p:spPr>
          <a:xfrm>
            <a:off x="3111" y="2608322"/>
            <a:ext cx="8632889" cy="2074546"/>
          </a:xfrm>
          <a:prstGeom prst="roundRect">
            <a:avLst/>
          </a:prstGeom>
          <a:solidFill>
            <a:srgbClr val="72706F">
              <a:alpha val="68000"/>
            </a:srgbClr>
          </a:solidFill>
          <a:ln>
            <a:noFill/>
          </a:ln>
          <a:effectLst>
            <a:outerShdw blurRad="1016000" dist="254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1501"/>
            <a:endParaRPr lang="pt-BR" sz="3240">
              <a:solidFill>
                <a:prstClr val="white"/>
              </a:solidFill>
              <a:latin typeface="Open Sans"/>
            </a:endParaRP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11D2054C-3767-E387-4936-EA17EBBBE855}"/>
              </a:ext>
            </a:extLst>
          </p:cNvPr>
          <p:cNvSpPr txBox="1"/>
          <p:nvPr/>
        </p:nvSpPr>
        <p:spPr>
          <a:xfrm>
            <a:off x="344886" y="3202045"/>
            <a:ext cx="751716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1501"/>
            <a:r>
              <a:rPr lang="pt-BR" sz="4320" b="1" cap="small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ANEXOS</a:t>
            </a: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9E04D637-A2FA-27E0-1738-AEBB0A672459}"/>
              </a:ext>
            </a:extLst>
          </p:cNvPr>
          <p:cNvSpPr/>
          <p:nvPr/>
        </p:nvSpPr>
        <p:spPr>
          <a:xfrm>
            <a:off x="3110" y="2240281"/>
            <a:ext cx="140597" cy="2854469"/>
          </a:xfrm>
          <a:custGeom>
            <a:avLst/>
            <a:gdLst/>
            <a:ahLst/>
            <a:cxnLst/>
            <a:rect l="l" t="t" r="r" b="b"/>
            <a:pathLst>
              <a:path w="156209" h="1941830">
                <a:moveTo>
                  <a:pt x="155994" y="0"/>
                </a:moveTo>
                <a:lnTo>
                  <a:pt x="0" y="0"/>
                </a:lnTo>
                <a:lnTo>
                  <a:pt x="0" y="1941791"/>
                </a:lnTo>
                <a:lnTo>
                  <a:pt x="155994" y="1941791"/>
                </a:lnTo>
                <a:lnTo>
                  <a:pt x="155994" y="0"/>
                </a:lnTo>
                <a:close/>
              </a:path>
            </a:pathLst>
          </a:custGeom>
          <a:gradFill>
            <a:gsLst>
              <a:gs pos="0">
                <a:srgbClr val="FF3F3F"/>
              </a:gs>
              <a:gs pos="82000">
                <a:srgbClr val="A40000"/>
              </a:gs>
            </a:gsLst>
            <a:lin ang="5400000" scaled="1"/>
          </a:gradFill>
        </p:spPr>
        <p:txBody>
          <a:bodyPr wrap="square" lIns="0" tIns="0" rIns="0" bIns="0" rtlCol="0"/>
          <a:lstStyle>
            <a:defPPr>
              <a:defRPr lang="pt-BR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770"/>
          </a:p>
        </p:txBody>
      </p:sp>
      <p:pic>
        <p:nvPicPr>
          <p:cNvPr id="5" name="object 10">
            <a:extLst>
              <a:ext uri="{FF2B5EF4-FFF2-40B4-BE49-F238E27FC236}">
                <a16:creationId xmlns:a16="http://schemas.microsoft.com/office/drawing/2014/main" id="{3B0EE1EA-A6A4-6BCC-BD73-D3BD0A5AFD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3374" y="84758"/>
            <a:ext cx="2287817" cy="71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4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66667E-6 -7.40741E-7 L 0.02383 0.05463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27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/>
      <p:bldP spid="1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2C8C7-3617-B6BD-9120-89BE45B7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9357DCF-09BF-0EF0-481B-160D19C5AF36}"/>
              </a:ext>
            </a:extLst>
          </p:cNvPr>
          <p:cNvSpPr txBox="1">
            <a:spLocks/>
          </p:cNvSpPr>
          <p:nvPr/>
        </p:nvSpPr>
        <p:spPr>
          <a:xfrm>
            <a:off x="609602" y="382496"/>
            <a:ext cx="9906000" cy="447622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6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Anexo I – Organograma: Grupo Embracon</a:t>
            </a:r>
            <a:endParaRPr lang="pt-BR" sz="2600" b="1" cap="small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103D570-7FDE-7584-70F9-56917AE71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611"/>
            <a:ext cx="12192000" cy="4286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66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DAE42-BED0-807B-3C38-0E03DCCA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F107FF6-99B2-B8D1-F808-A2C90ACCF006}"/>
              </a:ext>
            </a:extLst>
          </p:cNvPr>
          <p:cNvSpPr txBox="1">
            <a:spLocks/>
          </p:cNvSpPr>
          <p:nvPr/>
        </p:nvSpPr>
        <p:spPr>
          <a:xfrm>
            <a:off x="609602" y="382496"/>
            <a:ext cx="9906000" cy="447622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6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Anexo II – Organograma: Grupo CNP Brasil</a:t>
            </a:r>
            <a:endParaRPr lang="pt-BR" sz="2600" b="1" cap="small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7AC497-905B-F08A-7BA2-4073A0F3B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18" y="830119"/>
            <a:ext cx="10683565" cy="547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069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Gray cityscape view">
            <a:extLst>
              <a:ext uri="{FF2B5EF4-FFF2-40B4-BE49-F238E27FC236}">
                <a16:creationId xmlns:a16="http://schemas.microsoft.com/office/drawing/2014/main" id="{1D35A71F-435C-59E4-D478-BD4D28928B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619"/>
            <a:ext cx="12192001" cy="6865619"/>
          </a:xfrm>
          <a:prstGeom prst="rect">
            <a:avLst/>
          </a:prstGeom>
          <a:effectLst/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674FA92-D0D1-E7D2-A2EF-8378C5D126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807" y="3099230"/>
            <a:ext cx="5488387" cy="654528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935076" y="1085835"/>
            <a:ext cx="0" cy="1126618"/>
          </a:xfrm>
          <a:custGeom>
            <a:avLst/>
            <a:gdLst/>
            <a:ahLst/>
            <a:cxnLst/>
            <a:rect l="l" t="t" r="r" b="b"/>
            <a:pathLst>
              <a:path h="1877695">
                <a:moveTo>
                  <a:pt x="0" y="1877514"/>
                </a:moveTo>
                <a:lnTo>
                  <a:pt x="0" y="0"/>
                </a:lnTo>
              </a:path>
            </a:pathLst>
          </a:custGeom>
          <a:ln w="666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48640"/>
            <a:endParaRPr sz="1080" kern="0">
              <a:solidFill>
                <a:sysClr val="windowText" lastClr="000000"/>
              </a:solidFill>
              <a:latin typeface="Calibri" panose="020F0502020204030204" pitchFamily="34" charset="0"/>
              <a:ea typeface="Geneva" pitchFamily="123" charset="-128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66018" y="2003731"/>
            <a:ext cx="0" cy="885444"/>
          </a:xfrm>
          <a:custGeom>
            <a:avLst/>
            <a:gdLst/>
            <a:ahLst/>
            <a:cxnLst/>
            <a:rect l="l" t="t" r="r" b="b"/>
            <a:pathLst>
              <a:path h="1475739">
                <a:moveTo>
                  <a:pt x="0" y="1475275"/>
                </a:moveTo>
                <a:lnTo>
                  <a:pt x="0" y="0"/>
                </a:lnTo>
              </a:path>
            </a:pathLst>
          </a:custGeom>
          <a:ln w="666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48640"/>
            <a:endParaRPr sz="1080" kern="0">
              <a:solidFill>
                <a:sysClr val="windowText" lastClr="000000"/>
              </a:solidFill>
              <a:latin typeface="Calibri" panose="020F0502020204030204" pitchFamily="34" charset="0"/>
              <a:ea typeface="Geneva" pitchFamily="123" charset="-128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66004" y="3426494"/>
            <a:ext cx="0" cy="321946"/>
          </a:xfrm>
          <a:custGeom>
            <a:avLst/>
            <a:gdLst/>
            <a:ahLst/>
            <a:cxnLst/>
            <a:rect l="l" t="t" r="r" b="b"/>
            <a:pathLst>
              <a:path h="536575">
                <a:moveTo>
                  <a:pt x="0" y="536518"/>
                </a:moveTo>
                <a:lnTo>
                  <a:pt x="0" y="0"/>
                </a:lnTo>
              </a:path>
            </a:pathLst>
          </a:custGeom>
          <a:ln w="666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48640"/>
            <a:endParaRPr sz="1080" kern="0">
              <a:solidFill>
                <a:sysClr val="windowText" lastClr="000000"/>
              </a:solidFill>
              <a:latin typeface="Calibri" panose="020F0502020204030204" pitchFamily="34" charset="0"/>
              <a:ea typeface="Geneva" pitchFamily="123" charset="-128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5094" y="4922032"/>
            <a:ext cx="1062990" cy="974980"/>
            <a:chOff x="575821" y="7631885"/>
            <a:chExt cx="1771650" cy="1624965"/>
          </a:xfrm>
        </p:grpSpPr>
        <p:sp>
          <p:nvSpPr>
            <p:cNvPr id="6" name="object 6"/>
            <p:cNvSpPr/>
            <p:nvPr/>
          </p:nvSpPr>
          <p:spPr>
            <a:xfrm>
              <a:off x="575821" y="7631885"/>
              <a:ext cx="1124585" cy="1142365"/>
            </a:xfrm>
            <a:custGeom>
              <a:avLst/>
              <a:gdLst/>
              <a:ahLst/>
              <a:cxnLst/>
              <a:rect l="l" t="t" r="r" b="b"/>
              <a:pathLst>
                <a:path w="1124585" h="1142365">
                  <a:moveTo>
                    <a:pt x="1124349" y="1142045"/>
                  </a:moveTo>
                  <a:lnTo>
                    <a:pt x="0" y="1142045"/>
                  </a:lnTo>
                  <a:lnTo>
                    <a:pt x="0" y="0"/>
                  </a:lnTo>
                  <a:lnTo>
                    <a:pt x="1124349" y="0"/>
                  </a:lnTo>
                  <a:lnTo>
                    <a:pt x="1124349" y="1142045"/>
                  </a:lnTo>
                  <a:close/>
                </a:path>
              </a:pathLst>
            </a:custGeom>
            <a:solidFill>
              <a:srgbClr val="FFFFFF">
                <a:alpha val="13999"/>
              </a:srgbClr>
            </a:solidFill>
          </p:spPr>
          <p:txBody>
            <a:bodyPr wrap="square" lIns="0" tIns="0" rIns="0" bIns="0" rtlCol="0"/>
            <a:lstStyle/>
            <a:p>
              <a:pPr defTabSz="548640"/>
              <a:endParaRPr sz="1080" kern="0">
                <a:solidFill>
                  <a:sysClr val="windowText" lastClr="000000"/>
                </a:solidFill>
                <a:latin typeface="Calibri" panose="020F0502020204030204" pitchFamily="34" charset="0"/>
                <a:ea typeface="Geneva" pitchFamily="123" charset="-128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1950" y="7951401"/>
              <a:ext cx="1304924" cy="13049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387842" y="5067380"/>
            <a:ext cx="1585081" cy="84670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7620" marR="3048" indent="451486" algn="r" defTabSz="548640">
              <a:lnSpc>
                <a:spcPct val="114700"/>
              </a:lnSpc>
              <a:spcBef>
                <a:spcPts val="60"/>
              </a:spcBef>
            </a:pP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endParaRPr lang="pt-BR" sz="930" kern="0" spc="-3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" marR="3048" indent="451486" algn="r" defTabSz="548640">
              <a:lnSpc>
                <a:spcPct val="114700"/>
              </a:lnSpc>
              <a:spcBef>
                <a:spcPts val="60"/>
              </a:spcBef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930" kern="0" spc="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" marR="3048" indent="451486" algn="r" defTabSz="548640">
              <a:lnSpc>
                <a:spcPct val="114700"/>
              </a:lnSpc>
              <a:spcBef>
                <a:spcPts val="60"/>
              </a:spcBef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sz="93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7818" marR="3048" indent="571500" algn="r" defTabSz="548640">
              <a:lnSpc>
                <a:spcPct val="114700"/>
              </a:lnSpc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sz="930" kern="0" spc="-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endParaRPr lang="pt-BR" sz="930" kern="0" spc="-3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7818" marR="3048" indent="571500" algn="r" defTabSz="548640">
              <a:lnSpc>
                <a:spcPct val="114700"/>
              </a:lnSpc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sz="93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2083" y="5561616"/>
            <a:ext cx="1472946" cy="314061"/>
          </a:xfrm>
          <a:prstGeom prst="rect">
            <a:avLst/>
          </a:prstGeom>
        </p:spPr>
        <p:txBody>
          <a:bodyPr vert="horz" wrap="square" lIns="0" tIns="7240" rIns="0" bIns="0" rtlCol="0">
            <a:spAutoFit/>
          </a:bodyPr>
          <a:lstStyle/>
          <a:p>
            <a:pPr marL="7620" marR="3048" defTabSz="548640">
              <a:lnSpc>
                <a:spcPct val="114300"/>
              </a:lnSpc>
              <a:spcBef>
                <a:spcPts val="58"/>
              </a:spcBef>
            </a:pP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Escaneie</a:t>
            </a:r>
            <a:r>
              <a:rPr sz="900" kern="0" spc="-1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0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QR</a:t>
            </a:r>
            <a:r>
              <a:rPr sz="900" kern="0" spc="-1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sz="90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acessar</a:t>
            </a:r>
            <a:r>
              <a:rPr sz="90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nossas</a:t>
            </a:r>
            <a:r>
              <a:rPr sz="90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redes</a:t>
            </a:r>
            <a:endParaRPr sz="90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AC44AFBC-A49A-363C-7A16-D8390A23EE80}"/>
              </a:ext>
            </a:extLst>
          </p:cNvPr>
          <p:cNvSpPr txBox="1"/>
          <p:nvPr/>
        </p:nvSpPr>
        <p:spPr>
          <a:xfrm>
            <a:off x="5229606" y="764826"/>
            <a:ext cx="1732788" cy="136577"/>
          </a:xfrm>
          <a:prstGeom prst="rect">
            <a:avLst/>
          </a:prstGeom>
        </p:spPr>
        <p:txBody>
          <a:bodyPr vert="horz" wrap="square" lIns="0" tIns="7240" rIns="0" bIns="0" rtlCol="0">
            <a:spAutoFit/>
          </a:bodyPr>
          <a:lstStyle/>
          <a:p>
            <a:pPr marL="7620" algn="ctr" defTabSz="548640">
              <a:spcBef>
                <a:spcPts val="58"/>
              </a:spcBef>
            </a:pP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sz="84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8F5486F-9FC1-4A15-91CE-3D7D4B7681B7}">
  <we:reference id="wa104379997" version="3.0.0.0" store="pt-BR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AB879FBBF3124F8436FBD60778AD84" ma:contentTypeVersion="15" ma:contentTypeDescription="Crie um novo documento." ma:contentTypeScope="" ma:versionID="4867b7494ac7cbeead31202784cb2428">
  <xsd:schema xmlns:xsd="http://www.w3.org/2001/XMLSchema" xmlns:xs="http://www.w3.org/2001/XMLSchema" xmlns:p="http://schemas.microsoft.com/office/2006/metadata/properties" xmlns:ns3="c9b25b80-2ded-4208-9db1-a78a594de3a0" xmlns:ns4="91d79af6-4e91-4481-a634-6475868a14b6" targetNamespace="http://schemas.microsoft.com/office/2006/metadata/properties" ma:root="true" ma:fieldsID="f124b4f078495c9ebfdc8fdc9264614b" ns3:_="" ns4:_="">
    <xsd:import namespace="c9b25b80-2ded-4208-9db1-a78a594de3a0"/>
    <xsd:import namespace="91d79af6-4e91-4481-a634-6475868a14b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25b80-2ded-4208-9db1-a78a594de3a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d79af6-4e91-4481-a634-6475868a14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roperties xmlns="http://www.imanage.com/work/xmlschema">
  <documentid>SFPFC!5056193.1</documentid>
  <senderid>ASTOCCHE</senderid>
  <senderemail>ASTOCCHE@STOCCHEFORBES.COM.BR</senderemail>
  <lastmodified>2025-05-12T08:29:11.0000000-03:00</lastmodified>
  <database>SFPFC</database>
</properti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d79af6-4e91-4481-a634-6475868a14b6" xsi:nil="true"/>
  </documentManagement>
</p:properties>
</file>

<file path=customXml/itemProps1.xml><?xml version="1.0" encoding="utf-8"?>
<ds:datastoreItem xmlns:ds="http://schemas.openxmlformats.org/officeDocument/2006/customXml" ds:itemID="{826612F5-4EF1-4CCB-9F9F-343714F46B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B38651-1F99-451A-9EBB-6C13B3B675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25b80-2ded-4208-9db1-a78a594de3a0"/>
    <ds:schemaRef ds:uri="91d79af6-4e91-4481-a634-6475868a14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974182-487A-4F3E-B83F-B470214D8D66}">
  <ds:schemaRefs>
    <ds:schemaRef ds:uri="http://www.imanage.com/work/xmlschema"/>
  </ds:schemaRefs>
</ds:datastoreItem>
</file>

<file path=customXml/itemProps4.xml><?xml version="1.0" encoding="utf-8"?>
<ds:datastoreItem xmlns:ds="http://schemas.openxmlformats.org/officeDocument/2006/customXml" ds:itemID="{6EB515C7-2E53-4C2F-A927-E29C2EF3C396}">
  <ds:schemaRefs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91d79af6-4e91-4481-a634-6475868a14b6"/>
    <ds:schemaRef ds:uri="c9b25b80-2ded-4208-9db1-a78a594de3a0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bf63df5a-c6cb-4032-936b-ad25a04dd3dd}" enabled="1" method="Standard" siteId="{ea803e51-b7dd-4b01-9f98-6ad769db211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44206</TotalTime>
  <Words>1436</Words>
  <Application>Microsoft Office PowerPoint</Application>
  <PresentationFormat>Widescreen</PresentationFormat>
  <Paragraphs>161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22" baseType="lpstr">
      <vt:lpstr>Aptos</vt:lpstr>
      <vt:lpstr>Arial</vt:lpstr>
      <vt:lpstr>Calibri</vt:lpstr>
      <vt:lpstr>Courier New</vt:lpstr>
      <vt:lpstr>Geneva</vt:lpstr>
      <vt:lpstr>Gotham</vt:lpstr>
      <vt:lpstr>Open Sans</vt:lpstr>
      <vt:lpstr>Symbol</vt:lpstr>
      <vt:lpstr>Times New Roman</vt:lpstr>
      <vt:lpstr>Wingdings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Guido Passaro</dc:creator>
  <cp:lastModifiedBy>André Stocche | Stocche Forbes Advogados</cp:lastModifiedBy>
  <cp:revision>157</cp:revision>
  <dcterms:created xsi:type="dcterms:W3CDTF">2024-01-23T12:37:59Z</dcterms:created>
  <dcterms:modified xsi:type="dcterms:W3CDTF">2025-05-13T12:32:59Z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0x01010001AB879FBBF3124F8436FBD60778AD84</vt:lpwstr>
  </property>
</Properties>
</file>