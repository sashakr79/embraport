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handoutMasterIdLst>
    <p:handoutMasterId r:id="rId8"/>
  </p:handoutMasterIdLst>
  <p:sldIdLst>
    <p:sldId id="6831" r:id="rId5"/>
    <p:sldId id="6841" r:id="rId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59"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A46D81-2F69-433E-3A1D-378E58BB326C}" name="Hayanne Fernandes Rosado | Tax Bi" initials="HF" userId="S::hrosado@tax-bi.com::20a17bea-f5f5-436e-b08f-c23279f00250" providerId="AD"/>
  <p188:author id="{B0BBBDA1-F5A7-B274-31B9-00116FB908DE}" name="Paloma Campagnoli Matos | Stocche Forbes Advogados" initials="PCM|SFA" userId="S::pmatos@stoccheforbes.com.br::583c284d-2a43-4781-afa3-6a12f58a0f0a" providerId="AD"/>
  <p188:author id="{486E77AE-D3D3-6135-511F-42B05431469F}" name="Pedro Antonio Garcia Marques Buzas | Stocche Forbes Advogados" initials="PG" userId="S::pbuzas@stoccheforbes.com.br::ed450430-98d5-48c8-b235-83dfcd24a74e" providerId="AD"/>
  <p188:author id="{9CB304E2-3DCA-66BA-DEA8-677F8CA1AFD8}" name="Ana Luisa Vasconcelos Chiminazzo | Stocche Forbes Advogados" initials="AV" userId="S::achiminazzo@stoccheforbes.com.br::9f7e27a4-86ec-4153-a06a-6e857bdf354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7F2"/>
    <a:srgbClr val="F3FFF8"/>
    <a:srgbClr val="7F7F7F"/>
    <a:srgbClr val="E7F5FF"/>
    <a:srgbClr val="FEECDE"/>
    <a:srgbClr val="FDE4CF"/>
    <a:srgbClr val="FFF3F3"/>
    <a:srgbClr val="FFE7E7"/>
    <a:srgbClr val="DB0F0F"/>
    <a:srgbClr val="E50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Estilo Médio 2 - Ênfas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50" autoAdjust="0"/>
    <p:restoredTop sz="96247" autoAdjust="0"/>
  </p:normalViewPr>
  <p:slideViewPr>
    <p:cSldViewPr snapToGrid="0">
      <p:cViewPr varScale="1">
        <p:scale>
          <a:sx n="107" d="100"/>
          <a:sy n="107" d="100"/>
        </p:scale>
        <p:origin x="888" y="102"/>
      </p:cViewPr>
      <p:guideLst>
        <p:guide pos="3659"/>
        <p:guide orient="horz" pos="2160"/>
      </p:guideLst>
    </p:cSldViewPr>
  </p:slideViewPr>
  <p:notesTextViewPr>
    <p:cViewPr>
      <p:scale>
        <a:sx n="3" d="2"/>
        <a:sy n="3" d="2"/>
      </p:scale>
      <p:origin x="0" y="0"/>
    </p:cViewPr>
  </p:notesTextViewPr>
  <p:notesViewPr>
    <p:cSldViewPr snapToGrid="0">
      <p:cViewPr varScale="1">
        <p:scale>
          <a:sx n="84" d="100"/>
          <a:sy n="84" d="100"/>
        </p:scale>
        <p:origin x="3054"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B953871-AE4A-4E57-7A01-097F66A3D1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F4A5D9A0-CD62-74FE-2F71-3F28F2D7CF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BE5181-5DDE-4467-9665-E9961D17CA5A}" type="datetimeFigureOut">
              <a:rPr lang="pt-BR" smtClean="0"/>
              <a:t>18/08/2026</a:t>
            </a:fld>
            <a:endParaRPr lang="pt-BR"/>
          </a:p>
        </p:txBody>
      </p:sp>
      <p:sp>
        <p:nvSpPr>
          <p:cNvPr id="4" name="Espaço Reservado para Rodapé 3">
            <a:extLst>
              <a:ext uri="{FF2B5EF4-FFF2-40B4-BE49-F238E27FC236}">
                <a16:creationId xmlns:a16="http://schemas.microsoft.com/office/drawing/2014/main" id="{7033E9D0-B3FB-7337-54A8-BC69457DC0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F4B59C15-DE16-EBC1-762D-F439AD4E65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44BEEA-A6C2-40BA-933D-1C421A257869}" type="slidenum">
              <a:rPr lang="pt-BR" smtClean="0"/>
              <a:t>‹nº›</a:t>
            </a:fld>
            <a:endParaRPr lang="pt-BR"/>
          </a:p>
        </p:txBody>
      </p:sp>
    </p:spTree>
    <p:extLst>
      <p:ext uri="{BB962C8B-B14F-4D97-AF65-F5344CB8AC3E}">
        <p14:creationId xmlns:p14="http://schemas.microsoft.com/office/powerpoint/2010/main" val="222073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2EDEA5-15A1-44C6-8555-33648E07E80F}" type="datetimeFigureOut">
              <a:rPr lang="pt-BR" smtClean="0"/>
              <a:t>18/08/2026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307EDC-03E0-4048-9E10-CC2E47DD7A50}" type="slidenum">
              <a:rPr lang="pt-BR" smtClean="0"/>
              <a:t>‹nº›</a:t>
            </a:fld>
            <a:endParaRPr lang="pt-BR"/>
          </a:p>
        </p:txBody>
      </p:sp>
    </p:spTree>
    <p:extLst>
      <p:ext uri="{BB962C8B-B14F-4D97-AF65-F5344CB8AC3E}">
        <p14:creationId xmlns:p14="http://schemas.microsoft.com/office/powerpoint/2010/main" val="4038840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FF30D-D319-184A-F959-6013E2336F9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26B4770-5924-1CB4-85D5-8D5446B6C256}"/>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DADA06A6-B377-78FC-BD59-20ABC0D219F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C198BEC-30A9-58D4-C38C-EE2BE40FEC21}"/>
              </a:ext>
            </a:extLst>
          </p:cNvPr>
          <p:cNvSpPr>
            <a:spLocks noGrp="1"/>
          </p:cNvSpPr>
          <p:nvPr>
            <p:ph type="sldNum" sz="quarter" idx="5"/>
          </p:nvPr>
        </p:nvSpPr>
        <p:spPr/>
        <p:txBody>
          <a:bodyPr/>
          <a:lstStyle/>
          <a:p>
            <a:fld id="{DD307EDC-03E0-4048-9E10-CC2E47DD7A50}" type="slidenum">
              <a:rPr lang="pt-BR" smtClean="0"/>
              <a:t>1</a:t>
            </a:fld>
            <a:endParaRPr lang="pt-BR"/>
          </a:p>
        </p:txBody>
      </p:sp>
    </p:spTree>
    <p:extLst>
      <p:ext uri="{BB962C8B-B14F-4D97-AF65-F5344CB8AC3E}">
        <p14:creationId xmlns:p14="http://schemas.microsoft.com/office/powerpoint/2010/main" val="2473050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E54F9-3CBB-251A-E128-5F985B53EEF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0FBE293-6704-5862-8A97-38D33B614940}"/>
              </a:ext>
            </a:extLst>
          </p:cNvPr>
          <p:cNvSpPr>
            <a:spLocks noGrp="1" noRot="1" noChangeAspect="1"/>
          </p:cNvSpPr>
          <p:nvPr>
            <p:ph type="sldImg"/>
          </p:nvPr>
        </p:nvSpPr>
        <p:spPr/>
        <p:txBody>
          <a:bodyPr/>
          <a:lstStyle/>
          <a:p>
            <a:endParaRPr lang="pt-BR"/>
          </a:p>
        </p:txBody>
      </p:sp>
      <p:sp>
        <p:nvSpPr>
          <p:cNvPr id="3" name="Espaço Reservado para Anotações 2">
            <a:extLst>
              <a:ext uri="{FF2B5EF4-FFF2-40B4-BE49-F238E27FC236}">
                <a16:creationId xmlns:a16="http://schemas.microsoft.com/office/drawing/2014/main" id="{753716AC-2B3E-E6A4-B0CC-89E539172778}"/>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5866FF5-A2EA-54EB-5B57-42A2BBC14987}"/>
              </a:ext>
            </a:extLst>
          </p:cNvPr>
          <p:cNvSpPr>
            <a:spLocks noGrp="1"/>
          </p:cNvSpPr>
          <p:nvPr>
            <p:ph type="sldNum" sz="quarter" idx="5"/>
          </p:nvPr>
        </p:nvSpPr>
        <p:spPr/>
        <p:txBody>
          <a:bodyPr/>
          <a:lstStyle/>
          <a:p>
            <a:fld id="{DD307EDC-03E0-4048-9E10-CC2E47DD7A50}" type="slidenum">
              <a:rPr lang="pt-BR" smtClean="0"/>
              <a:t>2</a:t>
            </a:fld>
            <a:endParaRPr lang="pt-BR"/>
          </a:p>
        </p:txBody>
      </p:sp>
    </p:spTree>
    <p:extLst>
      <p:ext uri="{BB962C8B-B14F-4D97-AF65-F5344CB8AC3E}">
        <p14:creationId xmlns:p14="http://schemas.microsoft.com/office/powerpoint/2010/main" val="33645159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23EEA5A1-9AF0-9D95-4AC8-40ED3C4DF8F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9740" y="6399530"/>
            <a:ext cx="1473200" cy="175689"/>
          </a:xfrm>
          <a:prstGeom prst="rect">
            <a:avLst/>
          </a:prstGeom>
        </p:spPr>
      </p:pic>
      <p:sp>
        <p:nvSpPr>
          <p:cNvPr id="3" name="CaixaDeTexto 2">
            <a:extLst>
              <a:ext uri="{FF2B5EF4-FFF2-40B4-BE49-F238E27FC236}">
                <a16:creationId xmlns:a16="http://schemas.microsoft.com/office/drawing/2014/main" id="{E85C63E9-3D96-7D95-A130-3A4B88F203F1}"/>
              </a:ext>
            </a:extLst>
          </p:cNvPr>
          <p:cNvSpPr txBox="1"/>
          <p:nvPr userDrawn="1"/>
        </p:nvSpPr>
        <p:spPr>
          <a:xfrm>
            <a:off x="8171579" y="6390720"/>
            <a:ext cx="3766421" cy="235898"/>
          </a:xfrm>
          <a:prstGeom prst="rect">
            <a:avLst/>
          </a:prstGeom>
          <a:noFill/>
        </p:spPr>
        <p:txBody>
          <a:bodyPr wrap="square">
            <a:spAutoFit/>
          </a:bodyPr>
          <a:lstStyle/>
          <a:p>
            <a:pPr algn="ctr"/>
            <a:r>
              <a:rPr lang="pt-BR" sz="933" dirty="0">
                <a:solidFill>
                  <a:schemeClr val="bg1">
                    <a:lumMod val="65000"/>
                  </a:schemeClr>
                </a:solidFill>
                <a:cs typeface="Times New Roman" panose="02020603050405020304" pitchFamily="18" charset="0"/>
              </a:rPr>
              <a:t>São Paulo | Rio de Janeiro | Belo Horizonte | Brasília | Ribeirão Preto </a:t>
            </a:r>
            <a:endParaRPr lang="pt-BR" sz="933" dirty="0">
              <a:solidFill>
                <a:schemeClr val="bg1">
                  <a:lumMod val="65000"/>
                </a:schemeClr>
              </a:solidFill>
            </a:endParaRPr>
          </a:p>
        </p:txBody>
      </p:sp>
      <p:cxnSp>
        <p:nvCxnSpPr>
          <p:cNvPr id="4" name="Conector reto 3">
            <a:extLst>
              <a:ext uri="{FF2B5EF4-FFF2-40B4-BE49-F238E27FC236}">
                <a16:creationId xmlns:a16="http://schemas.microsoft.com/office/drawing/2014/main" id="{4E12011E-5D0F-1143-8522-5C98F613705E}"/>
              </a:ext>
            </a:extLst>
          </p:cNvPr>
          <p:cNvCxnSpPr>
            <a:cxnSpLocks/>
          </p:cNvCxnSpPr>
          <p:nvPr userDrawn="1"/>
        </p:nvCxnSpPr>
        <p:spPr>
          <a:xfrm>
            <a:off x="209943" y="6347561"/>
            <a:ext cx="1172805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object 4">
            <a:extLst>
              <a:ext uri="{FF2B5EF4-FFF2-40B4-BE49-F238E27FC236}">
                <a16:creationId xmlns:a16="http://schemas.microsoft.com/office/drawing/2014/main" id="{67ABEBCF-C484-D06B-9782-998537633A1D}"/>
              </a:ext>
            </a:extLst>
          </p:cNvPr>
          <p:cNvSpPr/>
          <p:nvPr userDrawn="1"/>
        </p:nvSpPr>
        <p:spPr>
          <a:xfrm>
            <a:off x="434759" y="249990"/>
            <a:ext cx="508000" cy="611243"/>
          </a:xfrm>
          <a:custGeom>
            <a:avLst/>
            <a:gdLst/>
            <a:ahLst/>
            <a:cxnLst/>
            <a:rect l="l" t="t" r="r" b="b"/>
            <a:pathLst>
              <a:path h="1630680">
                <a:moveTo>
                  <a:pt x="0" y="1630255"/>
                </a:moveTo>
                <a:lnTo>
                  <a:pt x="0" y="0"/>
                </a:lnTo>
              </a:path>
            </a:pathLst>
          </a:custGeom>
          <a:ln w="47624">
            <a:solidFill>
              <a:srgbClr val="E50600"/>
            </a:solidFill>
          </a:ln>
        </p:spPr>
        <p:txBody>
          <a:bodyPr wrap="square" lIns="0" tIns="0" rIns="0" bIns="0" rtlCol="0"/>
          <a:lstStyle/>
          <a:p>
            <a:endParaRPr sz="1200" dirty="0"/>
          </a:p>
        </p:txBody>
      </p:sp>
    </p:spTree>
    <p:extLst>
      <p:ext uri="{BB962C8B-B14F-4D97-AF65-F5344CB8AC3E}">
        <p14:creationId xmlns:p14="http://schemas.microsoft.com/office/powerpoint/2010/main" val="272120903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92692" y="25390"/>
            <a:ext cx="5073227" cy="397764"/>
          </a:xfrm>
          <a:prstGeom prst="rect">
            <a:avLst/>
          </a:prstGeom>
        </p:spPr>
        <p:txBody>
          <a:bodyPr wrap="square" lIns="0" tIns="0" rIns="0" bIns="0">
            <a:spAutoFit/>
          </a:bodyPr>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386079" y="2504294"/>
            <a:ext cx="7257627" cy="216941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C836BA47-CBC8-4C00-9ED1-12E02FC3942B}" type="datetime1">
              <a:rPr lang="en-US" smtClean="0"/>
              <a:t>8/18/2026</a:t>
            </a:fld>
            <a:endParaRPr lang="en-US"/>
          </a:p>
        </p:txBody>
      </p:sp>
      <p:sp>
        <p:nvSpPr>
          <p:cNvPr id="6" name="Holder 6"/>
          <p:cNvSpPr>
            <a:spLocks noGrp="1"/>
          </p:cNvSpPr>
          <p:nvPr>
            <p:ph type="sldNum" sz="quarter" idx="7"/>
          </p:nvPr>
        </p:nvSpPr>
        <p:spPr>
          <a:xfrm>
            <a:off x="283667" y="6604284"/>
            <a:ext cx="309033" cy="385362"/>
          </a:xfrm>
          <a:prstGeom prst="rect">
            <a:avLst/>
          </a:prstGeom>
        </p:spPr>
        <p:txBody>
          <a:bodyPr wrap="square" lIns="0" tIns="0" rIns="0" bIns="0">
            <a:spAutoFit/>
          </a:bodyPr>
          <a:lstStyle>
            <a:lvl1pPr>
              <a:defRPr sz="1440" b="0" i="0">
                <a:solidFill>
                  <a:srgbClr val="7E7E7E"/>
                </a:solidFill>
                <a:latin typeface="Calibri"/>
                <a:cs typeface="Calibri"/>
              </a:defRPr>
            </a:lvl1pPr>
          </a:lstStyle>
          <a:p>
            <a:pPr marL="45720">
              <a:lnSpc>
                <a:spcPts val="1488"/>
              </a:lnSpc>
            </a:pPr>
            <a:fld id="{81D60167-4931-47E6-BA6A-407CBD079E47}" type="slidenum">
              <a:rPr dirty="0"/>
              <a:pPr marL="45720">
                <a:lnSpc>
                  <a:spcPts val="1488"/>
                </a:lnSpc>
              </a:pPr>
              <a:t>‹nº›</a:t>
            </a:fld>
            <a:endParaRPr dirty="0"/>
          </a:p>
        </p:txBody>
      </p:sp>
    </p:spTree>
  </p:cSld>
  <p:clrMap bg1="lt1" tx1="dk1" bg2="lt2" tx2="dk2" accent1="accent1" accent2="accent2" accent3="accent3" accent4="accent4" accent5="accent5" accent6="accent6" hlink="hlink" folHlink="folHlink"/>
  <p:sldLayoutIdLst>
    <p:sldLayoutId id="2147484173" r:id="rId1"/>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0DE7A-EBF3-54CD-E1D7-0FD7680CC731}"/>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3C8C38A6-C7FA-FB12-5926-A0E2F41B4DFF}"/>
              </a:ext>
            </a:extLst>
          </p:cNvPr>
          <p:cNvSpPr txBox="1">
            <a:spLocks/>
          </p:cNvSpPr>
          <p:nvPr/>
        </p:nvSpPr>
        <p:spPr>
          <a:xfrm>
            <a:off x="622700" y="193523"/>
            <a:ext cx="9906000" cy="421909"/>
          </a:xfrm>
          <a:prstGeom prst="rect">
            <a:avLst/>
          </a:prstGeom>
        </p:spPr>
        <p:txBody>
          <a:bodyPr vert="horz" wrap="square" lIns="0" tIns="36829" rIns="0" bIns="0" rtlCol="0">
            <a:spAutoFit/>
          </a:bodyPr>
          <a:lstStyle>
            <a:lvl1pPr>
              <a:defRPr sz="6100" b="0" i="0">
                <a:solidFill>
                  <a:schemeClr val="bg1"/>
                </a:solidFill>
                <a:latin typeface="Gotham"/>
                <a:ea typeface="+mj-ea"/>
                <a:cs typeface="Gotham"/>
              </a:defRPr>
            </a:lvl1pPr>
          </a:lstStyle>
          <a:p>
            <a:pPr marL="8467" marR="3387" indent="-8467"/>
            <a:r>
              <a:rPr lang="pt-BR" sz="1400" b="1" cap="small" dirty="0">
                <a:solidFill>
                  <a:srgbClr val="EA0600"/>
                </a:solidFill>
                <a:latin typeface="Calibri" panose="020F0502020204030204" pitchFamily="34" charset="0"/>
                <a:ea typeface="Calibri" panose="020F0502020204030204" pitchFamily="34" charset="0"/>
                <a:cs typeface="Calibri" panose="020F0502020204030204" pitchFamily="34" charset="0"/>
              </a:rPr>
              <a:t>Mais-valia em incorporação de sociedade.</a:t>
            </a:r>
            <a:r>
              <a:rPr lang="pt-BR" sz="1400" b="1" cap="small" dirty="0">
                <a:solidFill>
                  <a:srgbClr val="EA0600"/>
                </a:solidFill>
                <a:latin typeface="Calibri" panose="020F0502020204030204" pitchFamily="34" charset="0"/>
                <a:cs typeface="Calibri" panose="020F0502020204030204" pitchFamily="34" charset="0"/>
              </a:rPr>
              <a:t> </a:t>
            </a:r>
            <a:r>
              <a:rPr lang="pt-BR" sz="1400" b="1" cap="small" dirty="0">
                <a:solidFill>
                  <a:schemeClr val="tx1">
                    <a:lumMod val="65000"/>
                    <a:lumOff val="35000"/>
                  </a:schemeClr>
                </a:solidFill>
                <a:latin typeface="Calibri" panose="020F0502020204030204" pitchFamily="34" charset="0"/>
                <a:cs typeface="Calibri" panose="020F0502020204030204" pitchFamily="34" charset="0"/>
              </a:rPr>
              <a:t>Possíveis implicações na venda da incorporadora</a:t>
            </a:r>
          </a:p>
          <a:p>
            <a:pPr marL="8467" marR="3387" indent="-8467"/>
            <a:r>
              <a:rPr lang="pt-BR" sz="1050" i="1" cap="small" dirty="0">
                <a:solidFill>
                  <a:srgbClr val="E50600"/>
                </a:solidFill>
                <a:latin typeface="Calibri" panose="020F0502020204030204" pitchFamily="34" charset="0"/>
                <a:cs typeface="Calibri" panose="020F0502020204030204" pitchFamily="34" charset="0"/>
              </a:rPr>
              <a:t>Mapa esquemático para discussão</a:t>
            </a:r>
          </a:p>
        </p:txBody>
      </p:sp>
      <p:sp>
        <p:nvSpPr>
          <p:cNvPr id="3" name="Fluxograma: Processo Alternativo 2">
            <a:extLst>
              <a:ext uri="{FF2B5EF4-FFF2-40B4-BE49-F238E27FC236}">
                <a16:creationId xmlns:a16="http://schemas.microsoft.com/office/drawing/2014/main" id="{58FAEBE7-613E-6A1C-D738-D7853A183716}"/>
              </a:ext>
            </a:extLst>
          </p:cNvPr>
          <p:cNvSpPr/>
          <p:nvPr/>
        </p:nvSpPr>
        <p:spPr>
          <a:xfrm>
            <a:off x="3248042" y="959157"/>
            <a:ext cx="968796" cy="275037"/>
          </a:xfrm>
          <a:prstGeom prst="flowChartAlternateProcess">
            <a:avLst/>
          </a:prstGeom>
          <a:solidFill>
            <a:srgbClr val="C00000"/>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Sucessão universal</a:t>
            </a:r>
          </a:p>
        </p:txBody>
      </p:sp>
      <p:sp>
        <p:nvSpPr>
          <p:cNvPr id="9" name="Fluxograma: Processo Alternativo 8">
            <a:extLst>
              <a:ext uri="{FF2B5EF4-FFF2-40B4-BE49-F238E27FC236}">
                <a16:creationId xmlns:a16="http://schemas.microsoft.com/office/drawing/2014/main" id="{ED0637D2-2391-BE88-68C7-B50B2D2C559F}"/>
              </a:ext>
            </a:extLst>
          </p:cNvPr>
          <p:cNvSpPr/>
          <p:nvPr/>
        </p:nvSpPr>
        <p:spPr>
          <a:xfrm>
            <a:off x="1025401" y="1810946"/>
            <a:ext cx="1146563" cy="275037"/>
          </a:xfrm>
          <a:prstGeom prst="flowChartAlternateProcess">
            <a:avLst/>
          </a:prstGeom>
          <a:solidFill>
            <a:srgbClr val="FFF3F3"/>
          </a:solid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b="1" dirty="0">
                <a:solidFill>
                  <a:srgbClr val="C00000"/>
                </a:solidFill>
              </a:rPr>
              <a:t>1.A</a:t>
            </a:r>
          </a:p>
          <a:p>
            <a:pPr algn="ctr"/>
            <a:r>
              <a:rPr lang="pt-BR" sz="800" dirty="0">
                <a:solidFill>
                  <a:schemeClr val="tx1"/>
                </a:solidFill>
              </a:rPr>
              <a:t>Neutralidade total</a:t>
            </a:r>
          </a:p>
        </p:txBody>
      </p:sp>
      <p:grpSp>
        <p:nvGrpSpPr>
          <p:cNvPr id="19" name="Agrupar 18">
            <a:extLst>
              <a:ext uri="{FF2B5EF4-FFF2-40B4-BE49-F238E27FC236}">
                <a16:creationId xmlns:a16="http://schemas.microsoft.com/office/drawing/2014/main" id="{12437F84-653C-B32B-8132-DD8A29816C96}"/>
              </a:ext>
            </a:extLst>
          </p:cNvPr>
          <p:cNvGrpSpPr/>
          <p:nvPr/>
        </p:nvGrpSpPr>
        <p:grpSpPr>
          <a:xfrm>
            <a:off x="541002" y="2331968"/>
            <a:ext cx="1019089" cy="571732"/>
            <a:chOff x="1368424" y="3031274"/>
            <a:chExt cx="1222375" cy="685780"/>
          </a:xfrm>
        </p:grpSpPr>
        <p:sp>
          <p:nvSpPr>
            <p:cNvPr id="6" name="Fluxograma: Terminação 5">
              <a:extLst>
                <a:ext uri="{FF2B5EF4-FFF2-40B4-BE49-F238E27FC236}">
                  <a16:creationId xmlns:a16="http://schemas.microsoft.com/office/drawing/2014/main" id="{2C19F20B-7133-9B06-F2B8-E097B7395745}"/>
                </a:ext>
              </a:extLst>
            </p:cNvPr>
            <p:cNvSpPr/>
            <p:nvPr/>
          </p:nvSpPr>
          <p:spPr>
            <a:xfrm>
              <a:off x="1428750" y="3031274"/>
              <a:ext cx="1162049" cy="301752"/>
            </a:xfrm>
            <a:prstGeom prst="flowChartTerminator">
              <a:avLst/>
            </a:prstGeom>
            <a:solidFill>
              <a:schemeClr val="bg1"/>
            </a:solidFill>
            <a:ln w="1270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700" dirty="0">
                  <a:solidFill>
                    <a:schemeClr val="tx1"/>
                  </a:solidFill>
                </a:rPr>
                <a:t>INCORPORADORA</a:t>
              </a:r>
            </a:p>
          </p:txBody>
        </p:sp>
        <p:grpSp>
          <p:nvGrpSpPr>
            <p:cNvPr id="15" name="Agrupar 14">
              <a:extLst>
                <a:ext uri="{FF2B5EF4-FFF2-40B4-BE49-F238E27FC236}">
                  <a16:creationId xmlns:a16="http://schemas.microsoft.com/office/drawing/2014/main" id="{E12159E5-E998-41F1-3800-AB8A8495247C}"/>
                </a:ext>
              </a:extLst>
            </p:cNvPr>
            <p:cNvGrpSpPr/>
            <p:nvPr/>
          </p:nvGrpSpPr>
          <p:grpSpPr>
            <a:xfrm>
              <a:off x="1368424" y="3367086"/>
              <a:ext cx="1222374" cy="349968"/>
              <a:chOff x="1368424" y="3429000"/>
              <a:chExt cx="1222374" cy="349968"/>
            </a:xfrm>
          </p:grpSpPr>
          <p:sp>
            <p:nvSpPr>
              <p:cNvPr id="11" name="Retângulo 10">
                <a:extLst>
                  <a:ext uri="{FF2B5EF4-FFF2-40B4-BE49-F238E27FC236}">
                    <a16:creationId xmlns:a16="http://schemas.microsoft.com/office/drawing/2014/main" id="{78D2CE87-4F1D-7579-EB6C-23BE6ADE266A}"/>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dirty="0">
                    <a:solidFill>
                      <a:schemeClr val="tx1"/>
                    </a:solidFill>
                    <a:sym typeface="Wingdings" panose="05000000000000000000" pitchFamily="2" charset="2"/>
                  </a:rPr>
                  <a:t>MV é ajuste meramente contábil</a:t>
                </a:r>
                <a:endParaRPr lang="pt-BR" sz="700" dirty="0">
                  <a:solidFill>
                    <a:schemeClr val="tx1"/>
                  </a:solidFill>
                </a:endParaRPr>
              </a:p>
            </p:txBody>
          </p:sp>
          <p:sp>
            <p:nvSpPr>
              <p:cNvPr id="13" name="Elipse 12">
                <a:extLst>
                  <a:ext uri="{FF2B5EF4-FFF2-40B4-BE49-F238E27FC236}">
                    <a16:creationId xmlns:a16="http://schemas.microsoft.com/office/drawing/2014/main" id="{17B6FAFD-C8D8-1DCB-2418-0A2AC5AA740C}"/>
                  </a:ext>
                </a:extLst>
              </p:cNvPr>
              <p:cNvSpPr/>
              <p:nvPr/>
            </p:nvSpPr>
            <p:spPr>
              <a:xfrm>
                <a:off x="1368424" y="3543659"/>
                <a:ext cx="120650" cy="1206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1</a:t>
                </a:r>
              </a:p>
            </p:txBody>
          </p:sp>
        </p:grpSp>
      </p:grpSp>
      <p:grpSp>
        <p:nvGrpSpPr>
          <p:cNvPr id="21" name="Agrupar 20">
            <a:extLst>
              <a:ext uri="{FF2B5EF4-FFF2-40B4-BE49-F238E27FC236}">
                <a16:creationId xmlns:a16="http://schemas.microsoft.com/office/drawing/2014/main" id="{04884EAE-2270-7603-774E-1D75A3B63F6E}"/>
              </a:ext>
            </a:extLst>
          </p:cNvPr>
          <p:cNvGrpSpPr/>
          <p:nvPr/>
        </p:nvGrpSpPr>
        <p:grpSpPr>
          <a:xfrm>
            <a:off x="1614509" y="2331968"/>
            <a:ext cx="1019089" cy="891894"/>
            <a:chOff x="1368424" y="3031274"/>
            <a:chExt cx="1222375" cy="1069808"/>
          </a:xfrm>
        </p:grpSpPr>
        <p:sp>
          <p:nvSpPr>
            <p:cNvPr id="22" name="Fluxograma: Terminação 21">
              <a:extLst>
                <a:ext uri="{FF2B5EF4-FFF2-40B4-BE49-F238E27FC236}">
                  <a16:creationId xmlns:a16="http://schemas.microsoft.com/office/drawing/2014/main" id="{5526DC80-0F19-C04D-7EE7-DF8D5F8F1E59}"/>
                </a:ext>
              </a:extLst>
            </p:cNvPr>
            <p:cNvSpPr/>
            <p:nvPr/>
          </p:nvSpPr>
          <p:spPr>
            <a:xfrm>
              <a:off x="1428750" y="3031274"/>
              <a:ext cx="1162049" cy="301752"/>
            </a:xfrm>
            <a:prstGeom prst="flowChartTerminator">
              <a:avLst/>
            </a:prstGeom>
            <a:solidFill>
              <a:schemeClr val="bg1"/>
            </a:solidFill>
            <a:ln w="1270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700" dirty="0">
                  <a:solidFill>
                    <a:schemeClr val="tx1"/>
                  </a:solidFill>
                </a:rPr>
                <a:t>INVESTIDORA</a:t>
              </a:r>
            </a:p>
          </p:txBody>
        </p:sp>
        <p:grpSp>
          <p:nvGrpSpPr>
            <p:cNvPr id="23" name="Agrupar 22">
              <a:extLst>
                <a:ext uri="{FF2B5EF4-FFF2-40B4-BE49-F238E27FC236}">
                  <a16:creationId xmlns:a16="http://schemas.microsoft.com/office/drawing/2014/main" id="{83F7472E-CF65-5FEB-CD46-40F527C91C69}"/>
                </a:ext>
              </a:extLst>
            </p:cNvPr>
            <p:cNvGrpSpPr/>
            <p:nvPr/>
          </p:nvGrpSpPr>
          <p:grpSpPr>
            <a:xfrm>
              <a:off x="1368424" y="3367086"/>
              <a:ext cx="1222374" cy="349968"/>
              <a:chOff x="1368424" y="3429000"/>
              <a:chExt cx="1222374" cy="349968"/>
            </a:xfrm>
          </p:grpSpPr>
          <p:sp>
            <p:nvSpPr>
              <p:cNvPr id="27" name="Retângulo 26">
                <a:extLst>
                  <a:ext uri="{FF2B5EF4-FFF2-40B4-BE49-F238E27FC236}">
                    <a16:creationId xmlns:a16="http://schemas.microsoft.com/office/drawing/2014/main" id="{4B2E8A04-8898-3ADF-ED71-42AFB9F97AEC}"/>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dirty="0">
                    <a:solidFill>
                      <a:schemeClr val="tx1"/>
                    </a:solidFill>
                    <a:sym typeface="Wingdings" panose="05000000000000000000" pitchFamily="2" charset="2"/>
                  </a:rPr>
                  <a:t>Toda repercussão da incorp. neutralizada</a:t>
                </a:r>
                <a:endParaRPr lang="pt-BR" sz="700" dirty="0">
                  <a:solidFill>
                    <a:schemeClr val="tx1"/>
                  </a:solidFill>
                </a:endParaRPr>
              </a:p>
            </p:txBody>
          </p:sp>
          <p:sp>
            <p:nvSpPr>
              <p:cNvPr id="28" name="Elipse 27">
                <a:extLst>
                  <a:ext uri="{FF2B5EF4-FFF2-40B4-BE49-F238E27FC236}">
                    <a16:creationId xmlns:a16="http://schemas.microsoft.com/office/drawing/2014/main" id="{22E35A2B-9F08-37A9-2667-C2C6378B561B}"/>
                  </a:ext>
                </a:extLst>
              </p:cNvPr>
              <p:cNvSpPr/>
              <p:nvPr/>
            </p:nvSpPr>
            <p:spPr>
              <a:xfrm>
                <a:off x="1368424" y="3543659"/>
                <a:ext cx="120650" cy="1206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1</a:t>
                </a:r>
              </a:p>
            </p:txBody>
          </p:sp>
        </p:grpSp>
        <p:grpSp>
          <p:nvGrpSpPr>
            <p:cNvPr id="24" name="Agrupar 23">
              <a:extLst>
                <a:ext uri="{FF2B5EF4-FFF2-40B4-BE49-F238E27FC236}">
                  <a16:creationId xmlns:a16="http://schemas.microsoft.com/office/drawing/2014/main" id="{F04515D9-411E-E95D-4E53-B1861D2E7CAA}"/>
                </a:ext>
              </a:extLst>
            </p:cNvPr>
            <p:cNvGrpSpPr/>
            <p:nvPr/>
          </p:nvGrpSpPr>
          <p:grpSpPr>
            <a:xfrm>
              <a:off x="1368424" y="3751114"/>
              <a:ext cx="1222374" cy="349968"/>
              <a:chOff x="1368424" y="3429000"/>
              <a:chExt cx="1222374" cy="349968"/>
            </a:xfrm>
          </p:grpSpPr>
          <p:sp>
            <p:nvSpPr>
              <p:cNvPr id="25" name="Retângulo 24">
                <a:extLst>
                  <a:ext uri="{FF2B5EF4-FFF2-40B4-BE49-F238E27FC236}">
                    <a16:creationId xmlns:a16="http://schemas.microsoft.com/office/drawing/2014/main" id="{430D34F3-AE49-1718-F1FB-AF15A80AD936}"/>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dirty="0">
                    <a:solidFill>
                      <a:schemeClr val="tx1"/>
                    </a:solidFill>
                  </a:rPr>
                  <a:t>Toda repercussão neutralizada, inclusive MEP e custo</a:t>
                </a:r>
              </a:p>
            </p:txBody>
          </p:sp>
          <p:sp>
            <p:nvSpPr>
              <p:cNvPr id="26" name="Elipse 25">
                <a:extLst>
                  <a:ext uri="{FF2B5EF4-FFF2-40B4-BE49-F238E27FC236}">
                    <a16:creationId xmlns:a16="http://schemas.microsoft.com/office/drawing/2014/main" id="{A5283C4D-B229-EFC5-6A90-E72E252D178D}"/>
                  </a:ext>
                </a:extLst>
              </p:cNvPr>
              <p:cNvSpPr/>
              <p:nvPr/>
            </p:nvSpPr>
            <p:spPr>
              <a:xfrm>
                <a:off x="1368424" y="3543659"/>
                <a:ext cx="120650" cy="1206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2</a:t>
                </a:r>
              </a:p>
            </p:txBody>
          </p:sp>
        </p:grpSp>
      </p:grpSp>
      <p:cxnSp>
        <p:nvCxnSpPr>
          <p:cNvPr id="31" name="Conector: Angulado 30">
            <a:extLst>
              <a:ext uri="{FF2B5EF4-FFF2-40B4-BE49-F238E27FC236}">
                <a16:creationId xmlns:a16="http://schemas.microsoft.com/office/drawing/2014/main" id="{BBF4211F-BAE6-E7EA-F34E-2D21E878DC12}"/>
              </a:ext>
            </a:extLst>
          </p:cNvPr>
          <p:cNvCxnSpPr>
            <a:cxnSpLocks/>
            <a:stCxn id="3" idx="2"/>
            <a:endCxn id="9" idx="0"/>
          </p:cNvCxnSpPr>
          <p:nvPr/>
        </p:nvCxnSpPr>
        <p:spPr>
          <a:xfrm rot="5400000">
            <a:off x="2377186" y="455691"/>
            <a:ext cx="576752" cy="213375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Angulado 32">
            <a:extLst>
              <a:ext uri="{FF2B5EF4-FFF2-40B4-BE49-F238E27FC236}">
                <a16:creationId xmlns:a16="http://schemas.microsoft.com/office/drawing/2014/main" id="{479841E5-A955-1F78-7490-E5AE90F07F6A}"/>
              </a:ext>
            </a:extLst>
          </p:cNvPr>
          <p:cNvCxnSpPr>
            <a:cxnSpLocks/>
            <a:stCxn id="9" idx="2"/>
            <a:endCxn id="6" idx="0"/>
          </p:cNvCxnSpPr>
          <p:nvPr/>
        </p:nvCxnSpPr>
        <p:spPr>
          <a:xfrm rot="5400000">
            <a:off x="1214195" y="1947481"/>
            <a:ext cx="245985" cy="522989"/>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Angulado 35">
            <a:extLst>
              <a:ext uri="{FF2B5EF4-FFF2-40B4-BE49-F238E27FC236}">
                <a16:creationId xmlns:a16="http://schemas.microsoft.com/office/drawing/2014/main" id="{645EDEE6-CFAA-C012-C967-1EE48F7CC4B4}"/>
              </a:ext>
            </a:extLst>
          </p:cNvPr>
          <p:cNvCxnSpPr>
            <a:cxnSpLocks/>
            <a:stCxn id="9" idx="2"/>
            <a:endCxn id="22" idx="0"/>
          </p:cNvCxnSpPr>
          <p:nvPr/>
        </p:nvCxnSpPr>
        <p:spPr>
          <a:xfrm rot="16200000" flipH="1">
            <a:off x="1750949" y="1933716"/>
            <a:ext cx="245985" cy="55051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Fluxograma: Processo Alternativo 38">
            <a:extLst>
              <a:ext uri="{FF2B5EF4-FFF2-40B4-BE49-F238E27FC236}">
                <a16:creationId xmlns:a16="http://schemas.microsoft.com/office/drawing/2014/main" id="{7B0DC1AB-C865-A2EC-16C8-0B659982C0E0}"/>
              </a:ext>
            </a:extLst>
          </p:cNvPr>
          <p:cNvSpPr/>
          <p:nvPr/>
        </p:nvSpPr>
        <p:spPr>
          <a:xfrm>
            <a:off x="3156113" y="1810946"/>
            <a:ext cx="1146563" cy="275037"/>
          </a:xfrm>
          <a:prstGeom prst="flowChartAlternateProcess">
            <a:avLst/>
          </a:prstGeom>
          <a:solidFill>
            <a:schemeClr val="accent2">
              <a:lumMod val="20000"/>
              <a:lumOff val="80000"/>
            </a:schemeClr>
          </a:solidFill>
          <a:ln w="1270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b="1" dirty="0">
                <a:solidFill>
                  <a:schemeClr val="accent2">
                    <a:lumMod val="50000"/>
                  </a:schemeClr>
                </a:solidFill>
              </a:rPr>
              <a:t>1.B</a:t>
            </a:r>
          </a:p>
          <a:p>
            <a:pPr algn="ctr"/>
            <a:r>
              <a:rPr lang="pt-BR" sz="800" dirty="0">
                <a:solidFill>
                  <a:schemeClr val="tx1"/>
                </a:solidFill>
              </a:rPr>
              <a:t>Neutralidade restrita</a:t>
            </a:r>
          </a:p>
        </p:txBody>
      </p:sp>
      <p:grpSp>
        <p:nvGrpSpPr>
          <p:cNvPr id="40" name="Agrupar 39">
            <a:extLst>
              <a:ext uri="{FF2B5EF4-FFF2-40B4-BE49-F238E27FC236}">
                <a16:creationId xmlns:a16="http://schemas.microsoft.com/office/drawing/2014/main" id="{A1782E6C-55C5-93E3-CD08-15A776BD287C}"/>
              </a:ext>
            </a:extLst>
          </p:cNvPr>
          <p:cNvGrpSpPr/>
          <p:nvPr/>
        </p:nvGrpSpPr>
        <p:grpSpPr>
          <a:xfrm>
            <a:off x="2690772" y="2331968"/>
            <a:ext cx="1019089" cy="571732"/>
            <a:chOff x="1368424" y="3031274"/>
            <a:chExt cx="1222375" cy="685780"/>
          </a:xfrm>
        </p:grpSpPr>
        <p:sp>
          <p:nvSpPr>
            <p:cNvPr id="41" name="Fluxograma: Terminação 40">
              <a:extLst>
                <a:ext uri="{FF2B5EF4-FFF2-40B4-BE49-F238E27FC236}">
                  <a16:creationId xmlns:a16="http://schemas.microsoft.com/office/drawing/2014/main" id="{C2CAFC6B-B7F6-72A8-AD91-CB66432C4401}"/>
                </a:ext>
              </a:extLst>
            </p:cNvPr>
            <p:cNvSpPr/>
            <p:nvPr/>
          </p:nvSpPr>
          <p:spPr>
            <a:xfrm>
              <a:off x="1428750" y="3031274"/>
              <a:ext cx="1162049" cy="301752"/>
            </a:xfrm>
            <a:prstGeom prst="flowChartTerminator">
              <a:avLst/>
            </a:prstGeom>
            <a:solidFill>
              <a:schemeClr val="bg1"/>
            </a:solidFill>
            <a:ln w="1270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700" dirty="0">
                  <a:solidFill>
                    <a:schemeClr val="tx1"/>
                  </a:solidFill>
                </a:rPr>
                <a:t>INCORPORADORA</a:t>
              </a:r>
            </a:p>
          </p:txBody>
        </p:sp>
        <p:grpSp>
          <p:nvGrpSpPr>
            <p:cNvPr id="42" name="Agrupar 41">
              <a:extLst>
                <a:ext uri="{FF2B5EF4-FFF2-40B4-BE49-F238E27FC236}">
                  <a16:creationId xmlns:a16="http://schemas.microsoft.com/office/drawing/2014/main" id="{29CC6AC8-8630-F3C7-A228-B79D2AD46663}"/>
                </a:ext>
              </a:extLst>
            </p:cNvPr>
            <p:cNvGrpSpPr/>
            <p:nvPr/>
          </p:nvGrpSpPr>
          <p:grpSpPr>
            <a:xfrm>
              <a:off x="1368424" y="3367086"/>
              <a:ext cx="1222374" cy="349968"/>
              <a:chOff x="1368424" y="3429000"/>
              <a:chExt cx="1222374" cy="349968"/>
            </a:xfrm>
          </p:grpSpPr>
          <p:sp>
            <p:nvSpPr>
              <p:cNvPr id="43" name="Retângulo 42">
                <a:extLst>
                  <a:ext uri="{FF2B5EF4-FFF2-40B4-BE49-F238E27FC236}">
                    <a16:creationId xmlns:a16="http://schemas.microsoft.com/office/drawing/2014/main" id="{0B3EBFF3-865E-4083-8E82-C4607E19964A}"/>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dirty="0">
                    <a:solidFill>
                      <a:schemeClr val="tx1"/>
                    </a:solidFill>
                    <a:sym typeface="Wingdings" panose="05000000000000000000" pitchFamily="2" charset="2"/>
                  </a:rPr>
                  <a:t>MV é ajuste meramente contábil</a:t>
                </a:r>
                <a:endParaRPr lang="pt-BR" sz="700" dirty="0">
                  <a:solidFill>
                    <a:schemeClr val="tx1"/>
                  </a:solidFill>
                </a:endParaRPr>
              </a:p>
            </p:txBody>
          </p:sp>
          <p:sp>
            <p:nvSpPr>
              <p:cNvPr id="44" name="Elipse 43">
                <a:extLst>
                  <a:ext uri="{FF2B5EF4-FFF2-40B4-BE49-F238E27FC236}">
                    <a16:creationId xmlns:a16="http://schemas.microsoft.com/office/drawing/2014/main" id="{E9EC9C00-7E85-129F-22EE-C06B0329480C}"/>
                  </a:ext>
                </a:extLst>
              </p:cNvPr>
              <p:cNvSpPr/>
              <p:nvPr/>
            </p:nvSpPr>
            <p:spPr>
              <a:xfrm>
                <a:off x="1368424" y="3543659"/>
                <a:ext cx="120650" cy="1206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1</a:t>
                </a:r>
              </a:p>
            </p:txBody>
          </p:sp>
        </p:grpSp>
      </p:grpSp>
      <p:cxnSp>
        <p:nvCxnSpPr>
          <p:cNvPr id="53" name="Conector: Angulado 52">
            <a:extLst>
              <a:ext uri="{FF2B5EF4-FFF2-40B4-BE49-F238E27FC236}">
                <a16:creationId xmlns:a16="http://schemas.microsoft.com/office/drawing/2014/main" id="{060F0622-D79E-3A36-8A21-9B318CCDCDE6}"/>
              </a:ext>
            </a:extLst>
          </p:cNvPr>
          <p:cNvCxnSpPr>
            <a:cxnSpLocks/>
            <a:stCxn id="39" idx="2"/>
            <a:endCxn id="41" idx="0"/>
          </p:cNvCxnSpPr>
          <p:nvPr/>
        </p:nvCxnSpPr>
        <p:spPr>
          <a:xfrm rot="5400000">
            <a:off x="3354437" y="1957010"/>
            <a:ext cx="245985" cy="503931"/>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ector: Angulado 53">
            <a:extLst>
              <a:ext uri="{FF2B5EF4-FFF2-40B4-BE49-F238E27FC236}">
                <a16:creationId xmlns:a16="http://schemas.microsoft.com/office/drawing/2014/main" id="{B979BBBC-38E0-7701-A2C4-14101F38983C}"/>
              </a:ext>
            </a:extLst>
          </p:cNvPr>
          <p:cNvCxnSpPr>
            <a:cxnSpLocks/>
            <a:stCxn id="39" idx="2"/>
            <a:endCxn id="46" idx="0"/>
          </p:cNvCxnSpPr>
          <p:nvPr/>
        </p:nvCxnSpPr>
        <p:spPr>
          <a:xfrm rot="16200000" flipH="1">
            <a:off x="3883249" y="1932128"/>
            <a:ext cx="245985" cy="553695"/>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ector: Angulado 59">
            <a:extLst>
              <a:ext uri="{FF2B5EF4-FFF2-40B4-BE49-F238E27FC236}">
                <a16:creationId xmlns:a16="http://schemas.microsoft.com/office/drawing/2014/main" id="{9397FD27-459B-67B2-9E95-B647D1E931BA}"/>
              </a:ext>
            </a:extLst>
          </p:cNvPr>
          <p:cNvCxnSpPr>
            <a:cxnSpLocks/>
            <a:stCxn id="3" idx="2"/>
            <a:endCxn id="39" idx="0"/>
          </p:cNvCxnSpPr>
          <p:nvPr/>
        </p:nvCxnSpPr>
        <p:spPr>
          <a:xfrm rot="5400000">
            <a:off x="3442542" y="1521047"/>
            <a:ext cx="576752" cy="3045"/>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3" name="Fluxograma: Processo Alternativo 62">
            <a:extLst>
              <a:ext uri="{FF2B5EF4-FFF2-40B4-BE49-F238E27FC236}">
                <a16:creationId xmlns:a16="http://schemas.microsoft.com/office/drawing/2014/main" id="{A9C5BC82-CABC-5C10-9F24-EA5901D14488}"/>
              </a:ext>
            </a:extLst>
          </p:cNvPr>
          <p:cNvSpPr/>
          <p:nvPr/>
        </p:nvSpPr>
        <p:spPr>
          <a:xfrm>
            <a:off x="5338066" y="1810945"/>
            <a:ext cx="1146563" cy="275037"/>
          </a:xfrm>
          <a:prstGeom prst="flowChartAlternateProcess">
            <a:avLst/>
          </a:prstGeom>
          <a:solidFill>
            <a:srgbClr val="FEECDE"/>
          </a:solidFill>
          <a:ln w="127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b="1" dirty="0">
                <a:solidFill>
                  <a:schemeClr val="accent6">
                    <a:lumMod val="75000"/>
                  </a:schemeClr>
                </a:solidFill>
              </a:rPr>
              <a:t>1.C</a:t>
            </a:r>
          </a:p>
          <a:p>
            <a:pPr algn="ctr"/>
            <a:r>
              <a:rPr lang="pt-BR" sz="800" dirty="0">
                <a:solidFill>
                  <a:schemeClr val="tx1"/>
                </a:solidFill>
              </a:rPr>
              <a:t>Reavaliação </a:t>
            </a:r>
            <a:r>
              <a:rPr lang="pt-BR" sz="800" dirty="0" err="1">
                <a:solidFill>
                  <a:schemeClr val="tx1"/>
                </a:solidFill>
              </a:rPr>
              <a:t>espont</a:t>
            </a:r>
            <a:r>
              <a:rPr lang="pt-BR" sz="800" dirty="0">
                <a:solidFill>
                  <a:schemeClr val="tx1"/>
                </a:solidFill>
              </a:rPr>
              <a:t>.</a:t>
            </a:r>
          </a:p>
        </p:txBody>
      </p:sp>
      <p:grpSp>
        <p:nvGrpSpPr>
          <p:cNvPr id="64" name="Agrupar 63">
            <a:extLst>
              <a:ext uri="{FF2B5EF4-FFF2-40B4-BE49-F238E27FC236}">
                <a16:creationId xmlns:a16="http://schemas.microsoft.com/office/drawing/2014/main" id="{29F2F883-50D5-8E48-A990-E18F10FF565E}"/>
              </a:ext>
            </a:extLst>
          </p:cNvPr>
          <p:cNvGrpSpPr/>
          <p:nvPr/>
        </p:nvGrpSpPr>
        <p:grpSpPr>
          <a:xfrm>
            <a:off x="4840962" y="2331967"/>
            <a:ext cx="1019089" cy="571732"/>
            <a:chOff x="1368424" y="3031274"/>
            <a:chExt cx="1222375" cy="685780"/>
          </a:xfrm>
        </p:grpSpPr>
        <p:sp>
          <p:nvSpPr>
            <p:cNvPr id="65" name="Fluxograma: Terminação 64">
              <a:extLst>
                <a:ext uri="{FF2B5EF4-FFF2-40B4-BE49-F238E27FC236}">
                  <a16:creationId xmlns:a16="http://schemas.microsoft.com/office/drawing/2014/main" id="{71655E7C-4D08-173B-2703-928E24554652}"/>
                </a:ext>
              </a:extLst>
            </p:cNvPr>
            <p:cNvSpPr/>
            <p:nvPr/>
          </p:nvSpPr>
          <p:spPr>
            <a:xfrm>
              <a:off x="1428750" y="3031274"/>
              <a:ext cx="1162049" cy="301752"/>
            </a:xfrm>
            <a:prstGeom prst="flowChartTerminator">
              <a:avLst/>
            </a:prstGeom>
            <a:solidFill>
              <a:schemeClr val="bg1"/>
            </a:solidFill>
            <a:ln w="12700">
              <a:solidFill>
                <a:schemeClr val="accent6">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700" dirty="0">
                  <a:solidFill>
                    <a:schemeClr val="tx1"/>
                  </a:solidFill>
                </a:rPr>
                <a:t>INCORPORADORA</a:t>
              </a:r>
            </a:p>
          </p:txBody>
        </p:sp>
        <p:grpSp>
          <p:nvGrpSpPr>
            <p:cNvPr id="66" name="Agrupar 65">
              <a:extLst>
                <a:ext uri="{FF2B5EF4-FFF2-40B4-BE49-F238E27FC236}">
                  <a16:creationId xmlns:a16="http://schemas.microsoft.com/office/drawing/2014/main" id="{5B1B82CB-BBB2-E48F-1052-F35EFF625966}"/>
                </a:ext>
              </a:extLst>
            </p:cNvPr>
            <p:cNvGrpSpPr/>
            <p:nvPr/>
          </p:nvGrpSpPr>
          <p:grpSpPr>
            <a:xfrm>
              <a:off x="1368424" y="3367086"/>
              <a:ext cx="1222374" cy="349968"/>
              <a:chOff x="1368424" y="3429000"/>
              <a:chExt cx="1222374" cy="349968"/>
            </a:xfrm>
          </p:grpSpPr>
          <p:sp>
            <p:nvSpPr>
              <p:cNvPr id="67" name="Retângulo 66">
                <a:extLst>
                  <a:ext uri="{FF2B5EF4-FFF2-40B4-BE49-F238E27FC236}">
                    <a16:creationId xmlns:a16="http://schemas.microsoft.com/office/drawing/2014/main" id="{B7BBEFFF-50B0-B2E2-9991-567FDE7D0DD1}"/>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b="1" dirty="0">
                    <a:solidFill>
                      <a:schemeClr val="tx1"/>
                    </a:solidFill>
                    <a:sym typeface="Wingdings" panose="05000000000000000000" pitchFamily="2" charset="2"/>
                  </a:rPr>
                  <a:t>AVJ</a:t>
                </a:r>
                <a:r>
                  <a:rPr lang="pt-BR" sz="700" dirty="0">
                    <a:solidFill>
                      <a:schemeClr val="tx1"/>
                    </a:solidFill>
                    <a:sym typeface="Wingdings" panose="05000000000000000000" pitchFamily="2" charset="2"/>
                  </a:rPr>
                  <a:t> – controle em subconta</a:t>
                </a:r>
                <a:endParaRPr lang="pt-BR" sz="700" dirty="0">
                  <a:solidFill>
                    <a:schemeClr val="tx1"/>
                  </a:solidFill>
                </a:endParaRPr>
              </a:p>
            </p:txBody>
          </p:sp>
          <p:sp>
            <p:nvSpPr>
              <p:cNvPr id="68" name="Elipse 67">
                <a:extLst>
                  <a:ext uri="{FF2B5EF4-FFF2-40B4-BE49-F238E27FC236}">
                    <a16:creationId xmlns:a16="http://schemas.microsoft.com/office/drawing/2014/main" id="{8360E226-E42F-6021-92A8-955CFDA89399}"/>
                  </a:ext>
                </a:extLst>
              </p:cNvPr>
              <p:cNvSpPr/>
              <p:nvPr/>
            </p:nvSpPr>
            <p:spPr>
              <a:xfrm>
                <a:off x="1368424" y="3543659"/>
                <a:ext cx="120650" cy="12065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1</a:t>
                </a:r>
              </a:p>
            </p:txBody>
          </p:sp>
        </p:grpSp>
      </p:grpSp>
      <p:grpSp>
        <p:nvGrpSpPr>
          <p:cNvPr id="69" name="Agrupar 68">
            <a:extLst>
              <a:ext uri="{FF2B5EF4-FFF2-40B4-BE49-F238E27FC236}">
                <a16:creationId xmlns:a16="http://schemas.microsoft.com/office/drawing/2014/main" id="{0E26D99E-79D3-9320-C229-09E979912318}"/>
              </a:ext>
            </a:extLst>
          </p:cNvPr>
          <p:cNvGrpSpPr/>
          <p:nvPr/>
        </p:nvGrpSpPr>
        <p:grpSpPr>
          <a:xfrm>
            <a:off x="5930351" y="2331967"/>
            <a:ext cx="1019089" cy="891894"/>
            <a:chOff x="1368424" y="3031274"/>
            <a:chExt cx="1222375" cy="1069808"/>
          </a:xfrm>
        </p:grpSpPr>
        <p:sp>
          <p:nvSpPr>
            <p:cNvPr id="70" name="Fluxograma: Terminação 69">
              <a:extLst>
                <a:ext uri="{FF2B5EF4-FFF2-40B4-BE49-F238E27FC236}">
                  <a16:creationId xmlns:a16="http://schemas.microsoft.com/office/drawing/2014/main" id="{5E4AF1F3-4C73-B6C1-2E0B-4048865FE4B1}"/>
                </a:ext>
              </a:extLst>
            </p:cNvPr>
            <p:cNvSpPr/>
            <p:nvPr/>
          </p:nvSpPr>
          <p:spPr>
            <a:xfrm>
              <a:off x="1428750" y="3031274"/>
              <a:ext cx="1162049" cy="301752"/>
            </a:xfrm>
            <a:prstGeom prst="flowChartTerminator">
              <a:avLst/>
            </a:prstGeom>
            <a:solidFill>
              <a:schemeClr val="bg1"/>
            </a:solidFill>
            <a:ln w="12700">
              <a:solidFill>
                <a:schemeClr val="accent6">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700" dirty="0">
                  <a:solidFill>
                    <a:schemeClr val="tx1"/>
                  </a:solidFill>
                </a:rPr>
                <a:t>INVESTIDORA</a:t>
              </a:r>
            </a:p>
          </p:txBody>
        </p:sp>
        <p:grpSp>
          <p:nvGrpSpPr>
            <p:cNvPr id="71" name="Agrupar 70">
              <a:extLst>
                <a:ext uri="{FF2B5EF4-FFF2-40B4-BE49-F238E27FC236}">
                  <a16:creationId xmlns:a16="http://schemas.microsoft.com/office/drawing/2014/main" id="{658E67DB-0C96-075B-2E0B-235212C2F1B7}"/>
                </a:ext>
              </a:extLst>
            </p:cNvPr>
            <p:cNvGrpSpPr/>
            <p:nvPr/>
          </p:nvGrpSpPr>
          <p:grpSpPr>
            <a:xfrm>
              <a:off x="1368424" y="3367086"/>
              <a:ext cx="1222374" cy="349968"/>
              <a:chOff x="1368424" y="3429000"/>
              <a:chExt cx="1222374" cy="349968"/>
            </a:xfrm>
          </p:grpSpPr>
          <p:sp>
            <p:nvSpPr>
              <p:cNvPr id="75" name="Retângulo 74">
                <a:extLst>
                  <a:ext uri="{FF2B5EF4-FFF2-40B4-BE49-F238E27FC236}">
                    <a16:creationId xmlns:a16="http://schemas.microsoft.com/office/drawing/2014/main" id="{2DBDF5A8-B061-5BDE-95BC-D1022D09B1EE}"/>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b="1" dirty="0">
                    <a:solidFill>
                      <a:schemeClr val="tx1"/>
                    </a:solidFill>
                    <a:sym typeface="Wingdings" panose="05000000000000000000" pitchFamily="2" charset="2"/>
                  </a:rPr>
                  <a:t>AVJ Reflexo </a:t>
                </a:r>
                <a:r>
                  <a:rPr lang="pt-BR" sz="700" dirty="0">
                    <a:solidFill>
                      <a:schemeClr val="tx1"/>
                    </a:solidFill>
                    <a:sym typeface="Wingdings" panose="05000000000000000000" pitchFamily="2" charset="2"/>
                  </a:rPr>
                  <a:t>– controle em subconta</a:t>
                </a:r>
                <a:endParaRPr lang="pt-BR" sz="700" dirty="0">
                  <a:solidFill>
                    <a:schemeClr val="tx1"/>
                  </a:solidFill>
                </a:endParaRPr>
              </a:p>
            </p:txBody>
          </p:sp>
          <p:sp>
            <p:nvSpPr>
              <p:cNvPr id="76" name="Elipse 75">
                <a:extLst>
                  <a:ext uri="{FF2B5EF4-FFF2-40B4-BE49-F238E27FC236}">
                    <a16:creationId xmlns:a16="http://schemas.microsoft.com/office/drawing/2014/main" id="{5155C3CF-5044-C597-8BD6-FC58783F4393}"/>
                  </a:ext>
                </a:extLst>
              </p:cNvPr>
              <p:cNvSpPr/>
              <p:nvPr/>
            </p:nvSpPr>
            <p:spPr>
              <a:xfrm>
                <a:off x="1368424" y="3543659"/>
                <a:ext cx="120650" cy="12065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1</a:t>
                </a:r>
              </a:p>
            </p:txBody>
          </p:sp>
        </p:grpSp>
        <p:grpSp>
          <p:nvGrpSpPr>
            <p:cNvPr id="72" name="Agrupar 71">
              <a:extLst>
                <a:ext uri="{FF2B5EF4-FFF2-40B4-BE49-F238E27FC236}">
                  <a16:creationId xmlns:a16="http://schemas.microsoft.com/office/drawing/2014/main" id="{0F44329C-D937-C407-63A7-9ED041B08EED}"/>
                </a:ext>
              </a:extLst>
            </p:cNvPr>
            <p:cNvGrpSpPr/>
            <p:nvPr/>
          </p:nvGrpSpPr>
          <p:grpSpPr>
            <a:xfrm>
              <a:off x="1368424" y="3751114"/>
              <a:ext cx="1222374" cy="349968"/>
              <a:chOff x="1368424" y="3429000"/>
              <a:chExt cx="1222374" cy="349968"/>
            </a:xfrm>
          </p:grpSpPr>
          <p:sp>
            <p:nvSpPr>
              <p:cNvPr id="73" name="Retângulo 72">
                <a:extLst>
                  <a:ext uri="{FF2B5EF4-FFF2-40B4-BE49-F238E27FC236}">
                    <a16:creationId xmlns:a16="http://schemas.microsoft.com/office/drawing/2014/main" id="{FF5EB565-45A5-7BE5-B8B8-40CFD6EC58DE}"/>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dirty="0">
                    <a:solidFill>
                      <a:schemeClr val="tx1"/>
                    </a:solidFill>
                  </a:rPr>
                  <a:t>Trigger do AVJ Reflexo*</a:t>
                </a:r>
              </a:p>
            </p:txBody>
          </p:sp>
          <p:sp>
            <p:nvSpPr>
              <p:cNvPr id="74" name="Elipse 73">
                <a:extLst>
                  <a:ext uri="{FF2B5EF4-FFF2-40B4-BE49-F238E27FC236}">
                    <a16:creationId xmlns:a16="http://schemas.microsoft.com/office/drawing/2014/main" id="{B7A6F82B-941B-C6B5-6525-CE3E67CDD973}"/>
                  </a:ext>
                </a:extLst>
              </p:cNvPr>
              <p:cNvSpPr/>
              <p:nvPr/>
            </p:nvSpPr>
            <p:spPr>
              <a:xfrm>
                <a:off x="1368424" y="3543659"/>
                <a:ext cx="120650" cy="1206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2</a:t>
                </a:r>
              </a:p>
            </p:txBody>
          </p:sp>
        </p:grpSp>
      </p:grpSp>
      <p:cxnSp>
        <p:nvCxnSpPr>
          <p:cNvPr id="77" name="Conector: Angulado 76">
            <a:extLst>
              <a:ext uri="{FF2B5EF4-FFF2-40B4-BE49-F238E27FC236}">
                <a16:creationId xmlns:a16="http://schemas.microsoft.com/office/drawing/2014/main" id="{274089FE-4849-7372-5EAE-BE34FC654DEE}"/>
              </a:ext>
            </a:extLst>
          </p:cNvPr>
          <p:cNvCxnSpPr>
            <a:cxnSpLocks/>
            <a:stCxn id="63" idx="2"/>
            <a:endCxn id="65" idx="0"/>
          </p:cNvCxnSpPr>
          <p:nvPr/>
        </p:nvCxnSpPr>
        <p:spPr>
          <a:xfrm rot="5400000">
            <a:off x="5520508" y="1941127"/>
            <a:ext cx="245985" cy="535695"/>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ector: Angulado 77">
            <a:extLst>
              <a:ext uri="{FF2B5EF4-FFF2-40B4-BE49-F238E27FC236}">
                <a16:creationId xmlns:a16="http://schemas.microsoft.com/office/drawing/2014/main" id="{CD44894B-7EE5-1AD1-22D2-8ADB1792DFB8}"/>
              </a:ext>
            </a:extLst>
          </p:cNvPr>
          <p:cNvCxnSpPr>
            <a:cxnSpLocks/>
            <a:stCxn id="63" idx="2"/>
            <a:endCxn id="70" idx="0"/>
          </p:cNvCxnSpPr>
          <p:nvPr/>
        </p:nvCxnSpPr>
        <p:spPr>
          <a:xfrm rot="16200000" flipH="1">
            <a:off x="6065202" y="1932127"/>
            <a:ext cx="245985" cy="553695"/>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95" name="Agrupar 94">
            <a:extLst>
              <a:ext uri="{FF2B5EF4-FFF2-40B4-BE49-F238E27FC236}">
                <a16:creationId xmlns:a16="http://schemas.microsoft.com/office/drawing/2014/main" id="{DF2692A6-F705-B1A5-9B69-C996077430B3}"/>
              </a:ext>
            </a:extLst>
          </p:cNvPr>
          <p:cNvGrpSpPr/>
          <p:nvPr/>
        </p:nvGrpSpPr>
        <p:grpSpPr>
          <a:xfrm>
            <a:off x="3238854" y="2331968"/>
            <a:ext cx="2063322" cy="1129486"/>
            <a:chOff x="4066577" y="2858237"/>
            <a:chExt cx="2474910" cy="1354794"/>
          </a:xfrm>
        </p:grpSpPr>
        <p:sp>
          <p:nvSpPr>
            <p:cNvPr id="46" name="Fluxograma: Terminação 45">
              <a:extLst>
                <a:ext uri="{FF2B5EF4-FFF2-40B4-BE49-F238E27FC236}">
                  <a16:creationId xmlns:a16="http://schemas.microsoft.com/office/drawing/2014/main" id="{B9024267-5707-1C6E-548F-015F1AFA1727}"/>
                </a:ext>
              </a:extLst>
            </p:cNvPr>
            <p:cNvSpPr/>
            <p:nvPr/>
          </p:nvSpPr>
          <p:spPr>
            <a:xfrm>
              <a:off x="4738090" y="2858237"/>
              <a:ext cx="1162049" cy="301752"/>
            </a:xfrm>
            <a:prstGeom prst="flowChartTerminator">
              <a:avLst/>
            </a:prstGeom>
            <a:solidFill>
              <a:schemeClr val="bg1"/>
            </a:solidFill>
            <a:ln w="12700">
              <a:solidFill>
                <a:schemeClr val="accent2">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700" dirty="0">
                  <a:solidFill>
                    <a:schemeClr val="tx1"/>
                  </a:solidFill>
                </a:rPr>
                <a:t>INVESTIDORA</a:t>
              </a:r>
            </a:p>
          </p:txBody>
        </p:sp>
        <p:grpSp>
          <p:nvGrpSpPr>
            <p:cNvPr id="47" name="Agrupar 46">
              <a:extLst>
                <a:ext uri="{FF2B5EF4-FFF2-40B4-BE49-F238E27FC236}">
                  <a16:creationId xmlns:a16="http://schemas.microsoft.com/office/drawing/2014/main" id="{B3680EFC-D0B0-4EB7-3AB6-A694D125E0C1}"/>
                </a:ext>
              </a:extLst>
            </p:cNvPr>
            <p:cNvGrpSpPr/>
            <p:nvPr/>
          </p:nvGrpSpPr>
          <p:grpSpPr>
            <a:xfrm>
              <a:off x="4677764" y="3194049"/>
              <a:ext cx="1222374" cy="349968"/>
              <a:chOff x="1368424" y="3429000"/>
              <a:chExt cx="1222374" cy="349968"/>
            </a:xfrm>
          </p:grpSpPr>
          <p:sp>
            <p:nvSpPr>
              <p:cNvPr id="51" name="Retângulo 50">
                <a:extLst>
                  <a:ext uri="{FF2B5EF4-FFF2-40B4-BE49-F238E27FC236}">
                    <a16:creationId xmlns:a16="http://schemas.microsoft.com/office/drawing/2014/main" id="{CED736F7-0D7E-0FCC-C8E8-41C6CDCA190A}"/>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b="1" dirty="0">
                    <a:solidFill>
                      <a:schemeClr val="tx1"/>
                    </a:solidFill>
                    <a:sym typeface="Wingdings" panose="05000000000000000000" pitchFamily="2" charset="2"/>
                  </a:rPr>
                  <a:t>MEP </a:t>
                </a:r>
                <a:r>
                  <a:rPr lang="pt-BR" sz="700" dirty="0">
                    <a:solidFill>
                      <a:schemeClr val="tx1"/>
                    </a:solidFill>
                    <a:sym typeface="Wingdings" panose="05000000000000000000" pitchFamily="2" charset="2"/>
                  </a:rPr>
                  <a:t>– ganho de variação %</a:t>
                </a:r>
                <a:endParaRPr lang="pt-BR" sz="700" dirty="0">
                  <a:solidFill>
                    <a:schemeClr val="tx1"/>
                  </a:solidFill>
                </a:endParaRPr>
              </a:p>
            </p:txBody>
          </p:sp>
          <p:sp>
            <p:nvSpPr>
              <p:cNvPr id="52" name="Elipse 51">
                <a:extLst>
                  <a:ext uri="{FF2B5EF4-FFF2-40B4-BE49-F238E27FC236}">
                    <a16:creationId xmlns:a16="http://schemas.microsoft.com/office/drawing/2014/main" id="{9F4990E6-D711-0AFF-B1AB-63A5DDD5C9E8}"/>
                  </a:ext>
                </a:extLst>
              </p:cNvPr>
              <p:cNvSpPr/>
              <p:nvPr/>
            </p:nvSpPr>
            <p:spPr>
              <a:xfrm>
                <a:off x="1368424" y="3543659"/>
                <a:ext cx="120650" cy="1206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1</a:t>
                </a:r>
              </a:p>
            </p:txBody>
          </p:sp>
        </p:grpSp>
        <p:grpSp>
          <p:nvGrpSpPr>
            <p:cNvPr id="48" name="Agrupar 47">
              <a:extLst>
                <a:ext uri="{FF2B5EF4-FFF2-40B4-BE49-F238E27FC236}">
                  <a16:creationId xmlns:a16="http://schemas.microsoft.com/office/drawing/2014/main" id="{A52C1BD8-8A46-BB33-6930-58B0766FA374}"/>
                </a:ext>
              </a:extLst>
            </p:cNvPr>
            <p:cNvGrpSpPr/>
            <p:nvPr/>
          </p:nvGrpSpPr>
          <p:grpSpPr>
            <a:xfrm>
              <a:off x="4066577" y="3863063"/>
              <a:ext cx="1222374" cy="349968"/>
              <a:chOff x="1368424" y="3429000"/>
              <a:chExt cx="1222374" cy="349968"/>
            </a:xfrm>
          </p:grpSpPr>
          <p:sp>
            <p:nvSpPr>
              <p:cNvPr id="49" name="Retângulo 48">
                <a:extLst>
                  <a:ext uri="{FF2B5EF4-FFF2-40B4-BE49-F238E27FC236}">
                    <a16:creationId xmlns:a16="http://schemas.microsoft.com/office/drawing/2014/main" id="{1DA36FF9-7FF3-BF20-6F9A-85188383EC2B}"/>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b="1" dirty="0">
                    <a:solidFill>
                      <a:schemeClr val="tx1"/>
                    </a:solidFill>
                    <a:sym typeface="Wingdings" panose="05000000000000000000" pitchFamily="2" charset="2"/>
                  </a:rPr>
                  <a:t>MEP </a:t>
                </a:r>
                <a:r>
                  <a:rPr lang="pt-BR" sz="700" dirty="0">
                    <a:solidFill>
                      <a:schemeClr val="tx1"/>
                    </a:solidFill>
                    <a:sym typeface="Wingdings" panose="05000000000000000000" pitchFamily="2" charset="2"/>
                  </a:rPr>
                  <a:t>– ganho de variação % - </a:t>
                </a:r>
                <a:r>
                  <a:rPr lang="pt-BR" sz="700" b="1" dirty="0">
                    <a:solidFill>
                      <a:srgbClr val="FF0000"/>
                    </a:solidFill>
                    <a:sym typeface="Wingdings" panose="05000000000000000000" pitchFamily="2" charset="2"/>
                  </a:rPr>
                  <a:t>diferido</a:t>
                </a:r>
                <a:endParaRPr lang="pt-BR" sz="700" dirty="0">
                  <a:solidFill>
                    <a:srgbClr val="FF0000"/>
                  </a:solidFill>
                </a:endParaRPr>
              </a:p>
            </p:txBody>
          </p:sp>
          <p:sp>
            <p:nvSpPr>
              <p:cNvPr id="50" name="Elipse 49">
                <a:extLst>
                  <a:ext uri="{FF2B5EF4-FFF2-40B4-BE49-F238E27FC236}">
                    <a16:creationId xmlns:a16="http://schemas.microsoft.com/office/drawing/2014/main" id="{F5FA880D-EDE6-397D-1292-E02F0DBC264C}"/>
                  </a:ext>
                </a:extLst>
              </p:cNvPr>
              <p:cNvSpPr/>
              <p:nvPr/>
            </p:nvSpPr>
            <p:spPr>
              <a:xfrm>
                <a:off x="1368424" y="3543659"/>
                <a:ext cx="120650" cy="1206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2</a:t>
                </a:r>
              </a:p>
            </p:txBody>
          </p:sp>
        </p:grpSp>
        <p:grpSp>
          <p:nvGrpSpPr>
            <p:cNvPr id="79" name="Agrupar 78">
              <a:extLst>
                <a:ext uri="{FF2B5EF4-FFF2-40B4-BE49-F238E27FC236}">
                  <a16:creationId xmlns:a16="http://schemas.microsoft.com/office/drawing/2014/main" id="{79A309CC-C042-DB72-E543-A1DFDFF0AC2B}"/>
                </a:ext>
              </a:extLst>
            </p:cNvPr>
            <p:cNvGrpSpPr/>
            <p:nvPr/>
          </p:nvGrpSpPr>
          <p:grpSpPr>
            <a:xfrm>
              <a:off x="5319113" y="3863063"/>
              <a:ext cx="1222374" cy="349968"/>
              <a:chOff x="1368424" y="3429000"/>
              <a:chExt cx="1222374" cy="349968"/>
            </a:xfrm>
          </p:grpSpPr>
          <p:sp>
            <p:nvSpPr>
              <p:cNvPr id="80" name="Retângulo 79">
                <a:extLst>
                  <a:ext uri="{FF2B5EF4-FFF2-40B4-BE49-F238E27FC236}">
                    <a16:creationId xmlns:a16="http://schemas.microsoft.com/office/drawing/2014/main" id="{24058DF5-FEEF-7B13-DE80-473C248ED74E}"/>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b="1" dirty="0">
                    <a:solidFill>
                      <a:schemeClr val="tx1"/>
                    </a:solidFill>
                    <a:sym typeface="Wingdings" panose="05000000000000000000" pitchFamily="2" charset="2"/>
                  </a:rPr>
                  <a:t>MEP </a:t>
                </a:r>
                <a:r>
                  <a:rPr lang="pt-BR" sz="700" dirty="0">
                    <a:solidFill>
                      <a:schemeClr val="tx1"/>
                    </a:solidFill>
                    <a:sym typeface="Wingdings" panose="05000000000000000000" pitchFamily="2" charset="2"/>
                  </a:rPr>
                  <a:t>– ganho de variação % -</a:t>
                </a:r>
                <a:r>
                  <a:rPr lang="pt-BR" sz="700" dirty="0">
                    <a:solidFill>
                      <a:srgbClr val="00B050"/>
                    </a:solidFill>
                    <a:sym typeface="Wingdings" panose="05000000000000000000" pitchFamily="2" charset="2"/>
                  </a:rPr>
                  <a:t> </a:t>
                </a:r>
                <a:r>
                  <a:rPr lang="pt-BR" sz="700" b="1" dirty="0">
                    <a:solidFill>
                      <a:srgbClr val="00B050"/>
                    </a:solidFill>
                    <a:sym typeface="Wingdings" panose="05000000000000000000" pitchFamily="2" charset="2"/>
                  </a:rPr>
                  <a:t>definitivo</a:t>
                </a:r>
                <a:endParaRPr lang="pt-BR" sz="700" dirty="0">
                  <a:solidFill>
                    <a:srgbClr val="00B050"/>
                  </a:solidFill>
                </a:endParaRPr>
              </a:p>
            </p:txBody>
          </p:sp>
          <p:sp>
            <p:nvSpPr>
              <p:cNvPr id="81" name="Elipse 80">
                <a:extLst>
                  <a:ext uri="{FF2B5EF4-FFF2-40B4-BE49-F238E27FC236}">
                    <a16:creationId xmlns:a16="http://schemas.microsoft.com/office/drawing/2014/main" id="{4AB47AB3-FA29-31B8-00A0-D844D5E72568}"/>
                  </a:ext>
                </a:extLst>
              </p:cNvPr>
              <p:cNvSpPr/>
              <p:nvPr/>
            </p:nvSpPr>
            <p:spPr>
              <a:xfrm>
                <a:off x="1368424" y="3543659"/>
                <a:ext cx="120650" cy="1206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2</a:t>
                </a:r>
              </a:p>
            </p:txBody>
          </p:sp>
        </p:grpSp>
        <p:cxnSp>
          <p:nvCxnSpPr>
            <p:cNvPr id="82" name="Conector: Angulado 81">
              <a:extLst>
                <a:ext uri="{FF2B5EF4-FFF2-40B4-BE49-F238E27FC236}">
                  <a16:creationId xmlns:a16="http://schemas.microsoft.com/office/drawing/2014/main" id="{23E8C4CB-A014-FCFC-1CB6-C1FF12F7C97B}"/>
                </a:ext>
              </a:extLst>
            </p:cNvPr>
            <p:cNvCxnSpPr>
              <a:cxnSpLocks/>
              <a:stCxn id="51" idx="2"/>
              <a:endCxn id="49" idx="0"/>
            </p:cNvCxnSpPr>
            <p:nvPr/>
          </p:nvCxnSpPr>
          <p:spPr>
            <a:xfrm rot="5400000">
              <a:off x="4853998" y="3397947"/>
              <a:ext cx="319046" cy="61118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5" name="Conector: Angulado 84">
              <a:extLst>
                <a:ext uri="{FF2B5EF4-FFF2-40B4-BE49-F238E27FC236}">
                  <a16:creationId xmlns:a16="http://schemas.microsoft.com/office/drawing/2014/main" id="{8F2B623A-F6FF-46E3-735A-828109EC905C}"/>
                </a:ext>
              </a:extLst>
            </p:cNvPr>
            <p:cNvCxnSpPr>
              <a:cxnSpLocks/>
              <a:stCxn id="51" idx="2"/>
              <a:endCxn id="80" idx="0"/>
            </p:cNvCxnSpPr>
            <p:nvPr/>
          </p:nvCxnSpPr>
          <p:spPr>
            <a:xfrm rot="16200000" flipH="1">
              <a:off x="5480265" y="3382865"/>
              <a:ext cx="319046" cy="641349"/>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91" name="Agrupar 90">
              <a:extLst>
                <a:ext uri="{FF2B5EF4-FFF2-40B4-BE49-F238E27FC236}">
                  <a16:creationId xmlns:a16="http://schemas.microsoft.com/office/drawing/2014/main" id="{CCF9220B-1787-1ABF-ADD1-6ADAAD7A1E06}"/>
                </a:ext>
              </a:extLst>
            </p:cNvPr>
            <p:cNvGrpSpPr/>
            <p:nvPr/>
          </p:nvGrpSpPr>
          <p:grpSpPr>
            <a:xfrm>
              <a:off x="4891579" y="3513084"/>
              <a:ext cx="867692" cy="369172"/>
              <a:chOff x="4891579" y="3513084"/>
              <a:chExt cx="867692" cy="369172"/>
            </a:xfrm>
          </p:grpSpPr>
          <p:sp>
            <p:nvSpPr>
              <p:cNvPr id="89" name="Fluxograma: Preparação 88">
                <a:extLst>
                  <a:ext uri="{FF2B5EF4-FFF2-40B4-BE49-F238E27FC236}">
                    <a16:creationId xmlns:a16="http://schemas.microsoft.com/office/drawing/2014/main" id="{FF4324B8-4378-A0BB-E46F-BB0A04FF33DC}"/>
                  </a:ext>
                </a:extLst>
              </p:cNvPr>
              <p:cNvSpPr/>
              <p:nvPr/>
            </p:nvSpPr>
            <p:spPr>
              <a:xfrm>
                <a:off x="4891579" y="3591778"/>
                <a:ext cx="867692" cy="219848"/>
              </a:xfrm>
              <a:prstGeom prst="flowChartPreparation">
                <a:avLst/>
              </a:prstGeom>
              <a:solidFill>
                <a:schemeClr val="tx1">
                  <a:lumMod val="65000"/>
                  <a:lumOff val="35000"/>
                </a:schemeClr>
              </a:solidFill>
              <a:ln w="127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00" u="sng" dirty="0">
                  <a:solidFill>
                    <a:schemeClr val="bg1"/>
                  </a:solidFill>
                </a:endParaRPr>
              </a:p>
            </p:txBody>
          </p:sp>
          <p:sp>
            <p:nvSpPr>
              <p:cNvPr id="90" name="CaixaDeTexto 89">
                <a:extLst>
                  <a:ext uri="{FF2B5EF4-FFF2-40B4-BE49-F238E27FC236}">
                    <a16:creationId xmlns:a16="http://schemas.microsoft.com/office/drawing/2014/main" id="{B5F0318B-F038-A8FF-91A2-18470311B6B0}"/>
                  </a:ext>
                </a:extLst>
              </p:cNvPr>
              <p:cNvSpPr txBox="1"/>
              <p:nvPr/>
            </p:nvSpPr>
            <p:spPr>
              <a:xfrm>
                <a:off x="4898452" y="3513084"/>
                <a:ext cx="841321" cy="369172"/>
              </a:xfrm>
              <a:prstGeom prst="rect">
                <a:avLst/>
              </a:prstGeom>
              <a:noFill/>
            </p:spPr>
            <p:txBody>
              <a:bodyPr wrap="square" rtlCol="0">
                <a:spAutoFit/>
              </a:bodyPr>
              <a:lstStyle/>
              <a:p>
                <a:pPr algn="ctr"/>
                <a:r>
                  <a:rPr lang="pt-BR" sz="700" dirty="0">
                    <a:solidFill>
                      <a:schemeClr val="bg1"/>
                    </a:solidFill>
                  </a:rPr>
                  <a:t>Divergência </a:t>
                </a:r>
              </a:p>
              <a:p>
                <a:pPr algn="ctr"/>
                <a:r>
                  <a:rPr lang="pt-BR" sz="700" dirty="0">
                    <a:solidFill>
                      <a:schemeClr val="bg1"/>
                    </a:solidFill>
                  </a:rPr>
                  <a:t>interpretativa</a:t>
                </a:r>
              </a:p>
            </p:txBody>
          </p:sp>
        </p:grpSp>
      </p:grpSp>
      <p:cxnSp>
        <p:nvCxnSpPr>
          <p:cNvPr id="96" name="Conector: Angulado 95">
            <a:extLst>
              <a:ext uri="{FF2B5EF4-FFF2-40B4-BE49-F238E27FC236}">
                <a16:creationId xmlns:a16="http://schemas.microsoft.com/office/drawing/2014/main" id="{573AE5C9-1E26-43BF-3BCF-4DBBBF074DA6}"/>
              </a:ext>
            </a:extLst>
          </p:cNvPr>
          <p:cNvCxnSpPr>
            <a:cxnSpLocks/>
            <a:stCxn id="3" idx="2"/>
            <a:endCxn id="63" idx="0"/>
          </p:cNvCxnSpPr>
          <p:nvPr/>
        </p:nvCxnSpPr>
        <p:spPr>
          <a:xfrm rot="16200000" flipH="1">
            <a:off x="4533518" y="433115"/>
            <a:ext cx="576751" cy="217890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94" name="Agrupar 93">
            <a:extLst>
              <a:ext uri="{FF2B5EF4-FFF2-40B4-BE49-F238E27FC236}">
                <a16:creationId xmlns:a16="http://schemas.microsoft.com/office/drawing/2014/main" id="{BC0D5587-D745-F3F8-5A38-90DDED0B2DA9}"/>
              </a:ext>
            </a:extLst>
          </p:cNvPr>
          <p:cNvGrpSpPr/>
          <p:nvPr/>
        </p:nvGrpSpPr>
        <p:grpSpPr>
          <a:xfrm>
            <a:off x="3278528" y="1367720"/>
            <a:ext cx="918503" cy="307777"/>
            <a:chOff x="2561590" y="1701643"/>
            <a:chExt cx="1101724" cy="369172"/>
          </a:xfrm>
        </p:grpSpPr>
        <p:sp>
          <p:nvSpPr>
            <p:cNvPr id="7" name="Fluxograma: Preparação 6">
              <a:extLst>
                <a:ext uri="{FF2B5EF4-FFF2-40B4-BE49-F238E27FC236}">
                  <a16:creationId xmlns:a16="http://schemas.microsoft.com/office/drawing/2014/main" id="{0DD8C473-2562-5BF5-1EB0-E99567CDCB83}"/>
                </a:ext>
              </a:extLst>
            </p:cNvPr>
            <p:cNvSpPr/>
            <p:nvPr/>
          </p:nvSpPr>
          <p:spPr>
            <a:xfrm>
              <a:off x="2561590" y="1720686"/>
              <a:ext cx="1101724" cy="329901"/>
            </a:xfrm>
            <a:prstGeom prst="flowChartPreparation">
              <a:avLst/>
            </a:prstGeom>
            <a:solidFill>
              <a:schemeClr val="tx1">
                <a:lumMod val="65000"/>
                <a:lumOff val="35000"/>
              </a:schemeClr>
            </a:solidFill>
            <a:ln w="127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800" u="sng" dirty="0">
                <a:solidFill>
                  <a:schemeClr val="bg1"/>
                </a:solidFill>
              </a:endParaRPr>
            </a:p>
          </p:txBody>
        </p:sp>
        <p:sp>
          <p:nvSpPr>
            <p:cNvPr id="93" name="CaixaDeTexto 92">
              <a:extLst>
                <a:ext uri="{FF2B5EF4-FFF2-40B4-BE49-F238E27FC236}">
                  <a16:creationId xmlns:a16="http://schemas.microsoft.com/office/drawing/2014/main" id="{9EAD67B3-EF13-3AD5-4934-12BBFBA6D51C}"/>
                </a:ext>
              </a:extLst>
            </p:cNvPr>
            <p:cNvSpPr txBox="1"/>
            <p:nvPr/>
          </p:nvSpPr>
          <p:spPr>
            <a:xfrm>
              <a:off x="2685386" y="1701643"/>
              <a:ext cx="841321" cy="369172"/>
            </a:xfrm>
            <a:prstGeom prst="rect">
              <a:avLst/>
            </a:prstGeom>
            <a:noFill/>
          </p:spPr>
          <p:txBody>
            <a:bodyPr wrap="square" rtlCol="0">
              <a:spAutoFit/>
            </a:bodyPr>
            <a:lstStyle/>
            <a:p>
              <a:pPr algn="ctr"/>
              <a:r>
                <a:rPr lang="pt-BR" sz="700" u="sng" dirty="0">
                  <a:solidFill>
                    <a:schemeClr val="bg1"/>
                  </a:solidFill>
                </a:rPr>
                <a:t>Sem</a:t>
              </a:r>
              <a:r>
                <a:rPr lang="pt-BR" sz="700" dirty="0">
                  <a:solidFill>
                    <a:schemeClr val="bg1"/>
                  </a:solidFill>
                </a:rPr>
                <a:t> aquisição / alienação</a:t>
              </a:r>
            </a:p>
          </p:txBody>
        </p:sp>
      </p:grpSp>
      <p:sp>
        <p:nvSpPr>
          <p:cNvPr id="102" name="Fluxograma: Processo Alternativo 101">
            <a:extLst>
              <a:ext uri="{FF2B5EF4-FFF2-40B4-BE49-F238E27FC236}">
                <a16:creationId xmlns:a16="http://schemas.microsoft.com/office/drawing/2014/main" id="{9D55106F-CCFE-9879-FA52-B734D43BFDAB}"/>
              </a:ext>
            </a:extLst>
          </p:cNvPr>
          <p:cNvSpPr/>
          <p:nvPr/>
        </p:nvSpPr>
        <p:spPr>
          <a:xfrm>
            <a:off x="7683409" y="959753"/>
            <a:ext cx="968796" cy="275037"/>
          </a:xfrm>
          <a:prstGeom prst="flowChartAlternateProcess">
            <a:avLst/>
          </a:prstGeom>
          <a:solidFill>
            <a:srgbClr val="0070C0"/>
          </a:solid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Alienação / aquisição</a:t>
            </a:r>
          </a:p>
        </p:txBody>
      </p:sp>
      <p:sp>
        <p:nvSpPr>
          <p:cNvPr id="103" name="Fluxograma: Processo Alternativo 102">
            <a:extLst>
              <a:ext uri="{FF2B5EF4-FFF2-40B4-BE49-F238E27FC236}">
                <a16:creationId xmlns:a16="http://schemas.microsoft.com/office/drawing/2014/main" id="{C85E024F-7B4F-212B-A300-BD6BA80E2898}"/>
              </a:ext>
            </a:extLst>
          </p:cNvPr>
          <p:cNvSpPr/>
          <p:nvPr/>
        </p:nvSpPr>
        <p:spPr>
          <a:xfrm>
            <a:off x="7598431" y="1811541"/>
            <a:ext cx="1146563" cy="275037"/>
          </a:xfrm>
          <a:prstGeom prst="flowChartAlternateProcess">
            <a:avLst/>
          </a:prstGeom>
          <a:solidFill>
            <a:srgbClr val="E7F5FF"/>
          </a:solidFill>
          <a:ln w="127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b="1" dirty="0">
                <a:solidFill>
                  <a:srgbClr val="0070C0"/>
                </a:solidFill>
              </a:rPr>
              <a:t>2.A</a:t>
            </a:r>
          </a:p>
          <a:p>
            <a:pPr algn="ctr"/>
            <a:r>
              <a:rPr lang="pt-BR" sz="800" dirty="0">
                <a:solidFill>
                  <a:schemeClr val="tx1"/>
                </a:solidFill>
              </a:rPr>
              <a:t>Ágio tributário</a:t>
            </a:r>
          </a:p>
        </p:txBody>
      </p:sp>
      <p:grpSp>
        <p:nvGrpSpPr>
          <p:cNvPr id="104" name="Agrupar 103">
            <a:extLst>
              <a:ext uri="{FF2B5EF4-FFF2-40B4-BE49-F238E27FC236}">
                <a16:creationId xmlns:a16="http://schemas.microsoft.com/office/drawing/2014/main" id="{BEC1A19B-57C2-0166-FCEC-454EFEE78247}"/>
              </a:ext>
            </a:extLst>
          </p:cNvPr>
          <p:cNvGrpSpPr/>
          <p:nvPr/>
        </p:nvGrpSpPr>
        <p:grpSpPr>
          <a:xfrm>
            <a:off x="7114032" y="2332564"/>
            <a:ext cx="1019089" cy="571732"/>
            <a:chOff x="1368424" y="3031274"/>
            <a:chExt cx="1222375" cy="685780"/>
          </a:xfrm>
        </p:grpSpPr>
        <p:sp>
          <p:nvSpPr>
            <p:cNvPr id="105" name="Fluxograma: Terminação 104">
              <a:extLst>
                <a:ext uri="{FF2B5EF4-FFF2-40B4-BE49-F238E27FC236}">
                  <a16:creationId xmlns:a16="http://schemas.microsoft.com/office/drawing/2014/main" id="{D0DB5438-4677-B041-5492-999DB218D24F}"/>
                </a:ext>
              </a:extLst>
            </p:cNvPr>
            <p:cNvSpPr/>
            <p:nvPr/>
          </p:nvSpPr>
          <p:spPr>
            <a:xfrm>
              <a:off x="1428750" y="3031274"/>
              <a:ext cx="1162049" cy="301752"/>
            </a:xfrm>
            <a:prstGeom prst="flowChartTerminator">
              <a:avLst/>
            </a:prstGeom>
            <a:solidFill>
              <a:schemeClr val="bg1"/>
            </a:solid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700" dirty="0">
                  <a:solidFill>
                    <a:schemeClr val="tx1"/>
                  </a:solidFill>
                </a:rPr>
                <a:t>INCORPORADORA</a:t>
              </a:r>
            </a:p>
          </p:txBody>
        </p:sp>
        <p:grpSp>
          <p:nvGrpSpPr>
            <p:cNvPr id="106" name="Agrupar 105">
              <a:extLst>
                <a:ext uri="{FF2B5EF4-FFF2-40B4-BE49-F238E27FC236}">
                  <a16:creationId xmlns:a16="http://schemas.microsoft.com/office/drawing/2014/main" id="{7257FDDF-9FA1-1974-4B2E-19A6D4D22452}"/>
                </a:ext>
              </a:extLst>
            </p:cNvPr>
            <p:cNvGrpSpPr/>
            <p:nvPr/>
          </p:nvGrpSpPr>
          <p:grpSpPr>
            <a:xfrm>
              <a:off x="1368424" y="3367086"/>
              <a:ext cx="1222374" cy="349968"/>
              <a:chOff x="1368424" y="3429000"/>
              <a:chExt cx="1222374" cy="349968"/>
            </a:xfrm>
          </p:grpSpPr>
          <p:sp>
            <p:nvSpPr>
              <p:cNvPr id="107" name="Retângulo 106">
                <a:extLst>
                  <a:ext uri="{FF2B5EF4-FFF2-40B4-BE49-F238E27FC236}">
                    <a16:creationId xmlns:a16="http://schemas.microsoft.com/office/drawing/2014/main" id="{49348134-530B-15D6-276D-619A496845B9}"/>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dirty="0">
                    <a:solidFill>
                      <a:schemeClr val="tx1"/>
                    </a:solidFill>
                    <a:sym typeface="Wingdings" panose="05000000000000000000" pitchFamily="2" charset="2"/>
                  </a:rPr>
                  <a:t>MV é MV de ativos/passivos</a:t>
                </a:r>
                <a:endParaRPr lang="pt-BR" sz="700" dirty="0">
                  <a:solidFill>
                    <a:schemeClr val="tx1"/>
                  </a:solidFill>
                </a:endParaRPr>
              </a:p>
            </p:txBody>
          </p:sp>
          <p:sp>
            <p:nvSpPr>
              <p:cNvPr id="108" name="Elipse 107">
                <a:extLst>
                  <a:ext uri="{FF2B5EF4-FFF2-40B4-BE49-F238E27FC236}">
                    <a16:creationId xmlns:a16="http://schemas.microsoft.com/office/drawing/2014/main" id="{BF2E40B9-5249-2B38-7517-EF0FA9F2589B}"/>
                  </a:ext>
                </a:extLst>
              </p:cNvPr>
              <p:cNvSpPr/>
              <p:nvPr/>
            </p:nvSpPr>
            <p:spPr>
              <a:xfrm>
                <a:off x="1368424" y="3543659"/>
                <a:ext cx="120650" cy="1206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1</a:t>
                </a:r>
              </a:p>
            </p:txBody>
          </p:sp>
        </p:grpSp>
      </p:grpSp>
      <p:grpSp>
        <p:nvGrpSpPr>
          <p:cNvPr id="109" name="Agrupar 108">
            <a:extLst>
              <a:ext uri="{FF2B5EF4-FFF2-40B4-BE49-F238E27FC236}">
                <a16:creationId xmlns:a16="http://schemas.microsoft.com/office/drawing/2014/main" id="{6FF1F6A5-D380-1D2F-7060-2CE914ECE0E6}"/>
              </a:ext>
            </a:extLst>
          </p:cNvPr>
          <p:cNvGrpSpPr/>
          <p:nvPr/>
        </p:nvGrpSpPr>
        <p:grpSpPr>
          <a:xfrm>
            <a:off x="8187540" y="2332564"/>
            <a:ext cx="1019089" cy="891894"/>
            <a:chOff x="1368424" y="3031274"/>
            <a:chExt cx="1222375" cy="1069808"/>
          </a:xfrm>
        </p:grpSpPr>
        <p:sp>
          <p:nvSpPr>
            <p:cNvPr id="110" name="Fluxograma: Terminação 109">
              <a:extLst>
                <a:ext uri="{FF2B5EF4-FFF2-40B4-BE49-F238E27FC236}">
                  <a16:creationId xmlns:a16="http://schemas.microsoft.com/office/drawing/2014/main" id="{4DBE23EC-EC64-38A3-3BEB-3DFD212A604C}"/>
                </a:ext>
              </a:extLst>
            </p:cNvPr>
            <p:cNvSpPr/>
            <p:nvPr/>
          </p:nvSpPr>
          <p:spPr>
            <a:xfrm>
              <a:off x="1428750" y="3031274"/>
              <a:ext cx="1162049" cy="301752"/>
            </a:xfrm>
            <a:prstGeom prst="flowChartTerminator">
              <a:avLst/>
            </a:prstGeom>
            <a:solidFill>
              <a:schemeClr val="bg1"/>
            </a:solid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700" dirty="0">
                  <a:solidFill>
                    <a:schemeClr val="tx1"/>
                  </a:solidFill>
                </a:rPr>
                <a:t>INVESTIDORA</a:t>
              </a:r>
            </a:p>
          </p:txBody>
        </p:sp>
        <p:grpSp>
          <p:nvGrpSpPr>
            <p:cNvPr id="111" name="Agrupar 110">
              <a:extLst>
                <a:ext uri="{FF2B5EF4-FFF2-40B4-BE49-F238E27FC236}">
                  <a16:creationId xmlns:a16="http://schemas.microsoft.com/office/drawing/2014/main" id="{E7AE9017-A382-8558-A0D0-BA44E73E9FFC}"/>
                </a:ext>
              </a:extLst>
            </p:cNvPr>
            <p:cNvGrpSpPr/>
            <p:nvPr/>
          </p:nvGrpSpPr>
          <p:grpSpPr>
            <a:xfrm>
              <a:off x="1368424" y="3367086"/>
              <a:ext cx="1222374" cy="349968"/>
              <a:chOff x="1368424" y="3429000"/>
              <a:chExt cx="1222374" cy="349968"/>
            </a:xfrm>
          </p:grpSpPr>
          <p:sp>
            <p:nvSpPr>
              <p:cNvPr id="115" name="Retângulo 114">
                <a:extLst>
                  <a:ext uri="{FF2B5EF4-FFF2-40B4-BE49-F238E27FC236}">
                    <a16:creationId xmlns:a16="http://schemas.microsoft.com/office/drawing/2014/main" id="{C86F92B8-0BF8-2C95-C85C-51CA68AFD447}"/>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dirty="0">
                    <a:solidFill>
                      <a:schemeClr val="tx1"/>
                    </a:solidFill>
                    <a:sym typeface="Wingdings" panose="05000000000000000000" pitchFamily="2" charset="2"/>
                  </a:rPr>
                  <a:t>“Ágio tributário” – método de aquisição</a:t>
                </a:r>
                <a:endParaRPr lang="pt-BR" sz="700" dirty="0">
                  <a:solidFill>
                    <a:schemeClr val="tx1"/>
                  </a:solidFill>
                </a:endParaRPr>
              </a:p>
            </p:txBody>
          </p:sp>
          <p:sp>
            <p:nvSpPr>
              <p:cNvPr id="116" name="Elipse 115">
                <a:extLst>
                  <a:ext uri="{FF2B5EF4-FFF2-40B4-BE49-F238E27FC236}">
                    <a16:creationId xmlns:a16="http://schemas.microsoft.com/office/drawing/2014/main" id="{E9A96691-A2F2-2714-EC66-3BD0C2FFE990}"/>
                  </a:ext>
                </a:extLst>
              </p:cNvPr>
              <p:cNvSpPr/>
              <p:nvPr/>
            </p:nvSpPr>
            <p:spPr>
              <a:xfrm>
                <a:off x="1368424" y="3543659"/>
                <a:ext cx="120650" cy="12065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1</a:t>
                </a:r>
              </a:p>
            </p:txBody>
          </p:sp>
        </p:grpSp>
        <p:grpSp>
          <p:nvGrpSpPr>
            <p:cNvPr id="112" name="Agrupar 111">
              <a:extLst>
                <a:ext uri="{FF2B5EF4-FFF2-40B4-BE49-F238E27FC236}">
                  <a16:creationId xmlns:a16="http://schemas.microsoft.com/office/drawing/2014/main" id="{0943ECCC-70D9-E4DE-8DCD-D665F7AB0C6E}"/>
                </a:ext>
              </a:extLst>
            </p:cNvPr>
            <p:cNvGrpSpPr/>
            <p:nvPr/>
          </p:nvGrpSpPr>
          <p:grpSpPr>
            <a:xfrm>
              <a:off x="1368424" y="3751114"/>
              <a:ext cx="1222374" cy="349968"/>
              <a:chOff x="1368424" y="3429000"/>
              <a:chExt cx="1222374" cy="349968"/>
            </a:xfrm>
          </p:grpSpPr>
          <p:sp>
            <p:nvSpPr>
              <p:cNvPr id="113" name="Retângulo 112">
                <a:extLst>
                  <a:ext uri="{FF2B5EF4-FFF2-40B4-BE49-F238E27FC236}">
                    <a16:creationId xmlns:a16="http://schemas.microsoft.com/office/drawing/2014/main" id="{C01F2D3E-B02F-65DD-555E-1BE925AEA072}"/>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dirty="0">
                    <a:solidFill>
                      <a:schemeClr val="tx1"/>
                    </a:solidFill>
                    <a:sym typeface="Wingdings" panose="05000000000000000000" pitchFamily="2" charset="2"/>
                  </a:rPr>
                  <a:t>“Ágio tributário” – </a:t>
                </a:r>
                <a:r>
                  <a:rPr lang="pt-BR" sz="700" dirty="0">
                    <a:solidFill>
                      <a:schemeClr val="tx1"/>
                    </a:solidFill>
                  </a:rPr>
                  <a:t>MV é custo do invest.</a:t>
                </a:r>
              </a:p>
            </p:txBody>
          </p:sp>
          <p:sp>
            <p:nvSpPr>
              <p:cNvPr id="114" name="Elipse 113">
                <a:extLst>
                  <a:ext uri="{FF2B5EF4-FFF2-40B4-BE49-F238E27FC236}">
                    <a16:creationId xmlns:a16="http://schemas.microsoft.com/office/drawing/2014/main" id="{47AECE87-D9DD-977A-B12C-3CB82755CE76}"/>
                  </a:ext>
                </a:extLst>
              </p:cNvPr>
              <p:cNvSpPr/>
              <p:nvPr/>
            </p:nvSpPr>
            <p:spPr>
              <a:xfrm>
                <a:off x="1368424" y="3543659"/>
                <a:ext cx="120650" cy="1206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2</a:t>
                </a:r>
              </a:p>
            </p:txBody>
          </p:sp>
        </p:grpSp>
      </p:grpSp>
      <p:cxnSp>
        <p:nvCxnSpPr>
          <p:cNvPr id="118" name="Conector: Angulado 117">
            <a:extLst>
              <a:ext uri="{FF2B5EF4-FFF2-40B4-BE49-F238E27FC236}">
                <a16:creationId xmlns:a16="http://schemas.microsoft.com/office/drawing/2014/main" id="{9756ADC6-C922-9734-6AB6-91C693212506}"/>
              </a:ext>
            </a:extLst>
          </p:cNvPr>
          <p:cNvCxnSpPr>
            <a:cxnSpLocks/>
            <a:stCxn id="103" idx="2"/>
            <a:endCxn id="105" idx="0"/>
          </p:cNvCxnSpPr>
          <p:nvPr/>
        </p:nvCxnSpPr>
        <p:spPr>
          <a:xfrm rot="5400000">
            <a:off x="7787226" y="1948077"/>
            <a:ext cx="245985" cy="522989"/>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Conector: Angulado 118">
            <a:extLst>
              <a:ext uri="{FF2B5EF4-FFF2-40B4-BE49-F238E27FC236}">
                <a16:creationId xmlns:a16="http://schemas.microsoft.com/office/drawing/2014/main" id="{DA189101-0D7D-0BE4-994F-04D2839A63A9}"/>
              </a:ext>
            </a:extLst>
          </p:cNvPr>
          <p:cNvCxnSpPr>
            <a:cxnSpLocks/>
            <a:stCxn id="103" idx="2"/>
            <a:endCxn id="110" idx="0"/>
          </p:cNvCxnSpPr>
          <p:nvPr/>
        </p:nvCxnSpPr>
        <p:spPr>
          <a:xfrm rot="16200000" flipH="1">
            <a:off x="8323979" y="1934311"/>
            <a:ext cx="245985" cy="55051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0" name="Fluxograma: Processo Alternativo 119">
            <a:extLst>
              <a:ext uri="{FF2B5EF4-FFF2-40B4-BE49-F238E27FC236}">
                <a16:creationId xmlns:a16="http://schemas.microsoft.com/office/drawing/2014/main" id="{1A551169-5148-2799-FF8A-AE6759847723}"/>
              </a:ext>
            </a:extLst>
          </p:cNvPr>
          <p:cNvSpPr/>
          <p:nvPr/>
        </p:nvSpPr>
        <p:spPr>
          <a:xfrm>
            <a:off x="9729143" y="1811541"/>
            <a:ext cx="1146563" cy="275037"/>
          </a:xfrm>
          <a:prstGeom prst="flowChartAlternateProcess">
            <a:avLst/>
          </a:prstGeom>
          <a:solidFill>
            <a:srgbClr val="F3FFF8"/>
          </a:solid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b="1" dirty="0">
                <a:solidFill>
                  <a:srgbClr val="00B050"/>
                </a:solidFill>
              </a:rPr>
              <a:t>3.A</a:t>
            </a:r>
          </a:p>
          <a:p>
            <a:pPr algn="ctr"/>
            <a:r>
              <a:rPr lang="pt-BR" sz="800" dirty="0">
                <a:solidFill>
                  <a:schemeClr val="tx1"/>
                </a:solidFill>
              </a:rPr>
              <a:t>Ganho não realizado</a:t>
            </a:r>
          </a:p>
        </p:txBody>
      </p:sp>
      <p:grpSp>
        <p:nvGrpSpPr>
          <p:cNvPr id="121" name="Agrupar 120">
            <a:extLst>
              <a:ext uri="{FF2B5EF4-FFF2-40B4-BE49-F238E27FC236}">
                <a16:creationId xmlns:a16="http://schemas.microsoft.com/office/drawing/2014/main" id="{4AAE2DB8-418E-AB09-F68F-5A77B195E668}"/>
              </a:ext>
            </a:extLst>
          </p:cNvPr>
          <p:cNvGrpSpPr/>
          <p:nvPr/>
        </p:nvGrpSpPr>
        <p:grpSpPr>
          <a:xfrm>
            <a:off x="9263802" y="2332564"/>
            <a:ext cx="1019089" cy="571732"/>
            <a:chOff x="1368424" y="3031274"/>
            <a:chExt cx="1222375" cy="685780"/>
          </a:xfrm>
        </p:grpSpPr>
        <p:sp>
          <p:nvSpPr>
            <p:cNvPr id="122" name="Fluxograma: Terminação 121">
              <a:extLst>
                <a:ext uri="{FF2B5EF4-FFF2-40B4-BE49-F238E27FC236}">
                  <a16:creationId xmlns:a16="http://schemas.microsoft.com/office/drawing/2014/main" id="{61FCB858-51C3-F365-2A2C-1CD8E679C178}"/>
                </a:ext>
              </a:extLst>
            </p:cNvPr>
            <p:cNvSpPr/>
            <p:nvPr/>
          </p:nvSpPr>
          <p:spPr>
            <a:xfrm>
              <a:off x="1428750" y="3031274"/>
              <a:ext cx="1162049" cy="301752"/>
            </a:xfrm>
            <a:prstGeom prst="flowChartTerminator">
              <a:avLst/>
            </a:prstGeom>
            <a:solidFill>
              <a:schemeClr val="bg1"/>
            </a:solidFill>
            <a:ln w="12700">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700" dirty="0">
                  <a:solidFill>
                    <a:schemeClr val="tx1"/>
                  </a:solidFill>
                </a:rPr>
                <a:t>INCORPORADORA</a:t>
              </a:r>
            </a:p>
          </p:txBody>
        </p:sp>
        <p:grpSp>
          <p:nvGrpSpPr>
            <p:cNvPr id="123" name="Agrupar 122">
              <a:extLst>
                <a:ext uri="{FF2B5EF4-FFF2-40B4-BE49-F238E27FC236}">
                  <a16:creationId xmlns:a16="http://schemas.microsoft.com/office/drawing/2014/main" id="{B64E768B-CD17-0C4A-7B8D-4042852845B9}"/>
                </a:ext>
              </a:extLst>
            </p:cNvPr>
            <p:cNvGrpSpPr/>
            <p:nvPr/>
          </p:nvGrpSpPr>
          <p:grpSpPr>
            <a:xfrm>
              <a:off x="1368424" y="3367086"/>
              <a:ext cx="1222374" cy="349968"/>
              <a:chOff x="1368424" y="3429000"/>
              <a:chExt cx="1222374" cy="349968"/>
            </a:xfrm>
          </p:grpSpPr>
          <p:sp>
            <p:nvSpPr>
              <p:cNvPr id="124" name="Retângulo 123">
                <a:extLst>
                  <a:ext uri="{FF2B5EF4-FFF2-40B4-BE49-F238E27FC236}">
                    <a16:creationId xmlns:a16="http://schemas.microsoft.com/office/drawing/2014/main" id="{018E9A98-2F02-E100-6221-1BA7A1B39EBD}"/>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dirty="0">
                    <a:solidFill>
                      <a:schemeClr val="tx1"/>
                    </a:solidFill>
                    <a:sym typeface="Wingdings" panose="05000000000000000000" pitchFamily="2" charset="2"/>
                  </a:rPr>
                  <a:t>MV é </a:t>
                </a:r>
                <a:r>
                  <a:rPr lang="pt-BR" sz="700" dirty="0">
                    <a:solidFill>
                      <a:schemeClr val="tx1"/>
                    </a:solidFill>
                    <a:highlight>
                      <a:srgbClr val="FFFF00"/>
                    </a:highlight>
                    <a:sym typeface="Wingdings" panose="05000000000000000000" pitchFamily="2" charset="2"/>
                  </a:rPr>
                  <a:t>VJ de ativos e passivos</a:t>
                </a:r>
                <a:endParaRPr lang="pt-BR" sz="700" dirty="0">
                  <a:solidFill>
                    <a:schemeClr val="tx1"/>
                  </a:solidFill>
                  <a:highlight>
                    <a:srgbClr val="FFFF00"/>
                  </a:highlight>
                </a:endParaRPr>
              </a:p>
            </p:txBody>
          </p:sp>
          <p:sp>
            <p:nvSpPr>
              <p:cNvPr id="125" name="Elipse 124">
                <a:extLst>
                  <a:ext uri="{FF2B5EF4-FFF2-40B4-BE49-F238E27FC236}">
                    <a16:creationId xmlns:a16="http://schemas.microsoft.com/office/drawing/2014/main" id="{D487C94C-97DE-4419-8ED0-FB999BB1A08F}"/>
                  </a:ext>
                </a:extLst>
              </p:cNvPr>
              <p:cNvSpPr/>
              <p:nvPr/>
            </p:nvSpPr>
            <p:spPr>
              <a:xfrm>
                <a:off x="1368424" y="3543659"/>
                <a:ext cx="120650" cy="1206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1</a:t>
                </a:r>
              </a:p>
            </p:txBody>
          </p:sp>
        </p:grpSp>
      </p:grpSp>
      <p:cxnSp>
        <p:nvCxnSpPr>
          <p:cNvPr id="126" name="Conector: Angulado 125">
            <a:extLst>
              <a:ext uri="{FF2B5EF4-FFF2-40B4-BE49-F238E27FC236}">
                <a16:creationId xmlns:a16="http://schemas.microsoft.com/office/drawing/2014/main" id="{0C188EC5-F0A4-E560-CAF2-05F11CF64515}"/>
              </a:ext>
            </a:extLst>
          </p:cNvPr>
          <p:cNvCxnSpPr>
            <a:cxnSpLocks/>
            <a:stCxn id="120" idx="2"/>
            <a:endCxn id="122" idx="0"/>
          </p:cNvCxnSpPr>
          <p:nvPr/>
        </p:nvCxnSpPr>
        <p:spPr>
          <a:xfrm rot="5400000">
            <a:off x="9927467" y="1957606"/>
            <a:ext cx="245985" cy="503931"/>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Conector: Angulado 126">
            <a:extLst>
              <a:ext uri="{FF2B5EF4-FFF2-40B4-BE49-F238E27FC236}">
                <a16:creationId xmlns:a16="http://schemas.microsoft.com/office/drawing/2014/main" id="{71EE84C2-D0C3-98E4-8775-3C989A98935E}"/>
              </a:ext>
            </a:extLst>
          </p:cNvPr>
          <p:cNvCxnSpPr>
            <a:cxnSpLocks/>
            <a:stCxn id="120" idx="2"/>
            <a:endCxn id="129" idx="0"/>
          </p:cNvCxnSpPr>
          <p:nvPr/>
        </p:nvCxnSpPr>
        <p:spPr>
          <a:xfrm rot="16200000" flipH="1">
            <a:off x="10456279" y="1932723"/>
            <a:ext cx="245985" cy="553695"/>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28" name="Agrupar 127">
            <a:extLst>
              <a:ext uri="{FF2B5EF4-FFF2-40B4-BE49-F238E27FC236}">
                <a16:creationId xmlns:a16="http://schemas.microsoft.com/office/drawing/2014/main" id="{CB122A1E-7FF3-A266-1DA9-CE56CAD9118A}"/>
              </a:ext>
            </a:extLst>
          </p:cNvPr>
          <p:cNvGrpSpPr/>
          <p:nvPr/>
        </p:nvGrpSpPr>
        <p:grpSpPr>
          <a:xfrm>
            <a:off x="10321428" y="2332564"/>
            <a:ext cx="1019089" cy="894181"/>
            <a:chOff x="4718105" y="2857677"/>
            <a:chExt cx="1222375" cy="1072551"/>
          </a:xfrm>
        </p:grpSpPr>
        <p:sp>
          <p:nvSpPr>
            <p:cNvPr id="129" name="Fluxograma: Terminação 128">
              <a:extLst>
                <a:ext uri="{FF2B5EF4-FFF2-40B4-BE49-F238E27FC236}">
                  <a16:creationId xmlns:a16="http://schemas.microsoft.com/office/drawing/2014/main" id="{095EAC19-A525-563B-0E45-A4737D3B82E0}"/>
                </a:ext>
              </a:extLst>
            </p:cNvPr>
            <p:cNvSpPr/>
            <p:nvPr/>
          </p:nvSpPr>
          <p:spPr>
            <a:xfrm>
              <a:off x="4778431" y="2857677"/>
              <a:ext cx="1162049" cy="301752"/>
            </a:xfrm>
            <a:prstGeom prst="flowChartTerminator">
              <a:avLst/>
            </a:prstGeom>
            <a:solidFill>
              <a:schemeClr val="bg1"/>
            </a:solidFill>
            <a:ln w="12700">
              <a:solidFill>
                <a:srgbClr val="00B05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700" dirty="0">
                  <a:solidFill>
                    <a:schemeClr val="tx1"/>
                  </a:solidFill>
                </a:rPr>
                <a:t>INVESTIDORA</a:t>
              </a:r>
            </a:p>
          </p:txBody>
        </p:sp>
        <p:grpSp>
          <p:nvGrpSpPr>
            <p:cNvPr id="130" name="Agrupar 129">
              <a:extLst>
                <a:ext uri="{FF2B5EF4-FFF2-40B4-BE49-F238E27FC236}">
                  <a16:creationId xmlns:a16="http://schemas.microsoft.com/office/drawing/2014/main" id="{F64A431B-3A37-E859-2423-81121BD7C195}"/>
                </a:ext>
              </a:extLst>
            </p:cNvPr>
            <p:cNvGrpSpPr/>
            <p:nvPr/>
          </p:nvGrpSpPr>
          <p:grpSpPr>
            <a:xfrm>
              <a:off x="4718105" y="3193489"/>
              <a:ext cx="1222374" cy="349968"/>
              <a:chOff x="1368424" y="3429000"/>
              <a:chExt cx="1222374" cy="349968"/>
            </a:xfrm>
          </p:grpSpPr>
          <p:sp>
            <p:nvSpPr>
              <p:cNvPr id="134" name="Retângulo 133">
                <a:extLst>
                  <a:ext uri="{FF2B5EF4-FFF2-40B4-BE49-F238E27FC236}">
                    <a16:creationId xmlns:a16="http://schemas.microsoft.com/office/drawing/2014/main" id="{1DFE6DEA-BD9D-CDEE-5A55-71F53736159E}"/>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b="1" dirty="0">
                    <a:solidFill>
                      <a:schemeClr val="tx1"/>
                    </a:solidFill>
                    <a:sym typeface="Wingdings" panose="05000000000000000000" pitchFamily="2" charset="2"/>
                  </a:rPr>
                  <a:t>ORA </a:t>
                </a:r>
                <a:r>
                  <a:rPr lang="pt-BR" sz="700" dirty="0">
                    <a:solidFill>
                      <a:schemeClr val="tx1"/>
                    </a:solidFill>
                    <a:sym typeface="Wingdings" panose="05000000000000000000" pitchFamily="2" charset="2"/>
                  </a:rPr>
                  <a:t>– não impacta resultado e BC IR/CS</a:t>
                </a:r>
                <a:endParaRPr lang="pt-BR" sz="700" dirty="0">
                  <a:solidFill>
                    <a:schemeClr val="tx1"/>
                  </a:solidFill>
                </a:endParaRPr>
              </a:p>
            </p:txBody>
          </p:sp>
          <p:sp>
            <p:nvSpPr>
              <p:cNvPr id="135" name="Elipse 134">
                <a:extLst>
                  <a:ext uri="{FF2B5EF4-FFF2-40B4-BE49-F238E27FC236}">
                    <a16:creationId xmlns:a16="http://schemas.microsoft.com/office/drawing/2014/main" id="{09A71806-DDE6-AF8D-D5C1-8446667501DE}"/>
                  </a:ext>
                </a:extLst>
              </p:cNvPr>
              <p:cNvSpPr/>
              <p:nvPr/>
            </p:nvSpPr>
            <p:spPr>
              <a:xfrm>
                <a:off x="1368424" y="3543659"/>
                <a:ext cx="120650" cy="12065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1</a:t>
                </a:r>
              </a:p>
            </p:txBody>
          </p:sp>
        </p:grpSp>
        <p:grpSp>
          <p:nvGrpSpPr>
            <p:cNvPr id="131" name="Agrupar 130">
              <a:extLst>
                <a:ext uri="{FF2B5EF4-FFF2-40B4-BE49-F238E27FC236}">
                  <a16:creationId xmlns:a16="http://schemas.microsoft.com/office/drawing/2014/main" id="{0FCB20A6-DC96-AD16-87D1-4CC85FB2DD64}"/>
                </a:ext>
              </a:extLst>
            </p:cNvPr>
            <p:cNvGrpSpPr/>
            <p:nvPr/>
          </p:nvGrpSpPr>
          <p:grpSpPr>
            <a:xfrm>
              <a:off x="4718105" y="3580260"/>
              <a:ext cx="1222374" cy="349968"/>
              <a:chOff x="1368424" y="3429000"/>
              <a:chExt cx="1222374" cy="349968"/>
            </a:xfrm>
          </p:grpSpPr>
          <p:sp>
            <p:nvSpPr>
              <p:cNvPr id="132" name="Retângulo 131">
                <a:extLst>
                  <a:ext uri="{FF2B5EF4-FFF2-40B4-BE49-F238E27FC236}">
                    <a16:creationId xmlns:a16="http://schemas.microsoft.com/office/drawing/2014/main" id="{DD769210-5207-44AB-0DBC-480A7628CB3C}"/>
                  </a:ext>
                </a:extLst>
              </p:cNvPr>
              <p:cNvSpPr/>
              <p:nvPr/>
            </p:nvSpPr>
            <p:spPr>
              <a:xfrm>
                <a:off x="1428749" y="3429000"/>
                <a:ext cx="1162049" cy="349968"/>
              </a:xfrm>
              <a:prstGeom prst="rect">
                <a:avLst/>
              </a:prstGeom>
              <a:solidFill>
                <a:schemeClr val="bg1">
                  <a:lumMod val="95000"/>
                </a:schemeClr>
              </a:solidFill>
              <a:ln w="6350">
                <a:solidFill>
                  <a:schemeClr val="bg1">
                    <a:lumMod val="9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b="1" dirty="0">
                    <a:solidFill>
                      <a:schemeClr val="tx1"/>
                    </a:solidFill>
                    <a:sym typeface="Wingdings" panose="05000000000000000000" pitchFamily="2" charset="2"/>
                  </a:rPr>
                  <a:t>ORA </a:t>
                </a:r>
                <a:r>
                  <a:rPr lang="pt-BR" sz="700" dirty="0">
                    <a:solidFill>
                      <a:schemeClr val="tx1"/>
                    </a:solidFill>
                    <a:sym typeface="Wingdings" panose="05000000000000000000" pitchFamily="2" charset="2"/>
                  </a:rPr>
                  <a:t>– tributa quando realizada (na venda)</a:t>
                </a:r>
                <a:endParaRPr lang="pt-BR" sz="700" dirty="0">
                  <a:solidFill>
                    <a:srgbClr val="FF0000"/>
                  </a:solidFill>
                </a:endParaRPr>
              </a:p>
            </p:txBody>
          </p:sp>
          <p:sp>
            <p:nvSpPr>
              <p:cNvPr id="133" name="Elipse 132">
                <a:extLst>
                  <a:ext uri="{FF2B5EF4-FFF2-40B4-BE49-F238E27FC236}">
                    <a16:creationId xmlns:a16="http://schemas.microsoft.com/office/drawing/2014/main" id="{7ED4FA8F-7B65-A3E0-BF3D-AAC43B33A7E2}"/>
                  </a:ext>
                </a:extLst>
              </p:cNvPr>
              <p:cNvSpPr/>
              <p:nvPr/>
            </p:nvSpPr>
            <p:spPr>
              <a:xfrm>
                <a:off x="1368424" y="3543659"/>
                <a:ext cx="120650" cy="12065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2</a:t>
                </a:r>
              </a:p>
            </p:txBody>
          </p:sp>
        </p:grpSp>
      </p:grpSp>
      <p:sp>
        <p:nvSpPr>
          <p:cNvPr id="137" name="Fluxograma: Processo Alternativo 136">
            <a:extLst>
              <a:ext uri="{FF2B5EF4-FFF2-40B4-BE49-F238E27FC236}">
                <a16:creationId xmlns:a16="http://schemas.microsoft.com/office/drawing/2014/main" id="{46D011F4-65B1-04F3-5353-EB942A4956D1}"/>
              </a:ext>
            </a:extLst>
          </p:cNvPr>
          <p:cNvSpPr/>
          <p:nvPr/>
        </p:nvSpPr>
        <p:spPr>
          <a:xfrm>
            <a:off x="9818026" y="959157"/>
            <a:ext cx="968796" cy="275037"/>
          </a:xfrm>
          <a:prstGeom prst="flowChartAlternateProcess">
            <a:avLst/>
          </a:prstGeom>
          <a:solidFill>
            <a:srgbClr val="00B050"/>
          </a:solid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800" dirty="0"/>
              <a:t>Reflexo direto da contabilidade</a:t>
            </a:r>
          </a:p>
        </p:txBody>
      </p:sp>
      <p:cxnSp>
        <p:nvCxnSpPr>
          <p:cNvPr id="141" name="Conector de Seta Reta 140">
            <a:extLst>
              <a:ext uri="{FF2B5EF4-FFF2-40B4-BE49-F238E27FC236}">
                <a16:creationId xmlns:a16="http://schemas.microsoft.com/office/drawing/2014/main" id="{FBAFAE04-9DEF-D510-91B7-88D4553BB10A}"/>
              </a:ext>
            </a:extLst>
          </p:cNvPr>
          <p:cNvCxnSpPr>
            <a:stCxn id="102" idx="2"/>
            <a:endCxn id="103" idx="0"/>
          </p:cNvCxnSpPr>
          <p:nvPr/>
        </p:nvCxnSpPr>
        <p:spPr>
          <a:xfrm>
            <a:off x="8167807" y="1234790"/>
            <a:ext cx="3906" cy="576751"/>
          </a:xfrm>
          <a:prstGeom prst="straightConnector1">
            <a:avLst/>
          </a:prstGeom>
          <a:ln>
            <a:solidFill>
              <a:srgbClr val="7F7F7F"/>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Conector de Seta Reta 141">
            <a:extLst>
              <a:ext uri="{FF2B5EF4-FFF2-40B4-BE49-F238E27FC236}">
                <a16:creationId xmlns:a16="http://schemas.microsoft.com/office/drawing/2014/main" id="{6B8946DA-A587-2D73-66A6-DE008962891F}"/>
              </a:ext>
            </a:extLst>
          </p:cNvPr>
          <p:cNvCxnSpPr>
            <a:cxnSpLocks/>
            <a:stCxn id="137" idx="2"/>
            <a:endCxn id="120" idx="0"/>
          </p:cNvCxnSpPr>
          <p:nvPr/>
        </p:nvCxnSpPr>
        <p:spPr>
          <a:xfrm>
            <a:off x="10302424" y="1234194"/>
            <a:ext cx="1" cy="577347"/>
          </a:xfrm>
          <a:prstGeom prst="straightConnector1">
            <a:avLst/>
          </a:prstGeom>
          <a:ln>
            <a:solidFill>
              <a:srgbClr val="7F7F7F"/>
            </a:solidFill>
            <a:tailEnd type="triangle"/>
          </a:ln>
        </p:spPr>
        <p:style>
          <a:lnRef idx="1">
            <a:schemeClr val="accent1"/>
          </a:lnRef>
          <a:fillRef idx="0">
            <a:schemeClr val="accent1"/>
          </a:fillRef>
          <a:effectRef idx="0">
            <a:schemeClr val="accent1"/>
          </a:effectRef>
          <a:fontRef idx="minor">
            <a:schemeClr val="tx1"/>
          </a:fontRef>
        </p:style>
      </p:cxnSp>
      <p:sp>
        <p:nvSpPr>
          <p:cNvPr id="146" name="Retângulo 145">
            <a:extLst>
              <a:ext uri="{FF2B5EF4-FFF2-40B4-BE49-F238E27FC236}">
                <a16:creationId xmlns:a16="http://schemas.microsoft.com/office/drawing/2014/main" id="{3A945C5C-F6C3-04F9-20BB-B0B59AEA03EE}"/>
              </a:ext>
            </a:extLst>
          </p:cNvPr>
          <p:cNvSpPr/>
          <p:nvPr/>
        </p:nvSpPr>
        <p:spPr>
          <a:xfrm>
            <a:off x="1440279" y="3810865"/>
            <a:ext cx="1405858" cy="677414"/>
          </a:xfrm>
          <a:prstGeom prst="rect">
            <a:avLst/>
          </a:prstGeom>
          <a:solidFill>
            <a:srgbClr val="F8F7F2"/>
          </a:solidFill>
          <a:ln w="6350">
            <a:solidFill>
              <a:schemeClr val="bg2">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300"/>
              </a:spcAft>
            </a:pPr>
            <a:r>
              <a:rPr lang="pt-BR" sz="700" dirty="0">
                <a:solidFill>
                  <a:schemeClr val="tx1"/>
                </a:solidFill>
              </a:rPr>
              <a:t>- </a:t>
            </a:r>
            <a:r>
              <a:rPr lang="pt-BR" sz="700" b="1" dirty="0">
                <a:solidFill>
                  <a:schemeClr val="tx1"/>
                </a:solidFill>
              </a:rPr>
              <a:t>Artigos</a:t>
            </a:r>
            <a:r>
              <a:rPr lang="pt-BR" sz="700" dirty="0">
                <a:solidFill>
                  <a:schemeClr val="tx1"/>
                </a:solidFill>
              </a:rPr>
              <a:t>: Vide TONNANI, 2022. Diz que esses ajustes “não têm aplicação no Direito Tributário”. </a:t>
            </a:r>
            <a:r>
              <a:rPr lang="pt-BR" sz="700" i="1" dirty="0">
                <a:solidFill>
                  <a:schemeClr val="tx1"/>
                </a:solidFill>
              </a:rPr>
              <a:t>De toda forma</a:t>
            </a:r>
            <a:r>
              <a:rPr lang="pt-BR" sz="700" dirty="0">
                <a:solidFill>
                  <a:schemeClr val="tx1"/>
                </a:solidFill>
              </a:rPr>
              <a:t>, indica controle em subconta pelas regras do AVJ.  </a:t>
            </a:r>
          </a:p>
        </p:txBody>
      </p:sp>
      <p:cxnSp>
        <p:nvCxnSpPr>
          <p:cNvPr id="148" name="Conector: Angulado 147">
            <a:extLst>
              <a:ext uri="{FF2B5EF4-FFF2-40B4-BE49-F238E27FC236}">
                <a16:creationId xmlns:a16="http://schemas.microsoft.com/office/drawing/2014/main" id="{13E951C1-7323-1556-36F4-F648D0BB3004}"/>
              </a:ext>
            </a:extLst>
          </p:cNvPr>
          <p:cNvCxnSpPr>
            <a:cxnSpLocks/>
            <a:stCxn id="11" idx="2"/>
            <a:endCxn id="146" idx="0"/>
          </p:cNvCxnSpPr>
          <p:nvPr/>
        </p:nvCxnSpPr>
        <p:spPr>
          <a:xfrm rot="16200000" flipH="1">
            <a:off x="1155868" y="2823524"/>
            <a:ext cx="907165" cy="1067515"/>
          </a:xfrm>
          <a:prstGeom prst="bentConnector3">
            <a:avLst>
              <a:gd name="adj1" fmla="val 85576"/>
            </a:avLst>
          </a:prstGeom>
          <a:ln>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59" name="Conector: Angulado 158">
            <a:extLst>
              <a:ext uri="{FF2B5EF4-FFF2-40B4-BE49-F238E27FC236}">
                <a16:creationId xmlns:a16="http://schemas.microsoft.com/office/drawing/2014/main" id="{E135AC66-1560-28B1-B138-25A93AC88B8F}"/>
              </a:ext>
            </a:extLst>
          </p:cNvPr>
          <p:cNvCxnSpPr>
            <a:cxnSpLocks/>
            <a:stCxn id="43" idx="2"/>
            <a:endCxn id="146" idx="0"/>
          </p:cNvCxnSpPr>
          <p:nvPr/>
        </p:nvCxnSpPr>
        <p:spPr>
          <a:xfrm rot="5400000">
            <a:off x="2230754" y="2816155"/>
            <a:ext cx="907165" cy="1082255"/>
          </a:xfrm>
          <a:prstGeom prst="bentConnector3">
            <a:avLst>
              <a:gd name="adj1" fmla="val 85576"/>
            </a:avLst>
          </a:prstGeom>
          <a:ln>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66" name="Retângulo 165">
            <a:extLst>
              <a:ext uri="{FF2B5EF4-FFF2-40B4-BE49-F238E27FC236}">
                <a16:creationId xmlns:a16="http://schemas.microsoft.com/office/drawing/2014/main" id="{646DA37F-D030-9467-A2F3-A25A68870A17}"/>
              </a:ext>
            </a:extLst>
          </p:cNvPr>
          <p:cNvSpPr/>
          <p:nvPr/>
        </p:nvSpPr>
        <p:spPr>
          <a:xfrm>
            <a:off x="2927522" y="3808131"/>
            <a:ext cx="1405858" cy="720297"/>
          </a:xfrm>
          <a:prstGeom prst="rect">
            <a:avLst/>
          </a:prstGeom>
          <a:solidFill>
            <a:srgbClr val="F8F7F2"/>
          </a:solidFill>
          <a:ln w="6350">
            <a:solidFill>
              <a:schemeClr val="bg2">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pt-BR" sz="700" dirty="0">
                <a:solidFill>
                  <a:schemeClr val="tx1"/>
                </a:solidFill>
              </a:rPr>
              <a:t>- </a:t>
            </a:r>
            <a:r>
              <a:rPr lang="pt-BR" sz="700" b="1" dirty="0">
                <a:solidFill>
                  <a:schemeClr val="tx1"/>
                </a:solidFill>
              </a:rPr>
              <a:t>Artigos</a:t>
            </a:r>
            <a:r>
              <a:rPr lang="pt-BR" sz="700" dirty="0">
                <a:solidFill>
                  <a:schemeClr val="tx1"/>
                </a:solidFill>
              </a:rPr>
              <a:t>: DUTRA, Adauto Lúcio da Silva faz interpretação histórica / sistemática e conclui que art. 33, 2º, DL 1.598 é regra de diferimento da tributação de GK.</a:t>
            </a:r>
          </a:p>
        </p:txBody>
      </p:sp>
      <p:cxnSp>
        <p:nvCxnSpPr>
          <p:cNvPr id="167" name="Conector: Angulado 166">
            <a:extLst>
              <a:ext uri="{FF2B5EF4-FFF2-40B4-BE49-F238E27FC236}">
                <a16:creationId xmlns:a16="http://schemas.microsoft.com/office/drawing/2014/main" id="{F9284A30-4318-D233-E133-28EC66616E49}"/>
              </a:ext>
            </a:extLst>
          </p:cNvPr>
          <p:cNvCxnSpPr>
            <a:cxnSpLocks/>
            <a:stCxn id="49" idx="2"/>
            <a:endCxn id="166" idx="0"/>
          </p:cNvCxnSpPr>
          <p:nvPr/>
        </p:nvCxnSpPr>
        <p:spPr>
          <a:xfrm rot="5400000">
            <a:off x="3528660" y="3563245"/>
            <a:ext cx="346677" cy="143094"/>
          </a:xfrm>
          <a:prstGeom prst="bentConnector3">
            <a:avLst>
              <a:gd name="adj1" fmla="val 50000"/>
            </a:avLst>
          </a:prstGeom>
          <a:ln>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75" name="Retângulo 174">
            <a:extLst>
              <a:ext uri="{FF2B5EF4-FFF2-40B4-BE49-F238E27FC236}">
                <a16:creationId xmlns:a16="http://schemas.microsoft.com/office/drawing/2014/main" id="{FAFD925D-A55F-22EB-F2E8-4C851C819192}"/>
              </a:ext>
            </a:extLst>
          </p:cNvPr>
          <p:cNvSpPr/>
          <p:nvPr/>
        </p:nvSpPr>
        <p:spPr>
          <a:xfrm>
            <a:off x="4505489" y="3808131"/>
            <a:ext cx="1405858" cy="1866527"/>
          </a:xfrm>
          <a:prstGeom prst="rect">
            <a:avLst/>
          </a:prstGeom>
          <a:solidFill>
            <a:srgbClr val="F8F7F2"/>
          </a:solidFill>
          <a:ln w="6350">
            <a:solidFill>
              <a:schemeClr val="bg2">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pt-BR" sz="700" dirty="0">
                <a:solidFill>
                  <a:schemeClr val="tx1"/>
                </a:solidFill>
              </a:rPr>
              <a:t>- </a:t>
            </a:r>
            <a:r>
              <a:rPr lang="pt-BR" sz="700" b="1" dirty="0">
                <a:solidFill>
                  <a:schemeClr val="tx1"/>
                </a:solidFill>
              </a:rPr>
              <a:t>Jurisprudência</a:t>
            </a:r>
            <a:r>
              <a:rPr lang="pt-BR" sz="700" dirty="0">
                <a:solidFill>
                  <a:schemeClr val="tx1"/>
                </a:solidFill>
              </a:rPr>
              <a:t>: Ac. 1402-004.537 (2020 – WTorre) enfrentou a questão e decidiu que art. 33, 2º, DL 1.598 é regra de exclusão definitiva, e não diferimento. Ganhos neutralizados por sua aplicação integram valor contábil do investimento. </a:t>
            </a:r>
          </a:p>
          <a:p>
            <a:pPr>
              <a:spcAft>
                <a:spcPts val="300"/>
              </a:spcAft>
            </a:pPr>
            <a:r>
              <a:rPr lang="pt-BR" sz="700" dirty="0">
                <a:solidFill>
                  <a:schemeClr val="tx1"/>
                </a:solidFill>
              </a:rPr>
              <a:t>- </a:t>
            </a:r>
            <a:r>
              <a:rPr lang="pt-BR" sz="700" b="1" dirty="0">
                <a:solidFill>
                  <a:schemeClr val="tx1"/>
                </a:solidFill>
              </a:rPr>
              <a:t>Doutrina</a:t>
            </a:r>
            <a:r>
              <a:rPr lang="pt-BR" sz="700" dirty="0">
                <a:solidFill>
                  <a:schemeClr val="tx1"/>
                </a:solidFill>
              </a:rPr>
              <a:t>: OLIVEIRA, Mariz, 2020. Diz que ganho de variação % do investimento é neutralizado quando auferido e se agrega à conta de equivalência patrimonial, podendo afetar futura apuração de GK (p. 926).</a:t>
            </a:r>
          </a:p>
        </p:txBody>
      </p:sp>
      <p:cxnSp>
        <p:nvCxnSpPr>
          <p:cNvPr id="176" name="Conector: Angulado 175">
            <a:extLst>
              <a:ext uri="{FF2B5EF4-FFF2-40B4-BE49-F238E27FC236}">
                <a16:creationId xmlns:a16="http://schemas.microsoft.com/office/drawing/2014/main" id="{C2A895BE-625E-D242-D405-CF64895CDCFC}"/>
              </a:ext>
            </a:extLst>
          </p:cNvPr>
          <p:cNvCxnSpPr>
            <a:cxnSpLocks/>
            <a:stCxn id="80" idx="2"/>
            <a:endCxn id="175" idx="0"/>
          </p:cNvCxnSpPr>
          <p:nvPr/>
        </p:nvCxnSpPr>
        <p:spPr>
          <a:xfrm rot="16200000" flipH="1">
            <a:off x="4839760" y="3439472"/>
            <a:ext cx="346677" cy="390639"/>
          </a:xfrm>
          <a:prstGeom prst="bentConnector3">
            <a:avLst>
              <a:gd name="adj1" fmla="val 50000"/>
            </a:avLst>
          </a:prstGeom>
          <a:ln>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83" name="Retângulo 182">
            <a:extLst>
              <a:ext uri="{FF2B5EF4-FFF2-40B4-BE49-F238E27FC236}">
                <a16:creationId xmlns:a16="http://schemas.microsoft.com/office/drawing/2014/main" id="{548E0B0C-2361-0E9B-FABA-E6A11B00ECF1}"/>
              </a:ext>
            </a:extLst>
          </p:cNvPr>
          <p:cNvSpPr/>
          <p:nvPr/>
        </p:nvSpPr>
        <p:spPr>
          <a:xfrm>
            <a:off x="10320589" y="3808132"/>
            <a:ext cx="1498647" cy="1393190"/>
          </a:xfrm>
          <a:prstGeom prst="rect">
            <a:avLst/>
          </a:prstGeom>
          <a:solidFill>
            <a:srgbClr val="F8F7F2"/>
          </a:solidFill>
          <a:ln w="6350">
            <a:solidFill>
              <a:schemeClr val="bg2">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pt-BR" sz="700" dirty="0">
                <a:solidFill>
                  <a:schemeClr val="tx1"/>
                </a:solidFill>
              </a:rPr>
              <a:t>- </a:t>
            </a:r>
            <a:r>
              <a:rPr lang="pt-BR" sz="700" b="1" dirty="0">
                <a:solidFill>
                  <a:schemeClr val="tx1"/>
                </a:solidFill>
              </a:rPr>
              <a:t>Jurisprudência</a:t>
            </a:r>
            <a:r>
              <a:rPr lang="pt-BR" sz="700" dirty="0">
                <a:solidFill>
                  <a:schemeClr val="tx1"/>
                </a:solidFill>
              </a:rPr>
              <a:t>: Há 3 acórdãos recentes do CARF na linha de que o reflexo da MV da incorporação não é imediatamente tributável porque registrado em ORA/reserva de K, sem impacto no lucro contábil base para o lucro real (CPFL, Litel e </a:t>
            </a:r>
            <a:r>
              <a:rPr lang="pt-BR" sz="700" dirty="0" err="1">
                <a:solidFill>
                  <a:schemeClr val="tx1"/>
                </a:solidFill>
              </a:rPr>
              <a:t>Litela</a:t>
            </a:r>
            <a:r>
              <a:rPr lang="pt-BR" sz="700" dirty="0">
                <a:solidFill>
                  <a:schemeClr val="tx1"/>
                </a:solidFill>
              </a:rPr>
              <a:t> – 2024). Fundamento é que (i) resultado não realizado; e (</a:t>
            </a:r>
            <a:r>
              <a:rPr lang="pt-BR" sz="700" dirty="0" err="1">
                <a:solidFill>
                  <a:schemeClr val="tx1"/>
                </a:solidFill>
              </a:rPr>
              <a:t>ii</a:t>
            </a:r>
            <a:r>
              <a:rPr lang="pt-BR" sz="700" dirty="0">
                <a:solidFill>
                  <a:schemeClr val="tx1"/>
                </a:solidFill>
              </a:rPr>
              <a:t>) não há regra de adição desse resultado.</a:t>
            </a:r>
          </a:p>
        </p:txBody>
      </p:sp>
      <p:cxnSp>
        <p:nvCxnSpPr>
          <p:cNvPr id="184" name="Conector: Angulado 183">
            <a:extLst>
              <a:ext uri="{FF2B5EF4-FFF2-40B4-BE49-F238E27FC236}">
                <a16:creationId xmlns:a16="http://schemas.microsoft.com/office/drawing/2014/main" id="{8401C4E1-3362-07C9-3A58-76F0E85B2021}"/>
              </a:ext>
            </a:extLst>
          </p:cNvPr>
          <p:cNvCxnSpPr>
            <a:cxnSpLocks/>
            <a:stCxn id="134" idx="3"/>
            <a:endCxn id="183" idx="0"/>
          </p:cNvCxnSpPr>
          <p:nvPr/>
        </p:nvCxnSpPr>
        <p:spPr>
          <a:xfrm flipH="1">
            <a:off x="11069913" y="2758413"/>
            <a:ext cx="270603" cy="1049719"/>
          </a:xfrm>
          <a:prstGeom prst="bentConnector4">
            <a:avLst>
              <a:gd name="adj1" fmla="val -84478"/>
              <a:gd name="adj2" fmla="val 56949"/>
            </a:avLst>
          </a:prstGeom>
          <a:ln>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7" name="Retângulo 196">
            <a:extLst>
              <a:ext uri="{FF2B5EF4-FFF2-40B4-BE49-F238E27FC236}">
                <a16:creationId xmlns:a16="http://schemas.microsoft.com/office/drawing/2014/main" id="{BE50EBFB-5E77-65D0-0044-1050BF9519D1}"/>
              </a:ext>
            </a:extLst>
          </p:cNvPr>
          <p:cNvSpPr/>
          <p:nvPr/>
        </p:nvSpPr>
        <p:spPr>
          <a:xfrm>
            <a:off x="8652205" y="3808132"/>
            <a:ext cx="1498647" cy="1393190"/>
          </a:xfrm>
          <a:prstGeom prst="rect">
            <a:avLst/>
          </a:prstGeom>
          <a:solidFill>
            <a:srgbClr val="F8F7F2"/>
          </a:solidFill>
          <a:ln w="6350">
            <a:solidFill>
              <a:schemeClr val="bg2">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pt-BR" sz="700" dirty="0">
                <a:solidFill>
                  <a:schemeClr val="tx1"/>
                </a:solidFill>
              </a:rPr>
              <a:t>- </a:t>
            </a:r>
            <a:r>
              <a:rPr lang="pt-BR" sz="700" b="1" dirty="0">
                <a:solidFill>
                  <a:schemeClr val="tx1"/>
                </a:solidFill>
              </a:rPr>
              <a:t>Jurisprudência</a:t>
            </a:r>
            <a:r>
              <a:rPr lang="pt-BR" sz="700" dirty="0">
                <a:solidFill>
                  <a:schemeClr val="tx1"/>
                </a:solidFill>
              </a:rPr>
              <a:t>: Nos casos Litel e </a:t>
            </a:r>
            <a:r>
              <a:rPr lang="pt-BR" sz="700" dirty="0" err="1">
                <a:solidFill>
                  <a:schemeClr val="tx1"/>
                </a:solidFill>
              </a:rPr>
              <a:t>Litela</a:t>
            </a:r>
            <a:r>
              <a:rPr lang="pt-BR" sz="700" dirty="0">
                <a:solidFill>
                  <a:schemeClr val="tx1"/>
                </a:solidFill>
              </a:rPr>
              <a:t> (2024), do CARF, contribuinte tributou resultado da incorporação à medida da realização da incorporadora, quando ganhos foram transferidos de ORA para DRE. CARF sinalizou que esse seria o tratamento tributário correto – art. 33, 2º, DL 1.598 não foi aplicado para neutralizar o ganho realizado (mas sim quando inicialmente auferido).</a:t>
            </a:r>
          </a:p>
        </p:txBody>
      </p:sp>
      <p:cxnSp>
        <p:nvCxnSpPr>
          <p:cNvPr id="198" name="Conector: Angulado 197">
            <a:extLst>
              <a:ext uri="{FF2B5EF4-FFF2-40B4-BE49-F238E27FC236}">
                <a16:creationId xmlns:a16="http://schemas.microsoft.com/office/drawing/2014/main" id="{8FF6F045-3443-DF40-5D68-7B450ECE796D}"/>
              </a:ext>
            </a:extLst>
          </p:cNvPr>
          <p:cNvCxnSpPr>
            <a:cxnSpLocks/>
            <a:stCxn id="132" idx="2"/>
            <a:endCxn id="197" idx="0"/>
          </p:cNvCxnSpPr>
          <p:nvPr/>
        </p:nvCxnSpPr>
        <p:spPr>
          <a:xfrm rot="5400000">
            <a:off x="9838131" y="2790143"/>
            <a:ext cx="581387" cy="1454590"/>
          </a:xfrm>
          <a:prstGeom prst="bentConnector3">
            <a:avLst>
              <a:gd name="adj1" fmla="val 50000"/>
            </a:avLst>
          </a:prstGeom>
          <a:ln>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0" name="Retângulo 209">
            <a:extLst>
              <a:ext uri="{FF2B5EF4-FFF2-40B4-BE49-F238E27FC236}">
                <a16:creationId xmlns:a16="http://schemas.microsoft.com/office/drawing/2014/main" id="{AB61F289-815F-7749-A270-7C95D3B3BF16}"/>
              </a:ext>
            </a:extLst>
          </p:cNvPr>
          <p:cNvSpPr/>
          <p:nvPr/>
        </p:nvSpPr>
        <p:spPr>
          <a:xfrm>
            <a:off x="6081084" y="3808132"/>
            <a:ext cx="1405858" cy="1866526"/>
          </a:xfrm>
          <a:prstGeom prst="rect">
            <a:avLst/>
          </a:prstGeom>
          <a:solidFill>
            <a:srgbClr val="F8F7F2"/>
          </a:solidFill>
          <a:ln w="6350">
            <a:solidFill>
              <a:schemeClr val="bg2">
                <a:lumMod val="90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pt-BR" sz="700" dirty="0">
                <a:solidFill>
                  <a:schemeClr val="tx1"/>
                </a:solidFill>
              </a:rPr>
              <a:t>- </a:t>
            </a:r>
            <a:r>
              <a:rPr lang="pt-BR" sz="700" b="1" dirty="0">
                <a:solidFill>
                  <a:schemeClr val="tx1"/>
                </a:solidFill>
              </a:rPr>
              <a:t>Artigos</a:t>
            </a:r>
            <a:r>
              <a:rPr lang="pt-BR" sz="700" dirty="0">
                <a:solidFill>
                  <a:schemeClr val="tx1"/>
                </a:solidFill>
              </a:rPr>
              <a:t>: Vide TONNANI, 2022. Embora tratando da investidora da incorporada (discute GK), diz que incorporação não deve ter efeito seja por não ser alienação, seja por aplicação das regras de AVJ Reflexo.</a:t>
            </a:r>
          </a:p>
          <a:p>
            <a:pPr>
              <a:spcAft>
                <a:spcPts val="300"/>
              </a:spcAft>
            </a:pPr>
            <a:r>
              <a:rPr lang="pt-BR" sz="700" dirty="0">
                <a:solidFill>
                  <a:schemeClr val="tx1"/>
                </a:solidFill>
              </a:rPr>
              <a:t>- GUIMARÃES LUZ, Victor Lyra, 2024, concorda com essa interpretação, e destaca que aplica-se para AVJ em resultado ou em conta de PL (neste segundo caso possível desnecessidade de subconta).  </a:t>
            </a:r>
          </a:p>
        </p:txBody>
      </p:sp>
      <p:cxnSp>
        <p:nvCxnSpPr>
          <p:cNvPr id="211" name="Conector: Angulado 210">
            <a:extLst>
              <a:ext uri="{FF2B5EF4-FFF2-40B4-BE49-F238E27FC236}">
                <a16:creationId xmlns:a16="http://schemas.microsoft.com/office/drawing/2014/main" id="{1FE85C08-EB11-34CE-25C3-4AEFDEAE68DB}"/>
              </a:ext>
            </a:extLst>
          </p:cNvPr>
          <p:cNvCxnSpPr>
            <a:cxnSpLocks/>
            <a:stCxn id="73" idx="2"/>
            <a:endCxn id="210" idx="0"/>
          </p:cNvCxnSpPr>
          <p:nvPr/>
        </p:nvCxnSpPr>
        <p:spPr>
          <a:xfrm rot="16200000" flipH="1">
            <a:off x="6332392" y="3356510"/>
            <a:ext cx="584271" cy="318971"/>
          </a:xfrm>
          <a:prstGeom prst="bentConnector3">
            <a:avLst>
              <a:gd name="adj1" fmla="val 50000"/>
            </a:avLst>
          </a:prstGeom>
          <a:ln>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9" name="Retângulo 218">
            <a:extLst>
              <a:ext uri="{FF2B5EF4-FFF2-40B4-BE49-F238E27FC236}">
                <a16:creationId xmlns:a16="http://schemas.microsoft.com/office/drawing/2014/main" id="{8BC00D53-429A-9FA9-87A9-101E08CEE80B}"/>
              </a:ext>
            </a:extLst>
          </p:cNvPr>
          <p:cNvSpPr/>
          <p:nvPr/>
        </p:nvSpPr>
        <p:spPr>
          <a:xfrm>
            <a:off x="2014004" y="6372710"/>
            <a:ext cx="6341102" cy="291767"/>
          </a:xfrm>
          <a:prstGeom prst="rect">
            <a:avLst/>
          </a:prstGeom>
          <a:no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pt-BR" sz="700" dirty="0">
                <a:solidFill>
                  <a:schemeClr val="tx1"/>
                </a:solidFill>
              </a:rPr>
              <a:t>* Assumindo que o AVJ já não tenha sido tributado pela investida na realização dos ativos/passivos. </a:t>
            </a:r>
          </a:p>
        </p:txBody>
      </p:sp>
      <p:sp>
        <p:nvSpPr>
          <p:cNvPr id="223" name="Retângulo 222">
            <a:extLst>
              <a:ext uri="{FF2B5EF4-FFF2-40B4-BE49-F238E27FC236}">
                <a16:creationId xmlns:a16="http://schemas.microsoft.com/office/drawing/2014/main" id="{42D62058-FDBE-73A5-958E-5A2F57BDA2C6}"/>
              </a:ext>
            </a:extLst>
          </p:cNvPr>
          <p:cNvSpPr/>
          <p:nvPr/>
        </p:nvSpPr>
        <p:spPr>
          <a:xfrm>
            <a:off x="219285" y="5107178"/>
            <a:ext cx="2891035" cy="1223038"/>
          </a:xfrm>
          <a:prstGeom prst="rect">
            <a:avLst/>
          </a:prstGeom>
          <a:noFill/>
          <a:ln w="6350">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pt-BR" sz="700" b="1" u="sng" dirty="0">
                <a:solidFill>
                  <a:schemeClr val="tx1"/>
                </a:solidFill>
              </a:rPr>
              <a:t>Premissas</a:t>
            </a:r>
          </a:p>
          <a:p>
            <a:pPr marL="88900" indent="-88900">
              <a:spcAft>
                <a:spcPts val="300"/>
              </a:spcAft>
              <a:buFontTx/>
              <a:buChar char="-"/>
            </a:pPr>
            <a:r>
              <a:rPr lang="pt-BR" sz="700" dirty="0">
                <a:solidFill>
                  <a:schemeClr val="tx1"/>
                </a:solidFill>
              </a:rPr>
              <a:t>Incorporação de sociedade, CPC 15 para fins contábeis</a:t>
            </a:r>
          </a:p>
          <a:p>
            <a:pPr marL="88900" indent="-88900">
              <a:spcAft>
                <a:spcPts val="300"/>
              </a:spcAft>
              <a:buFontTx/>
              <a:buChar char="-"/>
            </a:pPr>
            <a:r>
              <a:rPr lang="pt-BR" sz="700" dirty="0">
                <a:solidFill>
                  <a:schemeClr val="tx1"/>
                </a:solidFill>
              </a:rPr>
              <a:t>Análise para a Incorporadora e para a Investidora da Incorporadora (PJ que detinha controle na Incorporadora antes da incorporação)</a:t>
            </a:r>
          </a:p>
          <a:p>
            <a:pPr marL="88900" indent="-88900">
              <a:spcAft>
                <a:spcPts val="300"/>
              </a:spcAft>
              <a:buFontTx/>
              <a:buChar char="-"/>
            </a:pPr>
            <a:r>
              <a:rPr lang="pt-BR" sz="700" dirty="0">
                <a:solidFill>
                  <a:schemeClr val="tx1"/>
                </a:solidFill>
              </a:rPr>
              <a:t>Mapa não inclui impacto para investidora da incorporada (risco de GK)</a:t>
            </a:r>
          </a:p>
          <a:p>
            <a:pPr marL="88900" indent="-88900">
              <a:spcAft>
                <a:spcPts val="300"/>
              </a:spcAft>
              <a:buFontTx/>
              <a:buChar char="-"/>
            </a:pPr>
            <a:r>
              <a:rPr lang="pt-BR" sz="700" b="1" dirty="0">
                <a:solidFill>
                  <a:schemeClr val="tx1"/>
                </a:solidFill>
              </a:rPr>
              <a:t>Evento 1</a:t>
            </a:r>
            <a:r>
              <a:rPr lang="pt-BR" sz="700" dirty="0">
                <a:solidFill>
                  <a:schemeClr val="tx1"/>
                </a:solidFill>
              </a:rPr>
              <a:t>: reconhecimento inicial da mais-valia (“</a:t>
            </a:r>
            <a:r>
              <a:rPr lang="pt-BR" sz="700" b="1" dirty="0">
                <a:solidFill>
                  <a:schemeClr val="tx1"/>
                </a:solidFill>
              </a:rPr>
              <a:t>MV</a:t>
            </a:r>
            <a:r>
              <a:rPr lang="pt-BR" sz="700" dirty="0">
                <a:solidFill>
                  <a:schemeClr val="tx1"/>
                </a:solidFill>
              </a:rPr>
              <a:t>”) na incorporação</a:t>
            </a:r>
          </a:p>
          <a:p>
            <a:pPr marL="88900" indent="-88900">
              <a:spcAft>
                <a:spcPts val="300"/>
              </a:spcAft>
              <a:buFontTx/>
              <a:buChar char="-"/>
            </a:pPr>
            <a:r>
              <a:rPr lang="pt-BR" sz="700" b="1" dirty="0">
                <a:solidFill>
                  <a:schemeClr val="tx1"/>
                </a:solidFill>
              </a:rPr>
              <a:t>Evento 2</a:t>
            </a:r>
            <a:r>
              <a:rPr lang="pt-BR" sz="700" dirty="0">
                <a:solidFill>
                  <a:schemeClr val="tx1"/>
                </a:solidFill>
              </a:rPr>
              <a:t>: venda da participação na Incorporadora, pela Investidora, antes de realização dos ativos/passivos lastro da MV pela Incorporadora</a:t>
            </a:r>
          </a:p>
          <a:p>
            <a:pPr marL="88900" indent="-88900">
              <a:spcAft>
                <a:spcPts val="300"/>
              </a:spcAft>
              <a:buFontTx/>
              <a:buChar char="-"/>
            </a:pPr>
            <a:endParaRPr lang="pt-BR" sz="700" dirty="0">
              <a:solidFill>
                <a:schemeClr val="tx1"/>
              </a:solidFill>
            </a:endParaRPr>
          </a:p>
          <a:p>
            <a:pPr marL="171450" indent="-171450">
              <a:spcAft>
                <a:spcPts val="300"/>
              </a:spcAft>
              <a:buFontTx/>
              <a:buChar char="-"/>
            </a:pPr>
            <a:endParaRPr lang="pt-BR" sz="700" dirty="0">
              <a:solidFill>
                <a:schemeClr val="tx1"/>
              </a:solidFill>
            </a:endParaRPr>
          </a:p>
        </p:txBody>
      </p:sp>
    </p:spTree>
    <p:extLst>
      <p:ext uri="{BB962C8B-B14F-4D97-AF65-F5344CB8AC3E}">
        <p14:creationId xmlns:p14="http://schemas.microsoft.com/office/powerpoint/2010/main" val="3707906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AB0E5-7427-7D76-886D-3836C5DEF3B8}"/>
            </a:ext>
          </a:extLst>
        </p:cNvPr>
        <p:cNvGrpSpPr/>
        <p:nvPr/>
      </p:nvGrpSpPr>
      <p:grpSpPr>
        <a:xfrm>
          <a:off x="0" y="0"/>
          <a:ext cx="0" cy="0"/>
          <a:chOff x="0" y="0"/>
          <a:chExt cx="0" cy="0"/>
        </a:xfrm>
      </p:grpSpPr>
      <p:sp>
        <p:nvSpPr>
          <p:cNvPr id="2" name="object 3">
            <a:extLst>
              <a:ext uri="{FF2B5EF4-FFF2-40B4-BE49-F238E27FC236}">
                <a16:creationId xmlns:a16="http://schemas.microsoft.com/office/drawing/2014/main" id="{C1B215AB-769A-E085-5928-46449B8E2E20}"/>
              </a:ext>
            </a:extLst>
          </p:cNvPr>
          <p:cNvSpPr txBox="1">
            <a:spLocks/>
          </p:cNvSpPr>
          <p:nvPr/>
        </p:nvSpPr>
        <p:spPr>
          <a:xfrm>
            <a:off x="622700" y="193523"/>
            <a:ext cx="9906000" cy="421909"/>
          </a:xfrm>
          <a:prstGeom prst="rect">
            <a:avLst/>
          </a:prstGeom>
        </p:spPr>
        <p:txBody>
          <a:bodyPr vert="horz" wrap="square" lIns="0" tIns="36829" rIns="0" bIns="0" rtlCol="0">
            <a:spAutoFit/>
          </a:bodyPr>
          <a:lstStyle>
            <a:lvl1pPr>
              <a:defRPr sz="6100" b="0" i="0">
                <a:solidFill>
                  <a:schemeClr val="bg1"/>
                </a:solidFill>
                <a:latin typeface="Gotham"/>
                <a:ea typeface="+mj-ea"/>
                <a:cs typeface="Gotham"/>
              </a:defRPr>
            </a:lvl1pPr>
          </a:lstStyle>
          <a:p>
            <a:pPr marL="8467" marR="3387" indent="-8467"/>
            <a:r>
              <a:rPr lang="pt-BR" sz="1400" b="1" cap="small" dirty="0">
                <a:solidFill>
                  <a:srgbClr val="EA0600"/>
                </a:solidFill>
                <a:latin typeface="Calibri" panose="020F0502020204030204" pitchFamily="34" charset="0"/>
                <a:ea typeface="Calibri" panose="020F0502020204030204" pitchFamily="34" charset="0"/>
                <a:cs typeface="Calibri" panose="020F0502020204030204" pitchFamily="34" charset="0"/>
              </a:rPr>
              <a:t>Ganho reflexo em incorporação de sociedade.</a:t>
            </a:r>
            <a:r>
              <a:rPr lang="pt-BR" sz="1400" b="1" cap="small" dirty="0">
                <a:solidFill>
                  <a:srgbClr val="EA0600"/>
                </a:solidFill>
                <a:latin typeface="Calibri" panose="020F0502020204030204" pitchFamily="34" charset="0"/>
                <a:cs typeface="Calibri" panose="020F0502020204030204" pitchFamily="34" charset="0"/>
              </a:rPr>
              <a:t> </a:t>
            </a:r>
            <a:r>
              <a:rPr lang="pt-BR" sz="1400" b="1" cap="small" dirty="0">
                <a:solidFill>
                  <a:schemeClr val="tx1">
                    <a:lumMod val="65000"/>
                    <a:lumOff val="35000"/>
                  </a:schemeClr>
                </a:solidFill>
                <a:latin typeface="Calibri" panose="020F0502020204030204" pitchFamily="34" charset="0"/>
                <a:cs typeface="Calibri" panose="020F0502020204030204" pitchFamily="34" charset="0"/>
              </a:rPr>
              <a:t>Acórdãos relevantes do CARF</a:t>
            </a:r>
          </a:p>
          <a:p>
            <a:pPr marL="8467" marR="3387" indent="-8467"/>
            <a:r>
              <a:rPr lang="pt-BR" sz="1050" i="1" cap="small" dirty="0">
                <a:solidFill>
                  <a:srgbClr val="E50600"/>
                </a:solidFill>
                <a:latin typeface="Calibri" panose="020F0502020204030204" pitchFamily="34" charset="0"/>
                <a:cs typeface="Calibri" panose="020F0502020204030204" pitchFamily="34" charset="0"/>
              </a:rPr>
              <a:t>Resumo pontos relevantes para a análise</a:t>
            </a:r>
          </a:p>
        </p:txBody>
      </p:sp>
      <p:sp>
        <p:nvSpPr>
          <p:cNvPr id="219" name="Retângulo 218">
            <a:extLst>
              <a:ext uri="{FF2B5EF4-FFF2-40B4-BE49-F238E27FC236}">
                <a16:creationId xmlns:a16="http://schemas.microsoft.com/office/drawing/2014/main" id="{9A47B5C2-6E26-55C6-0F63-0860227C6F75}"/>
              </a:ext>
            </a:extLst>
          </p:cNvPr>
          <p:cNvSpPr/>
          <p:nvPr/>
        </p:nvSpPr>
        <p:spPr>
          <a:xfrm>
            <a:off x="2014004" y="6372710"/>
            <a:ext cx="6341102" cy="291767"/>
          </a:xfrm>
          <a:prstGeom prst="rect">
            <a:avLst/>
          </a:prstGeom>
          <a:noFill/>
          <a:ln w="635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300"/>
              </a:spcAft>
            </a:pPr>
            <a:r>
              <a:rPr lang="pt-BR" sz="700" dirty="0">
                <a:solidFill>
                  <a:schemeClr val="tx1"/>
                </a:solidFill>
              </a:rPr>
              <a:t>* Assumindo que o AVJ já não tenha sido tributado pela investida na realização dos ativos/passivos. </a:t>
            </a:r>
          </a:p>
        </p:txBody>
      </p:sp>
      <p:graphicFrame>
        <p:nvGraphicFramePr>
          <p:cNvPr id="5" name="Tabela 4">
            <a:extLst>
              <a:ext uri="{FF2B5EF4-FFF2-40B4-BE49-F238E27FC236}">
                <a16:creationId xmlns:a16="http://schemas.microsoft.com/office/drawing/2014/main" id="{5CAED625-3825-7589-9EB3-D948C57E71D5}"/>
              </a:ext>
            </a:extLst>
          </p:cNvPr>
          <p:cNvGraphicFramePr>
            <a:graphicFrameLocks noGrp="1"/>
          </p:cNvGraphicFramePr>
          <p:nvPr>
            <p:extLst>
              <p:ext uri="{D42A27DB-BD31-4B8C-83A1-F6EECF244321}">
                <p14:modId xmlns:p14="http://schemas.microsoft.com/office/powerpoint/2010/main" val="742365892"/>
              </p:ext>
            </p:extLst>
          </p:nvPr>
        </p:nvGraphicFramePr>
        <p:xfrm>
          <a:off x="891987" y="1768138"/>
          <a:ext cx="10408025" cy="1478280"/>
        </p:xfrm>
        <a:graphic>
          <a:graphicData uri="http://schemas.openxmlformats.org/drawingml/2006/table">
            <a:tbl>
              <a:tblPr/>
              <a:tblGrid>
                <a:gridCol w="672353">
                  <a:extLst>
                    <a:ext uri="{9D8B030D-6E8A-4147-A177-3AD203B41FA5}">
                      <a16:colId xmlns:a16="http://schemas.microsoft.com/office/drawing/2014/main" val="303396404"/>
                    </a:ext>
                  </a:extLst>
                </a:gridCol>
                <a:gridCol w="636494">
                  <a:extLst>
                    <a:ext uri="{9D8B030D-6E8A-4147-A177-3AD203B41FA5}">
                      <a16:colId xmlns:a16="http://schemas.microsoft.com/office/drawing/2014/main" val="96631393"/>
                    </a:ext>
                  </a:extLst>
                </a:gridCol>
                <a:gridCol w="466165">
                  <a:extLst>
                    <a:ext uri="{9D8B030D-6E8A-4147-A177-3AD203B41FA5}">
                      <a16:colId xmlns:a16="http://schemas.microsoft.com/office/drawing/2014/main" val="3826797459"/>
                    </a:ext>
                  </a:extLst>
                </a:gridCol>
                <a:gridCol w="986118">
                  <a:extLst>
                    <a:ext uri="{9D8B030D-6E8A-4147-A177-3AD203B41FA5}">
                      <a16:colId xmlns:a16="http://schemas.microsoft.com/office/drawing/2014/main" val="2963704546"/>
                    </a:ext>
                  </a:extLst>
                </a:gridCol>
                <a:gridCol w="528917">
                  <a:extLst>
                    <a:ext uri="{9D8B030D-6E8A-4147-A177-3AD203B41FA5}">
                      <a16:colId xmlns:a16="http://schemas.microsoft.com/office/drawing/2014/main" val="916831667"/>
                    </a:ext>
                  </a:extLst>
                </a:gridCol>
                <a:gridCol w="788894">
                  <a:extLst>
                    <a:ext uri="{9D8B030D-6E8A-4147-A177-3AD203B41FA5}">
                      <a16:colId xmlns:a16="http://schemas.microsoft.com/office/drawing/2014/main" val="3106679528"/>
                    </a:ext>
                  </a:extLst>
                </a:gridCol>
                <a:gridCol w="1299883">
                  <a:extLst>
                    <a:ext uri="{9D8B030D-6E8A-4147-A177-3AD203B41FA5}">
                      <a16:colId xmlns:a16="http://schemas.microsoft.com/office/drawing/2014/main" val="4160649145"/>
                    </a:ext>
                  </a:extLst>
                </a:gridCol>
                <a:gridCol w="869576">
                  <a:extLst>
                    <a:ext uri="{9D8B030D-6E8A-4147-A177-3AD203B41FA5}">
                      <a16:colId xmlns:a16="http://schemas.microsoft.com/office/drawing/2014/main" val="925232346"/>
                    </a:ext>
                  </a:extLst>
                </a:gridCol>
                <a:gridCol w="555812">
                  <a:extLst>
                    <a:ext uri="{9D8B030D-6E8A-4147-A177-3AD203B41FA5}">
                      <a16:colId xmlns:a16="http://schemas.microsoft.com/office/drawing/2014/main" val="2067404424"/>
                    </a:ext>
                  </a:extLst>
                </a:gridCol>
                <a:gridCol w="815788">
                  <a:extLst>
                    <a:ext uri="{9D8B030D-6E8A-4147-A177-3AD203B41FA5}">
                      <a16:colId xmlns:a16="http://schemas.microsoft.com/office/drawing/2014/main" val="1278147584"/>
                    </a:ext>
                  </a:extLst>
                </a:gridCol>
                <a:gridCol w="753035">
                  <a:extLst>
                    <a:ext uri="{9D8B030D-6E8A-4147-A177-3AD203B41FA5}">
                      <a16:colId xmlns:a16="http://schemas.microsoft.com/office/drawing/2014/main" val="3726976911"/>
                    </a:ext>
                  </a:extLst>
                </a:gridCol>
                <a:gridCol w="762000">
                  <a:extLst>
                    <a:ext uri="{9D8B030D-6E8A-4147-A177-3AD203B41FA5}">
                      <a16:colId xmlns:a16="http://schemas.microsoft.com/office/drawing/2014/main" val="2246409745"/>
                    </a:ext>
                  </a:extLst>
                </a:gridCol>
                <a:gridCol w="699248">
                  <a:extLst>
                    <a:ext uri="{9D8B030D-6E8A-4147-A177-3AD203B41FA5}">
                      <a16:colId xmlns:a16="http://schemas.microsoft.com/office/drawing/2014/main" val="438956020"/>
                    </a:ext>
                  </a:extLst>
                </a:gridCol>
                <a:gridCol w="573742">
                  <a:extLst>
                    <a:ext uri="{9D8B030D-6E8A-4147-A177-3AD203B41FA5}">
                      <a16:colId xmlns:a16="http://schemas.microsoft.com/office/drawing/2014/main" val="604020291"/>
                    </a:ext>
                  </a:extLst>
                </a:gridCol>
              </a:tblGrid>
              <a:tr h="88153">
                <a:tc gridSpan="7">
                  <a:txBody>
                    <a:bodyPr/>
                    <a:lstStyle/>
                    <a:p>
                      <a:pPr algn="ctr" fontAlgn="b">
                        <a:buNone/>
                      </a:pPr>
                      <a:r>
                        <a:rPr lang="pt-BR" sz="900" b="1" i="0" u="none" strike="noStrike">
                          <a:solidFill>
                            <a:srgbClr val="FFFFFF"/>
                          </a:solidFill>
                          <a:effectLst/>
                          <a:latin typeface="Calibri" panose="020F0502020204030204" pitchFamily="34" charset="0"/>
                        </a:rPr>
                        <a:t>Dados do caso</a:t>
                      </a:r>
                    </a:p>
                  </a:txBody>
                  <a:tcPr marL="0" marR="0" marT="0" marB="0" anchor="b">
                    <a:lnL w="6350" cap="flat" cmpd="sng" algn="ctr">
                      <a:solidFill>
                        <a:srgbClr val="F2F2F2"/>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00000"/>
                    </a:solidFill>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hMerge="1">
                  <a:txBody>
                    <a:bodyPr/>
                    <a:lstStyle/>
                    <a:p>
                      <a:endParaRPr lang="pt-BR"/>
                    </a:p>
                  </a:txBody>
                  <a:tcPr/>
                </a:tc>
                <a:tc gridSpan="3">
                  <a:txBody>
                    <a:bodyPr/>
                    <a:lstStyle/>
                    <a:p>
                      <a:pPr algn="ctr" fontAlgn="b">
                        <a:buNone/>
                      </a:pPr>
                      <a:r>
                        <a:rPr lang="pt-BR" sz="900" b="1" i="0" u="none" strike="noStrike">
                          <a:solidFill>
                            <a:srgbClr val="FFFFFF"/>
                          </a:solidFill>
                          <a:effectLst/>
                          <a:latin typeface="Calibri" panose="020F0502020204030204" pitchFamily="34" charset="0"/>
                        </a:rPr>
                        <a:t>Fundamentos AI</a:t>
                      </a:r>
                    </a:p>
                  </a:txBody>
                  <a:tcPr marL="0" marR="0" marT="0" marB="0" anchor="b">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00000"/>
                    </a:solidFill>
                  </a:tcPr>
                </a:tc>
                <a:tc hMerge="1">
                  <a:txBody>
                    <a:bodyPr/>
                    <a:lstStyle/>
                    <a:p>
                      <a:endParaRPr lang="pt-BR"/>
                    </a:p>
                  </a:txBody>
                  <a:tcPr/>
                </a:tc>
                <a:tc hMerge="1">
                  <a:txBody>
                    <a:bodyPr/>
                    <a:lstStyle/>
                    <a:p>
                      <a:endParaRPr lang="pt-BR"/>
                    </a:p>
                  </a:txBody>
                  <a:tcPr/>
                </a:tc>
                <a:tc gridSpan="4">
                  <a:txBody>
                    <a:bodyPr/>
                    <a:lstStyle/>
                    <a:p>
                      <a:pPr algn="ctr" fontAlgn="b">
                        <a:buNone/>
                      </a:pPr>
                      <a:r>
                        <a:rPr lang="pt-BR" sz="900" b="1" i="0" u="none" strike="noStrike">
                          <a:solidFill>
                            <a:srgbClr val="FFFFFF"/>
                          </a:solidFill>
                          <a:effectLst/>
                          <a:latin typeface="Calibri" panose="020F0502020204030204" pitchFamily="34" charset="0"/>
                        </a:rPr>
                        <a:t>Fundamentos da decisão</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2F2F2"/>
                      </a:solidFill>
                      <a:prstDash val="solid"/>
                      <a:round/>
                      <a:headEnd type="none" w="med" len="med"/>
                      <a:tailEnd type="none" w="med" len="med"/>
                    </a:lnR>
                    <a:lnT w="6350" cap="flat" cmpd="sng" algn="ctr">
                      <a:solidFill>
                        <a:srgbClr val="F2F2F2"/>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C00000"/>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960312632"/>
                  </a:ext>
                </a:extLst>
              </a:tr>
              <a:tr h="176306">
                <a:tc>
                  <a:txBody>
                    <a:bodyPr/>
                    <a:lstStyle/>
                    <a:p>
                      <a:pPr algn="ctr" fontAlgn="ctr">
                        <a:buNone/>
                      </a:pPr>
                      <a:r>
                        <a:rPr lang="pt-BR" sz="900" b="1" i="0" u="none" strike="noStrike">
                          <a:solidFill>
                            <a:srgbClr val="FFFFFF"/>
                          </a:solidFill>
                          <a:effectLst/>
                          <a:latin typeface="Calibri" panose="020F0502020204030204" pitchFamily="34" charset="0"/>
                        </a:rPr>
                        <a:t>Acórdão</a:t>
                      </a:r>
                    </a:p>
                  </a:txBody>
                  <a:tcPr marL="0" marR="0" marT="0" marB="0" anchor="ctr">
                    <a:lnL w="6350" cap="flat" cmpd="sng" algn="ctr">
                      <a:solidFill>
                        <a:srgbClr val="F2F2F2"/>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900" b="1" i="0" u="none" strike="noStrike">
                          <a:solidFill>
                            <a:srgbClr val="FFFFFF"/>
                          </a:solidFill>
                          <a:effectLst/>
                          <a:latin typeface="Calibri" panose="020F0502020204030204" pitchFamily="34" charset="0"/>
                        </a:rPr>
                        <a:t>Data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900" b="1" i="0" u="none" strike="noStrike">
                          <a:solidFill>
                            <a:srgbClr val="FFFFFF"/>
                          </a:solidFill>
                          <a:effectLst/>
                          <a:latin typeface="Calibri" panose="020F0502020204030204" pitchFamily="34" charset="0"/>
                        </a:rPr>
                        <a:t>Caso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Contribuinte</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CPC 15</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Reflexo MV</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Decisão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GK - Alienação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AVJ</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Deságio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Sucessão / reorg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MEP - variação %</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Contábil - ORA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pt-BR" sz="800" b="1" i="0" u="none" strike="noStrike">
                          <a:solidFill>
                            <a:srgbClr val="FFFFFF"/>
                          </a:solidFill>
                          <a:effectLst/>
                          <a:latin typeface="Clibri"/>
                        </a:rPr>
                        <a:t>Ganho diferido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2F2F2"/>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extLst>
                  <a:ext uri="{0D108BD9-81ED-4DB2-BD59-A6C34878D82A}">
                    <a16:rowId xmlns:a16="http://schemas.microsoft.com/office/drawing/2014/main" val="1698163952"/>
                  </a:ext>
                </a:extLst>
              </a:tr>
              <a:tr h="264459">
                <a:tc>
                  <a:txBody>
                    <a:bodyPr/>
                    <a:lstStyle/>
                    <a:p>
                      <a:pPr algn="l" fontAlgn="ctr">
                        <a:buNone/>
                      </a:pPr>
                      <a:r>
                        <a:rPr lang="pt-BR" sz="900" b="0" i="0" u="none" strike="noStrike">
                          <a:solidFill>
                            <a:srgbClr val="000000"/>
                          </a:solidFill>
                          <a:effectLst/>
                          <a:latin typeface="Calibri" panose="020F0502020204030204" pitchFamily="34" charset="0"/>
                        </a:rPr>
                        <a:t>1101-001.409</a:t>
                      </a:r>
                    </a:p>
                  </a:txBody>
                  <a:tcPr marL="0" marR="0" marT="0" marB="0" anchor="ctr">
                    <a:lnL w="6350" cap="flat" cmpd="sng" algn="ctr">
                      <a:solidFill>
                        <a:srgbClr val="F2F2F2"/>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pt-BR" sz="900" b="0" i="0" u="none" strike="noStrike">
                          <a:solidFill>
                            <a:srgbClr val="000000"/>
                          </a:solidFill>
                          <a:effectLst/>
                          <a:latin typeface="Calibri" panose="020F0502020204030204" pitchFamily="34" charset="0"/>
                        </a:rPr>
                        <a:t>18/11/2024</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dirty="0">
                          <a:solidFill>
                            <a:srgbClr val="000000"/>
                          </a:solidFill>
                          <a:effectLst/>
                          <a:latin typeface="Calibri" panose="020F0502020204030204" pitchFamily="34" charset="0"/>
                        </a:rPr>
                        <a:t>CPFL</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pt-BR" sz="900" b="0" i="0" u="none" strike="noStrike" dirty="0">
                          <a:solidFill>
                            <a:srgbClr val="000000"/>
                          </a:solidFill>
                          <a:effectLst/>
                          <a:latin typeface="Calibri" panose="020F0502020204030204" pitchFamily="34" charset="0"/>
                        </a:rPr>
                        <a:t>Investidora da Incorporada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dirty="0">
                          <a:solidFill>
                            <a:srgbClr val="000000"/>
                          </a:solidFill>
                          <a:effectLst/>
                          <a:latin typeface="Calibri" panose="020F0502020204030204" pitchFamily="34" charset="0"/>
                        </a:rPr>
                        <a:t>SIM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Reserva de K</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pt-BR" sz="900" b="0" i="0" u="none" strike="noStrike">
                          <a:solidFill>
                            <a:srgbClr val="000000"/>
                          </a:solidFill>
                          <a:effectLst/>
                          <a:latin typeface="Calibri" panose="020F0502020204030204" pitchFamily="34" charset="0"/>
                        </a:rPr>
                        <a:t>- </a:t>
                      </a:r>
                      <a:r>
                        <a:rPr lang="pt-BR" sz="900" b="1" i="0" u="none" strike="noStrike">
                          <a:solidFill>
                            <a:srgbClr val="00B050"/>
                          </a:solidFill>
                          <a:effectLst/>
                          <a:latin typeface="Calibri" panose="020F0502020204030204" pitchFamily="34" charset="0"/>
                        </a:rPr>
                        <a:t>Sem</a:t>
                      </a:r>
                      <a:r>
                        <a:rPr lang="pt-BR" sz="900" b="0" i="0" u="none" strike="noStrike">
                          <a:solidFill>
                            <a:srgbClr val="000000"/>
                          </a:solidFill>
                          <a:effectLst/>
                          <a:latin typeface="Calibri" panose="020F0502020204030204" pitchFamily="34" charset="0"/>
                        </a:rPr>
                        <a:t> tributação imediata</a:t>
                      </a:r>
                      <a:br>
                        <a:rPr lang="pt-BR" sz="900" b="0" i="0" u="none" strike="noStrike">
                          <a:solidFill>
                            <a:srgbClr val="000000"/>
                          </a:solidFill>
                          <a:effectLst/>
                          <a:latin typeface="Calibri" panose="020F0502020204030204" pitchFamily="34" charset="0"/>
                        </a:rPr>
                      </a:br>
                      <a:r>
                        <a:rPr lang="pt-BR" sz="900" b="0" i="0" u="none" strike="noStrike">
                          <a:solidFill>
                            <a:srgbClr val="000000"/>
                          </a:solidFill>
                          <a:effectLst/>
                          <a:latin typeface="Calibri" panose="020F0502020204030204" pitchFamily="34" charset="0"/>
                        </a:rPr>
                        <a:t>- </a:t>
                      </a:r>
                      <a:r>
                        <a:rPr lang="pt-BR" sz="900" b="1" i="0" u="none" strike="noStrike">
                          <a:solidFill>
                            <a:srgbClr val="808080"/>
                          </a:solidFill>
                          <a:effectLst/>
                          <a:latin typeface="Calibri" panose="020F0502020204030204" pitchFamily="34" charset="0"/>
                        </a:rPr>
                        <a:t>N/A</a:t>
                      </a:r>
                      <a:r>
                        <a:rPr lang="pt-BR" sz="900" b="0" i="0" u="none" strike="noStrike">
                          <a:solidFill>
                            <a:srgbClr val="000000"/>
                          </a:solidFill>
                          <a:effectLst/>
                          <a:latin typeface="Calibri" panose="020F0502020204030204" pitchFamily="34" charset="0"/>
                        </a:rPr>
                        <a:t> - Diferimento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SIM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SIM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NÃO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a:solidFill>
                            <a:srgbClr val="E97132"/>
                          </a:solidFill>
                          <a:effectLst/>
                          <a:latin typeface="Calibri" panose="020F0502020204030204" pitchFamily="34" charset="0"/>
                        </a:rPr>
                        <a:t>POSSÍVEL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a:solidFill>
                            <a:srgbClr val="00B050"/>
                          </a:solidFill>
                          <a:effectLst/>
                          <a:latin typeface="Calibri" panose="020F0502020204030204" pitchFamily="34" charset="0"/>
                        </a:rPr>
                        <a:t>SIM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a:solidFill>
                            <a:srgbClr val="00B050"/>
                          </a:solidFill>
                          <a:effectLst/>
                          <a:latin typeface="Calibri" panose="020F0502020204030204" pitchFamily="34" charset="0"/>
                        </a:rPr>
                        <a:t>SIM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808080"/>
                          </a:solidFill>
                          <a:effectLst/>
                          <a:latin typeface="Calibri" panose="020F0502020204030204" pitchFamily="34" charset="0"/>
                        </a:rPr>
                        <a:t>N/A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2F2F2"/>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98463493"/>
                  </a:ext>
                </a:extLst>
              </a:tr>
              <a:tr h="264459">
                <a:tc>
                  <a:txBody>
                    <a:bodyPr/>
                    <a:lstStyle/>
                    <a:p>
                      <a:pPr algn="l" fontAlgn="ctr">
                        <a:buNone/>
                      </a:pPr>
                      <a:r>
                        <a:rPr lang="pt-BR" sz="900" b="0" i="0" u="none" strike="noStrike">
                          <a:solidFill>
                            <a:srgbClr val="000000"/>
                          </a:solidFill>
                          <a:effectLst/>
                          <a:latin typeface="Calibri" panose="020F0502020204030204" pitchFamily="34" charset="0"/>
                        </a:rPr>
                        <a:t>1101-001.404</a:t>
                      </a:r>
                    </a:p>
                  </a:txBody>
                  <a:tcPr marL="0" marR="0" marT="0" marB="0" anchor="ctr">
                    <a:lnL w="6350" cap="flat" cmpd="sng" algn="ctr">
                      <a:solidFill>
                        <a:srgbClr val="F2F2F2"/>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pt-BR" sz="900" b="0" i="0" u="none" strike="noStrike">
                          <a:solidFill>
                            <a:srgbClr val="000000"/>
                          </a:solidFill>
                          <a:effectLst/>
                          <a:latin typeface="Calibri" panose="020F0502020204030204" pitchFamily="34" charset="0"/>
                        </a:rPr>
                        <a:t>09/10/2024</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a:solidFill>
                            <a:srgbClr val="000000"/>
                          </a:solidFill>
                          <a:effectLst/>
                          <a:latin typeface="Calibri" panose="020F0502020204030204" pitchFamily="34" charset="0"/>
                        </a:rPr>
                        <a:t>LITELA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pt-BR" sz="900" b="0" i="0" u="none" strike="noStrike" dirty="0">
                          <a:solidFill>
                            <a:srgbClr val="000000"/>
                          </a:solidFill>
                          <a:effectLst/>
                          <a:latin typeface="Calibri" panose="020F0502020204030204" pitchFamily="34" charset="0"/>
                        </a:rPr>
                        <a:t>Investidora da Incorporadora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NÃO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ORA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pt-BR" sz="900" b="0" i="0" u="none" strike="noStrike">
                          <a:solidFill>
                            <a:srgbClr val="000000"/>
                          </a:solidFill>
                          <a:effectLst/>
                          <a:latin typeface="Calibri" panose="020F0502020204030204" pitchFamily="34" charset="0"/>
                        </a:rPr>
                        <a:t>- </a:t>
                      </a:r>
                      <a:r>
                        <a:rPr lang="pt-BR" sz="900" b="1" i="0" u="none" strike="noStrike">
                          <a:solidFill>
                            <a:srgbClr val="00B050"/>
                          </a:solidFill>
                          <a:effectLst/>
                          <a:latin typeface="Calibri" panose="020F0502020204030204" pitchFamily="34" charset="0"/>
                        </a:rPr>
                        <a:t>Sem</a:t>
                      </a:r>
                      <a:r>
                        <a:rPr lang="pt-BR" sz="900" b="0" i="0" u="none" strike="noStrike">
                          <a:solidFill>
                            <a:srgbClr val="000000"/>
                          </a:solidFill>
                          <a:effectLst/>
                          <a:latin typeface="Calibri" panose="020F0502020204030204" pitchFamily="34" charset="0"/>
                        </a:rPr>
                        <a:t> tributação imediata</a:t>
                      </a:r>
                      <a:br>
                        <a:rPr lang="pt-BR" sz="900" b="0" i="0" u="none" strike="noStrike">
                          <a:solidFill>
                            <a:srgbClr val="000000"/>
                          </a:solidFill>
                          <a:effectLst/>
                          <a:latin typeface="Calibri" panose="020F0502020204030204" pitchFamily="34" charset="0"/>
                        </a:rPr>
                      </a:br>
                      <a:r>
                        <a:rPr lang="pt-BR" sz="900" b="0" i="0" u="none" strike="noStrike">
                          <a:solidFill>
                            <a:srgbClr val="000000"/>
                          </a:solidFill>
                          <a:effectLst/>
                          <a:latin typeface="Calibri" panose="020F0502020204030204" pitchFamily="34" charset="0"/>
                        </a:rPr>
                        <a:t>- </a:t>
                      </a:r>
                      <a:r>
                        <a:rPr lang="pt-BR" sz="900" b="1" i="0" u="none" strike="noStrike">
                          <a:solidFill>
                            <a:srgbClr val="FF0000"/>
                          </a:solidFill>
                          <a:effectLst/>
                          <a:latin typeface="Calibri" panose="020F0502020204030204" pitchFamily="34" charset="0"/>
                        </a:rPr>
                        <a:t>Com</a:t>
                      </a:r>
                      <a:r>
                        <a:rPr lang="pt-BR" sz="900" b="0" i="0" u="none" strike="noStrike">
                          <a:solidFill>
                            <a:srgbClr val="000000"/>
                          </a:solidFill>
                          <a:effectLst/>
                          <a:latin typeface="Calibri" panose="020F0502020204030204" pitchFamily="34" charset="0"/>
                        </a:rPr>
                        <a:t> - Diferimento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NÃO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808080"/>
                          </a:solidFill>
                          <a:effectLst/>
                          <a:latin typeface="Calibri" panose="020F0502020204030204" pitchFamily="34" charset="0"/>
                        </a:rPr>
                        <a:t>N/A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POSSÍVEL</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808080"/>
                          </a:solidFill>
                          <a:effectLst/>
                          <a:latin typeface="Calibri" panose="020F0502020204030204" pitchFamily="34" charset="0"/>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a:solidFill>
                            <a:srgbClr val="00B050"/>
                          </a:solidFill>
                          <a:effectLst/>
                          <a:latin typeface="Calibri" panose="020F0502020204030204" pitchFamily="34" charset="0"/>
                        </a:rPr>
                        <a:t>SIM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a:solidFill>
                            <a:srgbClr val="00B050"/>
                          </a:solidFill>
                          <a:effectLst/>
                          <a:latin typeface="Calibri" panose="020F0502020204030204" pitchFamily="34" charset="0"/>
                        </a:rPr>
                        <a:t>SIM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a:solidFill>
                            <a:srgbClr val="FF0000"/>
                          </a:solidFill>
                          <a:effectLst/>
                          <a:latin typeface="Calibri" panose="020F0502020204030204" pitchFamily="34" charset="0"/>
                        </a:rPr>
                        <a:t>SIM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2F2F2"/>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70631209"/>
                  </a:ext>
                </a:extLst>
              </a:tr>
              <a:tr h="264459">
                <a:tc>
                  <a:txBody>
                    <a:bodyPr/>
                    <a:lstStyle/>
                    <a:p>
                      <a:pPr algn="l" fontAlgn="ctr">
                        <a:buNone/>
                      </a:pPr>
                      <a:r>
                        <a:rPr lang="pt-BR" sz="900" b="0" i="0" u="none" strike="noStrike">
                          <a:solidFill>
                            <a:srgbClr val="000000"/>
                          </a:solidFill>
                          <a:effectLst/>
                          <a:latin typeface="Calibri" panose="020F0502020204030204" pitchFamily="34" charset="0"/>
                        </a:rPr>
                        <a:t>1401-007.055</a:t>
                      </a:r>
                    </a:p>
                  </a:txBody>
                  <a:tcPr marL="0" marR="0" marT="0" marB="0" anchor="ctr">
                    <a:lnL w="6350" cap="flat" cmpd="sng" algn="ctr">
                      <a:solidFill>
                        <a:srgbClr val="F2F2F2"/>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pt-BR" sz="900" b="0" i="0" u="none" strike="noStrike">
                          <a:solidFill>
                            <a:srgbClr val="000000"/>
                          </a:solidFill>
                          <a:effectLst/>
                          <a:latin typeface="Calibri" panose="020F0502020204030204" pitchFamily="34" charset="0"/>
                        </a:rPr>
                        <a:t>16/07/2024</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a:solidFill>
                            <a:srgbClr val="000000"/>
                          </a:solidFill>
                          <a:effectLst/>
                          <a:latin typeface="Calibri" panose="020F0502020204030204" pitchFamily="34" charset="0"/>
                        </a:rPr>
                        <a:t>LITEL</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pt-BR" sz="900" b="0" i="0" u="none" strike="noStrike">
                          <a:solidFill>
                            <a:srgbClr val="000000"/>
                          </a:solidFill>
                          <a:effectLst/>
                          <a:latin typeface="Calibri" panose="020F0502020204030204" pitchFamily="34" charset="0"/>
                        </a:rPr>
                        <a:t>Investidora da Incorporadora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NÃO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ORA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pt-BR" sz="900" b="0" i="0" u="none" strike="noStrike">
                          <a:solidFill>
                            <a:srgbClr val="000000"/>
                          </a:solidFill>
                          <a:effectLst/>
                          <a:latin typeface="Calibri" panose="020F0502020204030204" pitchFamily="34" charset="0"/>
                        </a:rPr>
                        <a:t>- </a:t>
                      </a:r>
                      <a:r>
                        <a:rPr lang="pt-BR" sz="900" b="1" i="0" u="none" strike="noStrike">
                          <a:solidFill>
                            <a:srgbClr val="00B050"/>
                          </a:solidFill>
                          <a:effectLst/>
                          <a:latin typeface="Calibri" panose="020F0502020204030204" pitchFamily="34" charset="0"/>
                        </a:rPr>
                        <a:t>Sem</a:t>
                      </a:r>
                      <a:r>
                        <a:rPr lang="pt-BR" sz="900" b="0" i="0" u="none" strike="noStrike">
                          <a:solidFill>
                            <a:srgbClr val="000000"/>
                          </a:solidFill>
                          <a:effectLst/>
                          <a:latin typeface="Calibri" panose="020F0502020204030204" pitchFamily="34" charset="0"/>
                        </a:rPr>
                        <a:t> tributação imediata</a:t>
                      </a:r>
                      <a:br>
                        <a:rPr lang="pt-BR" sz="900" b="0" i="0" u="none" strike="noStrike">
                          <a:solidFill>
                            <a:srgbClr val="000000"/>
                          </a:solidFill>
                          <a:effectLst/>
                          <a:latin typeface="Calibri" panose="020F0502020204030204" pitchFamily="34" charset="0"/>
                        </a:rPr>
                      </a:br>
                      <a:r>
                        <a:rPr lang="pt-BR" sz="900" b="0" i="0" u="none" strike="noStrike">
                          <a:solidFill>
                            <a:srgbClr val="000000"/>
                          </a:solidFill>
                          <a:effectLst/>
                          <a:latin typeface="Calibri" panose="020F0502020204030204" pitchFamily="34" charset="0"/>
                        </a:rPr>
                        <a:t>- </a:t>
                      </a:r>
                      <a:r>
                        <a:rPr lang="pt-BR" sz="900" b="1" i="0" u="none" strike="noStrike">
                          <a:solidFill>
                            <a:srgbClr val="FF0000"/>
                          </a:solidFill>
                          <a:effectLst/>
                          <a:latin typeface="Calibri" panose="020F0502020204030204" pitchFamily="34" charset="0"/>
                        </a:rPr>
                        <a:t>Com</a:t>
                      </a:r>
                      <a:r>
                        <a:rPr lang="pt-BR" sz="900" b="0" i="0" u="none" strike="noStrike">
                          <a:solidFill>
                            <a:srgbClr val="000000"/>
                          </a:solidFill>
                          <a:effectLst/>
                          <a:latin typeface="Calibri" panose="020F0502020204030204" pitchFamily="34" charset="0"/>
                        </a:rPr>
                        <a:t> - Diferimento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NÃO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808080"/>
                          </a:solidFill>
                          <a:effectLst/>
                          <a:latin typeface="Calibri" panose="020F0502020204030204" pitchFamily="34" charset="0"/>
                        </a:rPr>
                        <a:t>N/A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POSSÍVEL</a:t>
                      </a:r>
                      <a:br>
                        <a:rPr lang="pt-BR" sz="900" b="0" i="0" u="none" strike="noStrike">
                          <a:solidFill>
                            <a:srgbClr val="000000"/>
                          </a:solidFill>
                          <a:effectLst/>
                          <a:latin typeface="Calibri" panose="020F0502020204030204" pitchFamily="34" charset="0"/>
                        </a:rPr>
                      </a:br>
                      <a:r>
                        <a:rPr lang="pt-BR" sz="900" b="0" i="1" u="none" strike="noStrike">
                          <a:solidFill>
                            <a:srgbClr val="000000"/>
                          </a:solidFill>
                          <a:effectLst/>
                          <a:latin typeface="Calibri" panose="020F0502020204030204" pitchFamily="34" charset="0"/>
                        </a:rPr>
                        <a:t>subconta</a:t>
                      </a:r>
                      <a:endParaRPr lang="pt-BR" sz="900" b="0" i="0" u="none" strike="noStrike">
                        <a:solidFill>
                          <a:srgbClr val="000000"/>
                        </a:solidFill>
                        <a:effectLst/>
                        <a:latin typeface="Calibri" panose="020F0502020204030204" pitchFamily="34" charset="0"/>
                      </a:endParaRPr>
                    </a:p>
                  </a:txBody>
                  <a:tcPr marL="0" marR="0" marT="0" marB="0" anchor="ctr">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a:solidFill>
                            <a:srgbClr val="808080"/>
                          </a:solidFill>
                          <a:effectLst/>
                          <a:latin typeface="Calibri" panose="020F0502020204030204" pitchFamily="34" charset="0"/>
                        </a:rPr>
                        <a:t>N/A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dirty="0">
                          <a:solidFill>
                            <a:srgbClr val="00B050"/>
                          </a:solidFill>
                          <a:effectLst/>
                          <a:latin typeface="Calibri" panose="020F0502020204030204" pitchFamily="34" charset="0"/>
                        </a:rPr>
                        <a:t>SIM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a:solidFill>
                            <a:srgbClr val="00B050"/>
                          </a:solidFill>
                          <a:effectLst/>
                          <a:latin typeface="Calibri" panose="020F0502020204030204" pitchFamily="34" charset="0"/>
                        </a:rPr>
                        <a:t>SIM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1" i="0" u="none" strike="noStrike">
                          <a:solidFill>
                            <a:srgbClr val="FF0000"/>
                          </a:solidFill>
                          <a:effectLst/>
                          <a:latin typeface="Calibri" panose="020F0502020204030204" pitchFamily="34" charset="0"/>
                        </a:rPr>
                        <a:t>SIM</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2F2F2"/>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886049002"/>
                  </a:ext>
                </a:extLst>
              </a:tr>
              <a:tr h="264459">
                <a:tc>
                  <a:txBody>
                    <a:bodyPr/>
                    <a:lstStyle/>
                    <a:p>
                      <a:pPr algn="l" fontAlgn="ctr">
                        <a:buNone/>
                      </a:pPr>
                      <a:r>
                        <a:rPr lang="pt-BR" sz="900" b="0" i="0" u="none" strike="noStrike">
                          <a:solidFill>
                            <a:srgbClr val="000000"/>
                          </a:solidFill>
                          <a:effectLst/>
                          <a:latin typeface="Calibri" panose="020F0502020204030204" pitchFamily="34" charset="0"/>
                        </a:rPr>
                        <a:t>1402-004.537</a:t>
                      </a:r>
                    </a:p>
                  </a:txBody>
                  <a:tcPr marL="0" marR="0" marT="0" marB="0" anchor="ctr">
                    <a:lnL w="6350" cap="flat" cmpd="sng" algn="ctr">
                      <a:solidFill>
                        <a:srgbClr val="F2F2F2"/>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l" fontAlgn="ctr">
                        <a:buNone/>
                      </a:pPr>
                      <a:r>
                        <a:rPr lang="pt-BR" sz="900" b="0" i="0" u="none" strike="noStrike">
                          <a:solidFill>
                            <a:srgbClr val="000000"/>
                          </a:solidFill>
                          <a:effectLst/>
                          <a:latin typeface="Calibri" panose="020F0502020204030204" pitchFamily="34" charset="0"/>
                        </a:rPr>
                        <a:t>11/03/2020</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ctr" fontAlgn="ctr">
                        <a:buNone/>
                      </a:pPr>
                      <a:r>
                        <a:rPr lang="pt-BR" sz="900" b="1" i="0" u="none" strike="noStrike">
                          <a:solidFill>
                            <a:srgbClr val="000000"/>
                          </a:solidFill>
                          <a:effectLst/>
                          <a:latin typeface="Calibri" panose="020F0502020204030204" pitchFamily="34" charset="0"/>
                        </a:rPr>
                        <a:t>WTORRE</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l" fontAlgn="ctr">
                        <a:buNone/>
                      </a:pPr>
                      <a:r>
                        <a:rPr lang="pt-BR" sz="900" b="0" i="0" u="none" strike="noStrike">
                          <a:solidFill>
                            <a:srgbClr val="000000"/>
                          </a:solidFill>
                          <a:effectLst/>
                          <a:latin typeface="Calibri" panose="020F0502020204030204" pitchFamily="34" charset="0"/>
                        </a:rPr>
                        <a:t>Investidora da Incorporada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ctr" fontAlgn="ctr">
                        <a:buNone/>
                      </a:pPr>
                      <a:r>
                        <a:rPr lang="pt-BR" sz="900" b="0" i="0" u="none" strike="noStrike">
                          <a:solidFill>
                            <a:srgbClr val="808080"/>
                          </a:solidFill>
                          <a:effectLst/>
                          <a:latin typeface="Calibri" panose="020F0502020204030204" pitchFamily="34" charset="0"/>
                        </a:rPr>
                        <a:t>N/A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ctr" fontAlgn="ctr">
                        <a:buNone/>
                      </a:pPr>
                      <a:r>
                        <a:rPr lang="pt-BR" sz="900" b="0" i="0" u="none" strike="noStrike">
                          <a:solidFill>
                            <a:srgbClr val="808080"/>
                          </a:solidFill>
                          <a:effectLst/>
                          <a:latin typeface="Calibri" panose="020F0502020204030204" pitchFamily="34" charset="0"/>
                        </a:rPr>
                        <a:t>N/A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l" fontAlgn="ctr">
                        <a:buNone/>
                      </a:pPr>
                      <a:r>
                        <a:rPr lang="pt-BR" sz="900" b="0" i="0" u="none" strike="noStrike">
                          <a:solidFill>
                            <a:srgbClr val="000000"/>
                          </a:solidFill>
                          <a:effectLst/>
                          <a:latin typeface="Calibri" panose="020F0502020204030204" pitchFamily="34" charset="0"/>
                        </a:rPr>
                        <a:t>- </a:t>
                      </a:r>
                      <a:r>
                        <a:rPr lang="pt-BR" sz="900" b="1" i="0" u="none" strike="noStrike">
                          <a:solidFill>
                            <a:srgbClr val="FF0000"/>
                          </a:solidFill>
                          <a:effectLst/>
                          <a:latin typeface="Calibri" panose="020F0502020204030204" pitchFamily="34" charset="0"/>
                        </a:rPr>
                        <a:t>Com</a:t>
                      </a:r>
                      <a:r>
                        <a:rPr lang="pt-BR" sz="900" b="0" i="0" u="none" strike="noStrike">
                          <a:solidFill>
                            <a:srgbClr val="000000"/>
                          </a:solidFill>
                          <a:effectLst/>
                          <a:latin typeface="Calibri" panose="020F0502020204030204" pitchFamily="34" charset="0"/>
                        </a:rPr>
                        <a:t> tributação imediata</a:t>
                      </a:r>
                      <a:br>
                        <a:rPr lang="pt-BR" sz="900" b="0" i="0" u="none" strike="noStrike">
                          <a:solidFill>
                            <a:srgbClr val="000000"/>
                          </a:solidFill>
                          <a:effectLst/>
                          <a:latin typeface="Calibri" panose="020F0502020204030204" pitchFamily="34" charset="0"/>
                        </a:rPr>
                      </a:br>
                      <a:r>
                        <a:rPr lang="pt-BR" sz="900" b="0" i="0" u="none" strike="noStrike">
                          <a:solidFill>
                            <a:srgbClr val="000000"/>
                          </a:solidFill>
                          <a:effectLst/>
                          <a:latin typeface="Calibri" panose="020F0502020204030204" pitchFamily="34" charset="0"/>
                        </a:rPr>
                        <a:t>- </a:t>
                      </a:r>
                      <a:r>
                        <a:rPr lang="pt-BR" sz="900" b="1" i="0" u="none" strike="noStrike">
                          <a:solidFill>
                            <a:srgbClr val="00B050"/>
                          </a:solidFill>
                          <a:effectLst/>
                          <a:latin typeface="Calibri" panose="020F0502020204030204" pitchFamily="34" charset="0"/>
                        </a:rPr>
                        <a:t>G%</a:t>
                      </a:r>
                      <a:r>
                        <a:rPr lang="pt-BR" sz="900" b="0" i="0" u="none" strike="noStrike">
                          <a:solidFill>
                            <a:srgbClr val="000000"/>
                          </a:solidFill>
                          <a:effectLst/>
                          <a:latin typeface="Calibri" panose="020F0502020204030204" pitchFamily="34" charset="0"/>
                        </a:rPr>
                        <a:t> - dá custo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Calibri" panose="020F0502020204030204" pitchFamily="34" charset="0"/>
                        </a:rPr>
                        <a:t>SIM</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ctr" fontAlgn="ctr">
                        <a:buNone/>
                      </a:pPr>
                      <a:r>
                        <a:rPr lang="pt-BR" sz="900" b="0" i="0" u="none" strike="noStrike">
                          <a:solidFill>
                            <a:srgbClr val="808080"/>
                          </a:solidFill>
                          <a:effectLst/>
                          <a:latin typeface="Calibri" panose="020F0502020204030204" pitchFamily="34" charset="0"/>
                        </a:rPr>
                        <a:t>N/A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Calibri" panose="020F0502020204030204" pitchFamily="34" charset="0"/>
                        </a:rPr>
                        <a:t>NÃO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ctr" fontAlgn="ctr">
                        <a:buNone/>
                      </a:pPr>
                      <a:r>
                        <a:rPr lang="pt-BR" sz="900" b="1" i="0" u="none" strike="noStrike">
                          <a:solidFill>
                            <a:srgbClr val="FF0000"/>
                          </a:solidFill>
                          <a:effectLst/>
                          <a:latin typeface="Calibri" panose="020F0502020204030204" pitchFamily="34" charset="0"/>
                        </a:rPr>
                        <a:t>NÃO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ctr" fontAlgn="ctr">
                        <a:buNone/>
                      </a:pPr>
                      <a:r>
                        <a:rPr lang="pt-BR" sz="900" b="1" i="0" u="none" strike="noStrike">
                          <a:solidFill>
                            <a:srgbClr val="FF0000"/>
                          </a:solidFill>
                          <a:effectLst/>
                          <a:latin typeface="Calibri" panose="020F0502020204030204" pitchFamily="34" charset="0"/>
                        </a:rPr>
                        <a:t>NÃO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ctr" fontAlgn="ctr">
                        <a:buNone/>
                      </a:pPr>
                      <a:r>
                        <a:rPr lang="pt-BR" sz="900" b="0" i="0" u="none" strike="noStrike">
                          <a:solidFill>
                            <a:srgbClr val="808080"/>
                          </a:solidFill>
                          <a:effectLst/>
                          <a:latin typeface="Calibri" panose="020F0502020204030204" pitchFamily="34" charset="0"/>
                        </a:rPr>
                        <a:t>N/A</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tc>
                  <a:txBody>
                    <a:bodyPr/>
                    <a:lstStyle/>
                    <a:p>
                      <a:pPr algn="ctr" fontAlgn="ctr">
                        <a:buNone/>
                      </a:pPr>
                      <a:r>
                        <a:rPr lang="pt-BR" sz="900" b="1" i="0" u="none" strike="noStrike" dirty="0">
                          <a:solidFill>
                            <a:srgbClr val="00B050"/>
                          </a:solidFill>
                          <a:effectLst/>
                          <a:latin typeface="Calibri" panose="020F0502020204030204" pitchFamily="34" charset="0"/>
                        </a:rPr>
                        <a:t>NÃO</a:t>
                      </a:r>
                    </a:p>
                  </a:txBody>
                  <a:tcPr marL="0" marR="0" marT="0" marB="0" anchor="ctr">
                    <a:lnL w="6350" cap="flat" cmpd="sng" algn="ctr">
                      <a:solidFill>
                        <a:srgbClr val="D9D9D9"/>
                      </a:solidFill>
                      <a:prstDash val="solid"/>
                      <a:round/>
                      <a:headEnd type="none" w="med" len="med"/>
                      <a:tailEnd type="none" w="med" len="med"/>
                    </a:lnL>
                    <a:lnR w="6350" cap="flat" cmpd="sng" algn="ctr">
                      <a:solidFill>
                        <a:srgbClr val="F2F2F2"/>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2F2F2"/>
                      </a:solidFill>
                      <a:prstDash val="solid"/>
                      <a:round/>
                      <a:headEnd type="none" w="med" len="med"/>
                      <a:tailEnd type="none" w="med" len="med"/>
                    </a:lnB>
                    <a:noFill/>
                  </a:tcPr>
                </a:tc>
                <a:extLst>
                  <a:ext uri="{0D108BD9-81ED-4DB2-BD59-A6C34878D82A}">
                    <a16:rowId xmlns:a16="http://schemas.microsoft.com/office/drawing/2014/main" val="913578583"/>
                  </a:ext>
                </a:extLst>
              </a:tr>
            </a:tbl>
          </a:graphicData>
        </a:graphic>
      </p:graphicFrame>
    </p:spTree>
    <p:extLst>
      <p:ext uri="{BB962C8B-B14F-4D97-AF65-F5344CB8AC3E}">
        <p14:creationId xmlns:p14="http://schemas.microsoft.com/office/powerpoint/2010/main" val="2319087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8F5486F-9FC1-4A15-91CE-3D7D4B7681B7}">
  <we:reference id="wa104379997" version="3.0.0.0" store="pt-BR" storeType="OMEX"/>
  <we:alternateReferences>
    <we:reference id="wa104379997" version="3.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1ef283d-b5dc-4164-af84-c707316d4e55" xsi:nil="true"/>
    <lcf76f155ced4ddcb4097134ff3c332f xmlns="b27d2b62-06f4-4bdb-92b6-034dfd9efe6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30AA623FA2393B4ABDFE110A47840EEF" ma:contentTypeVersion="14" ma:contentTypeDescription="Crie um novo documento." ma:contentTypeScope="" ma:versionID="97aade78f1979f568c4e82b803f9aa5c">
  <xsd:schema xmlns:xsd="http://www.w3.org/2001/XMLSchema" xmlns:xs="http://www.w3.org/2001/XMLSchema" xmlns:p="http://schemas.microsoft.com/office/2006/metadata/properties" xmlns:ns2="b27d2b62-06f4-4bdb-92b6-034dfd9efe63" xmlns:ns3="21ef283d-b5dc-4164-af84-c707316d4e55" targetNamespace="http://schemas.microsoft.com/office/2006/metadata/properties" ma:root="true" ma:fieldsID="b55fa427e206da23119845a485cbcbca" ns2:_="" ns3:_="">
    <xsd:import namespace="b27d2b62-06f4-4bdb-92b6-034dfd9efe63"/>
    <xsd:import namespace="21ef283d-b5dc-4164-af84-c707316d4e5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7d2b62-06f4-4bdb-92b6-034dfd9ef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Marcações de imagem" ma:readOnly="false" ma:fieldId="{5cf76f15-5ced-4ddc-b409-7134ff3c332f}" ma:taxonomyMulti="true" ma:sspId="0d74d92f-4cfb-4e83-801d-c59733694720"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1ef283d-b5dc-4164-af84-c707316d4e55"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d432183e-5e59-491d-a14b-6a3db00e261d}" ma:internalName="TaxCatchAll" ma:showField="CatchAllData" ma:web="21ef283d-b5dc-4164-af84-c707316d4e55">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533A1A-BAAD-4CD9-BAAA-A1BB732470FD}">
  <ds:schemaRefs>
    <ds:schemaRef ds:uri="http://schemas.openxmlformats.org/package/2006/metadata/core-properties"/>
    <ds:schemaRef ds:uri="http://schemas.microsoft.com/office/2006/documentManagement/types"/>
    <ds:schemaRef ds:uri="http://www.w3.org/XML/1998/namespace"/>
    <ds:schemaRef ds:uri="21ef283d-b5dc-4164-af84-c707316d4e55"/>
    <ds:schemaRef ds:uri="b27d2b62-06f4-4bdb-92b6-034dfd9efe63"/>
    <ds:schemaRef ds:uri="http://schemas.microsoft.com/office/2006/metadata/properties"/>
    <ds:schemaRef ds:uri="http://schemas.microsoft.com/office/infopath/2007/PartnerControls"/>
    <ds:schemaRef ds:uri="http://purl.org/dc/terms/"/>
    <ds:schemaRef ds:uri="http://purl.org/dc/dcmitype/"/>
    <ds:schemaRef ds:uri="http://purl.org/dc/elements/1.1/"/>
  </ds:schemaRefs>
</ds:datastoreItem>
</file>

<file path=customXml/itemProps2.xml><?xml version="1.0" encoding="utf-8"?>
<ds:datastoreItem xmlns:ds="http://schemas.openxmlformats.org/officeDocument/2006/customXml" ds:itemID="{F83CE767-6B31-45A1-B527-40FB1F3793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27d2b62-06f4-4bdb-92b6-034dfd9efe63"/>
    <ds:schemaRef ds:uri="21ef283d-b5dc-4164-af84-c707316d4e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470D411-F0AA-4369-919B-EEEC5D88A525}">
  <ds:schemaRefs>
    <ds:schemaRef ds:uri="http://schemas.microsoft.com/sharepoint/v3/contenttype/forms"/>
  </ds:schemaRefs>
</ds:datastoreItem>
</file>

<file path=docMetadata/LabelInfo.xml><?xml version="1.0" encoding="utf-8"?>
<clbl:labelList xmlns:clbl="http://schemas.microsoft.com/office/2020/mipLabelMetadata">
  <clbl:label id="{bf63df5a-c6cb-4032-936b-ad25a04dd3dd}" enabled="1" method="Standard" siteId="{ea803e51-b7dd-4b01-9f98-6ad769db2115}" removed="0"/>
</clbl:labelList>
</file>

<file path=docProps/app.xml><?xml version="1.0" encoding="utf-8"?>
<Properties xmlns="http://schemas.openxmlformats.org/officeDocument/2006/extended-properties" xmlns:vt="http://schemas.openxmlformats.org/officeDocument/2006/docPropsVTypes">
  <TotalTime>49108</TotalTime>
  <Words>862</Words>
  <Application>Microsoft Office PowerPoint</Application>
  <PresentationFormat>Widescreen</PresentationFormat>
  <Paragraphs>153</Paragraphs>
  <Slides>2</Slides>
  <Notes>2</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2</vt:i4>
      </vt:variant>
    </vt:vector>
  </HeadingPairs>
  <TitlesOfParts>
    <vt:vector size="8" baseType="lpstr">
      <vt:lpstr>Aptos</vt:lpstr>
      <vt:lpstr>Calibri</vt:lpstr>
      <vt:lpstr>Clibri</vt:lpstr>
      <vt:lpstr>Times New Roman</vt:lpstr>
      <vt:lpstr>Wingdings</vt:lpstr>
      <vt:lpstr>Office Theme</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Ana Carolina Calado Brandão | Stocche Forbes Advogados</dc:creator>
  <cp:lastModifiedBy>Maria Luiza Carneiro Assad | Stocche Forbes Advogados</cp:lastModifiedBy>
  <cp:revision>171</cp:revision>
  <dcterms:created xsi:type="dcterms:W3CDTF">2024-01-23T12:37:59Z</dcterms:created>
  <dcterms:modified xsi:type="dcterms:W3CDTF">2026-08-19T04:17:45Z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0x01010030AA623FA2393B4ABDFE110A47840EEF</vt:lpwstr>
  </property>
  <property fmtid="{D5CDD505-2E9C-101B-9397-08002B2CF9AE}" pid="3" name="MediaServiceImageTags">
    <vt:lpwstr/>
  </property>
</Properties>
</file>